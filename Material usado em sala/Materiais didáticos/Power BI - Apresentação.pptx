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Lst>
  <p:sldSz cy="5143500" cx="9144000"/>
  <p:notesSz cx="6858000" cy="9144000"/>
  <p:embeddedFontLst>
    <p:embeddedFont>
      <p:font typeface="Raleway"/>
      <p:regular r:id="rId80"/>
      <p:bold r:id="rId81"/>
      <p:italic r:id="rId82"/>
      <p:boldItalic r:id="rId83"/>
    </p:embeddedFont>
    <p:embeddedFont>
      <p:font typeface="Roboto"/>
      <p:regular r:id="rId84"/>
      <p:bold r:id="rId85"/>
      <p:italic r:id="rId86"/>
      <p:boldItalic r:id="rId87"/>
    </p:embeddedFont>
    <p:embeddedFont>
      <p:font typeface="Lato"/>
      <p:regular r:id="rId88"/>
      <p:bold r:id="rId89"/>
      <p:italic r:id="rId90"/>
      <p:boldItalic r:id="rId9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92" roundtripDataSignature="AMtx7mi0LKuvNRQPjqepRgXoAxxzYIzY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Roboto-regular.fntdata"/><Relationship Id="rId83" Type="http://schemas.openxmlformats.org/officeDocument/2006/relationships/font" Target="fonts/Raleway-boldItalic.fntdata"/><Relationship Id="rId42" Type="http://schemas.openxmlformats.org/officeDocument/2006/relationships/slide" Target="slides/slide37.xml"/><Relationship Id="rId86" Type="http://schemas.openxmlformats.org/officeDocument/2006/relationships/font" Target="fonts/Roboto-italic.fntdata"/><Relationship Id="rId41" Type="http://schemas.openxmlformats.org/officeDocument/2006/relationships/slide" Target="slides/slide36.xml"/><Relationship Id="rId85" Type="http://schemas.openxmlformats.org/officeDocument/2006/relationships/font" Target="fonts/Roboto-bold.fntdata"/><Relationship Id="rId44" Type="http://schemas.openxmlformats.org/officeDocument/2006/relationships/slide" Target="slides/slide39.xml"/><Relationship Id="rId88" Type="http://schemas.openxmlformats.org/officeDocument/2006/relationships/font" Target="fonts/Lato-regular.fntdata"/><Relationship Id="rId43" Type="http://schemas.openxmlformats.org/officeDocument/2006/relationships/slide" Target="slides/slide38.xml"/><Relationship Id="rId87" Type="http://schemas.openxmlformats.org/officeDocument/2006/relationships/font" Target="fonts/Roboto-boldItalic.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Lato-bold.fntdata"/><Relationship Id="rId80" Type="http://schemas.openxmlformats.org/officeDocument/2006/relationships/font" Target="fonts/Raleway-regular.fntdata"/><Relationship Id="rId82" Type="http://schemas.openxmlformats.org/officeDocument/2006/relationships/font" Target="fonts/Raleway-italic.fntdata"/><Relationship Id="rId81" Type="http://schemas.openxmlformats.org/officeDocument/2006/relationships/font" Target="fonts/Ralew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Lato-boldItalic.fntdata"/><Relationship Id="rId90" Type="http://schemas.openxmlformats.org/officeDocument/2006/relationships/font" Target="fonts/Lato-italic.fntdata"/><Relationship Id="rId92" Type="http://customschemas.google.com/relationships/presentationmetadata" Target="meta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37d20330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3937d20330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937d203302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937d203302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37d203302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3937d203302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37d203302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3937d203302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937d203302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937d203302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937d203302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3937d203302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37d203302_0_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3937d203302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937d203302_0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937d203302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37d203302_0_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3937d203302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937d203302_0_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937d203302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937d203302_0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937d203302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937d203302_0_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g3937d203302_0_1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37d203302_0_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g3937d203302_0_1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37d203302_0_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3937d203302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937d203302_0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3937d203302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37d203302_0_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3937d203302_0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937d203302_0_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g3937d203302_0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937d203302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g3937d203302_0_1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937d203302_0_1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g3937d203302_0_1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937d203302_0_1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3937d203302_0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937d203302_0_2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g3937d203302_0_2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937d203302_0_1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g3937d203302_0_1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937d203302_0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3937d203302_0_2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937d203302_0_2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g3937d203302_0_2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937d203302_0_2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g3937d203302_0_2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937d203302_0_2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3937d203302_0_2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937d203302_0_2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g3937d203302_0_2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937d203302_0_2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g3937d203302_0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937d203302_0_2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g3937d203302_0_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937d203302_0_3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g3937d203302_0_3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937d203302_0_3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g3937d203302_0_3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937d203302_0_3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g3937d203302_0_3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937d203302_0_3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0" name="Google Shape;440;g3937d203302_0_3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937d203302_0_3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g3937d203302_0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937d203302_0_3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g3937d203302_0_3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937d203302_0_3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g3937d203302_0_3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937d203302_0_3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7" name="Google Shape;477;g3937d203302_0_3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937d203302_0_3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6" name="Google Shape;486;g3937d203302_0_3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937d203302_0_3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0" name="Google Shape;500;g3937d203302_0_3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937d203302_0_3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g3937d203302_0_3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937d203302_0_3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3" name="Google Shape;523;g3937d203302_0_3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937d203302_0_4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1" name="Google Shape;531;g3937d203302_0_4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937d203302_0_4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3" name="Google Shape;543;g3937d203302_0_4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937d203302_0_4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4" name="Google Shape;554;g3937d203302_0_4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937d203302_0_4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4" name="Google Shape;564;g3937d203302_0_4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937d203302_0_4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2" name="Google Shape;572;g3937d203302_0_4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937d203302_0_4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7" name="Google Shape;587;g3937d203302_0_4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937d203302_0_4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9" name="Google Shape;599;g3937d203302_0_4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937d203302_0_4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7" name="Google Shape;607;g3937d203302_0_4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937d203302_0_4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5" name="Google Shape;615;g3937d203302_0_4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937d203302_0_4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3" name="Google Shape;623;g3937d203302_0_4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937d203302_0_4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3" name="Google Shape;633;g3937d203302_0_4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937d203302_0_5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1" name="Google Shape;641;g3937d203302_0_5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937d203302_0_5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9" name="Google Shape;649;g3937d203302_0_5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937d203302_0_5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8" name="Google Shape;668;g3937d203302_0_5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937d203302_0_5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6" name="Google Shape;676;g3937d203302_0_5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937d203302_0_5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4" name="Google Shape;684;g3937d203302_0_5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937d203302_0_5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2" name="Google Shape;692;g3937d203302_0_5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937d203302_0_5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0" name="Google Shape;700;g3937d203302_0_5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937d203302_0_5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8" name="Google Shape;728;g3937d203302_0_5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937d203302_0_5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1" name="Google Shape;741;g3937d203302_0_5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937d203302_0_6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9" name="Google Shape;759;g3937d203302_0_6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937d203302_0_6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0" name="Google Shape;770;g3937d203302_0_6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937d203302_0_6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8" name="Google Shape;778;g3937d203302_0_6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937d203302_0_6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0" name="Google Shape;790;g3937d203302_0_6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937d203302_0_6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9" name="Google Shape;799;g3937d203302_0_6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937d203302_0_6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9" name="Google Shape;809;g3937d203302_0_6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937d203302_0_6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0" name="Google Shape;820;g3937d203302_0_6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3937d203302_0_6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8" name="Google Shape;828;g3937d203302_0_6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937d203302_0_6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7" name="Google Shape;837;g3937d203302_0_6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3937d203302_0_6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7" name="Google Shape;847;g3937d203302_0_6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937d203302_0_7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5" name="Google Shape;855;g3937d203302_0_7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3937d203302_0_7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3" name="Google Shape;863;g3937d203302_0_7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937d203302_0_7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1" name="Google Shape;871;g3937d203302_0_7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6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62"/>
          <p:cNvGrpSpPr/>
          <p:nvPr/>
        </p:nvGrpSpPr>
        <p:grpSpPr>
          <a:xfrm>
            <a:off x="830392" y="1191256"/>
            <a:ext cx="745763" cy="45826"/>
            <a:chOff x="4580561" y="2589004"/>
            <a:chExt cx="1064464" cy="25200"/>
          </a:xfrm>
        </p:grpSpPr>
        <p:sp>
          <p:nvSpPr>
            <p:cNvPr id="12" name="Google Shape;12;p6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6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62"/>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62"/>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6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6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9" name="Google Shape;19;p63"/>
          <p:cNvGrpSpPr/>
          <p:nvPr/>
        </p:nvGrpSpPr>
        <p:grpSpPr>
          <a:xfrm>
            <a:off x="830392" y="1191256"/>
            <a:ext cx="745763" cy="45826"/>
            <a:chOff x="4580561" y="2589004"/>
            <a:chExt cx="1064464" cy="25200"/>
          </a:xfrm>
        </p:grpSpPr>
        <p:sp>
          <p:nvSpPr>
            <p:cNvPr id="20" name="Google Shape;20;p6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6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 name="Google Shape;22;p6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3" name="Google Shape;23;p6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4" name="Google Shape;24;p6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grpSp>
        <p:nvGrpSpPr>
          <p:cNvPr id="26" name="Google Shape;26;p64"/>
          <p:cNvGrpSpPr/>
          <p:nvPr/>
        </p:nvGrpSpPr>
        <p:grpSpPr>
          <a:xfrm>
            <a:off x="830392" y="1191256"/>
            <a:ext cx="745763" cy="45826"/>
            <a:chOff x="4580561" y="2589004"/>
            <a:chExt cx="1064464" cy="25200"/>
          </a:xfrm>
        </p:grpSpPr>
        <p:sp>
          <p:nvSpPr>
            <p:cNvPr id="27" name="Google Shape;27;p6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6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9" name="Google Shape;29;p64"/>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0" name="Google Shape;30;p6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6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3" name="Google Shape;33;p65"/>
          <p:cNvGrpSpPr/>
          <p:nvPr/>
        </p:nvGrpSpPr>
        <p:grpSpPr>
          <a:xfrm>
            <a:off x="830392" y="1191256"/>
            <a:ext cx="745763" cy="45826"/>
            <a:chOff x="4580561" y="2589004"/>
            <a:chExt cx="1064464" cy="25200"/>
          </a:xfrm>
        </p:grpSpPr>
        <p:sp>
          <p:nvSpPr>
            <p:cNvPr id="34" name="Google Shape;34;p6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6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 name="Google Shape;36;p65"/>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37" name="Google Shape;37;p65"/>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8" name="Google Shape;38;p65"/>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9" name="Google Shape;39;p6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2" name="Google Shape;42;p66"/>
          <p:cNvGrpSpPr/>
          <p:nvPr/>
        </p:nvGrpSpPr>
        <p:grpSpPr>
          <a:xfrm>
            <a:off x="830392" y="1191256"/>
            <a:ext cx="745763" cy="45826"/>
            <a:chOff x="4580561" y="2589004"/>
            <a:chExt cx="1064464" cy="25200"/>
          </a:xfrm>
        </p:grpSpPr>
        <p:sp>
          <p:nvSpPr>
            <p:cNvPr id="43" name="Google Shape;43;p6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6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5" name="Google Shape;45;p66"/>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6" name="Google Shape;46;p6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6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 name="Google Shape;49;p67"/>
          <p:cNvGrpSpPr/>
          <p:nvPr/>
        </p:nvGrpSpPr>
        <p:grpSpPr>
          <a:xfrm>
            <a:off x="830392" y="1191256"/>
            <a:ext cx="745763" cy="45826"/>
            <a:chOff x="4580561" y="2589004"/>
            <a:chExt cx="1064464" cy="25200"/>
          </a:xfrm>
        </p:grpSpPr>
        <p:sp>
          <p:nvSpPr>
            <p:cNvPr id="50" name="Google Shape;50;p6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6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2" name="Google Shape;52;p67"/>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3" name="Google Shape;53;p67"/>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54" name="Google Shape;54;p6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5" name="Shape 55"/>
        <p:cNvGrpSpPr/>
        <p:nvPr/>
      </p:nvGrpSpPr>
      <p:grpSpPr>
        <a:xfrm>
          <a:off x="0" y="0"/>
          <a:ext cx="0" cy="0"/>
          <a:chOff x="0" y="0"/>
          <a:chExt cx="0" cy="0"/>
        </a:xfrm>
      </p:grpSpPr>
      <p:grpSp>
        <p:nvGrpSpPr>
          <p:cNvPr id="56" name="Google Shape;56;p68"/>
          <p:cNvGrpSpPr/>
          <p:nvPr/>
        </p:nvGrpSpPr>
        <p:grpSpPr>
          <a:xfrm>
            <a:off x="830392" y="4169130"/>
            <a:ext cx="745763" cy="45826"/>
            <a:chOff x="4580561" y="2589004"/>
            <a:chExt cx="1064464" cy="25200"/>
          </a:xfrm>
        </p:grpSpPr>
        <p:sp>
          <p:nvSpPr>
            <p:cNvPr id="57" name="Google Shape;57;p6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6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9" name="Google Shape;59;p68"/>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60" name="Google Shape;60;p6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6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 name="Google Shape;63;p69"/>
          <p:cNvGrpSpPr/>
          <p:nvPr/>
        </p:nvGrpSpPr>
        <p:grpSpPr>
          <a:xfrm>
            <a:off x="830392" y="1191256"/>
            <a:ext cx="745763" cy="45826"/>
            <a:chOff x="4580561" y="2589004"/>
            <a:chExt cx="1064464" cy="25200"/>
          </a:xfrm>
        </p:grpSpPr>
        <p:sp>
          <p:nvSpPr>
            <p:cNvPr id="64" name="Google Shape;64;p6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6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6" name="Google Shape;66;p69"/>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7" name="Google Shape;67;p69"/>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8" name="Google Shape;68;p69"/>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9" name="Google Shape;69;p6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70"/>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2" name="Google Shape;72;p7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3" name="Shape 73"/>
        <p:cNvGrpSpPr/>
        <p:nvPr/>
      </p:nvGrpSpPr>
      <p:grpSpPr>
        <a:xfrm>
          <a:off x="0" y="0"/>
          <a:ext cx="0" cy="0"/>
          <a:chOff x="0" y="0"/>
          <a:chExt cx="0" cy="0"/>
        </a:xfrm>
      </p:grpSpPr>
      <p:grpSp>
        <p:nvGrpSpPr>
          <p:cNvPr id="74" name="Google Shape;74;p71"/>
          <p:cNvGrpSpPr/>
          <p:nvPr/>
        </p:nvGrpSpPr>
        <p:grpSpPr>
          <a:xfrm>
            <a:off x="830392" y="4169130"/>
            <a:ext cx="745763" cy="45826"/>
            <a:chOff x="4580561" y="2589004"/>
            <a:chExt cx="1064464" cy="25200"/>
          </a:xfrm>
        </p:grpSpPr>
        <p:sp>
          <p:nvSpPr>
            <p:cNvPr id="75" name="Google Shape;75;p7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7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71"/>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78" name="Google Shape;78;p71"/>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79" name="Google Shape;79;p7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7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blipFill>
          <a:blip r:embed="rId1">
            <a:alphaModFix amt="22000"/>
          </a:blip>
          <a:stretch>
            <a:fillRect/>
          </a:stretch>
        </a:blipFill>
      </p:bgPr>
    </p:bg>
    <p:spTree>
      <p:nvGrpSpPr>
        <p:cNvPr id="5" name="Shape 5"/>
        <p:cNvGrpSpPr/>
        <p:nvPr/>
      </p:nvGrpSpPr>
      <p:grpSpPr>
        <a:xfrm>
          <a:off x="0" y="0"/>
          <a:ext cx="0" cy="0"/>
          <a:chOff x="0" y="0"/>
          <a:chExt cx="0" cy="0"/>
        </a:xfrm>
      </p:grpSpPr>
      <p:sp>
        <p:nvSpPr>
          <p:cNvPr id="6" name="Google Shape;6;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6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6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9.png"/><Relationship Id="rId9"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16.png"/><Relationship Id="rId7" Type="http://schemas.openxmlformats.org/officeDocument/2006/relationships/image" Target="../media/image44.png"/><Relationship Id="rId8"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9.png"/><Relationship Id="rId9" Type="http://schemas.openxmlformats.org/officeDocument/2006/relationships/image" Target="../media/image3.png"/><Relationship Id="rId5" Type="http://schemas.openxmlformats.org/officeDocument/2006/relationships/image" Target="../media/image11.png"/><Relationship Id="rId6" Type="http://schemas.openxmlformats.org/officeDocument/2006/relationships/image" Target="../media/image16.png"/><Relationship Id="rId7" Type="http://schemas.openxmlformats.org/officeDocument/2006/relationships/image" Target="../media/image44.png"/><Relationship Id="rId8"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32.png"/><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0" Type="http://schemas.openxmlformats.org/officeDocument/2006/relationships/image" Target="../media/image3.png"/><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27.png"/><Relationship Id="rId9"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3.png"/><Relationship Id="rId7" Type="http://schemas.openxmlformats.org/officeDocument/2006/relationships/image" Target="../media/image35.png"/><Relationship Id="rId8"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www.microsoft.com/pt-BR/download/details.aspx?id=58494" TargetMode="External"/><Relationship Id="rId4" Type="http://schemas.openxmlformats.org/officeDocument/2006/relationships/hyperlink" Target="https://powerbi.microsoft.com/pt-br/" TargetMode="External"/><Relationship Id="rId5" Type="http://schemas.openxmlformats.org/officeDocument/2006/relationships/hyperlink" Target="https://play.google.com/store/apps/details?id=com.microsoft.powerbim&amp;hl=pt_BR&amp;gl=US&amp;pli=1" TargetMode="External"/><Relationship Id="rId6" Type="http://schemas.openxmlformats.org/officeDocument/2006/relationships/hyperlink" Target="https://apps.apple.com/br/app/microsoft-power-bi/id929738808" TargetMode="External"/><Relationship Id="rId7" Type="http://schemas.openxmlformats.org/officeDocument/2006/relationships/image" Target="../media/image3.png"/><Relationship Id="rId8"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www.microsoft.com/pt-br/power-platform/products/power-bi/pricing" TargetMode="External"/><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7.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2.jpg"/><Relationship Id="rId4" Type="http://schemas.openxmlformats.org/officeDocument/2006/relationships/hyperlink" Target="https://youtu.be/uY6cuQhpQrc" TargetMode="External"/><Relationship Id="rId5"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0.png"/><Relationship Id="rId4" Type="http://schemas.openxmlformats.org/officeDocument/2006/relationships/image" Target="../media/image45.png"/><Relationship Id="rId5"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6.jp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7.png"/><Relationship Id="rId4" Type="http://schemas.openxmlformats.org/officeDocument/2006/relationships/image" Target="../media/image50.png"/><Relationship Id="rId9" Type="http://schemas.openxmlformats.org/officeDocument/2006/relationships/image" Target="../media/image3.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60.png"/><Relationship Id="rId8" Type="http://schemas.openxmlformats.org/officeDocument/2006/relationships/image" Target="../media/image5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2.png"/><Relationship Id="rId4" Type="http://schemas.openxmlformats.org/officeDocument/2006/relationships/image" Target="../media/image53.png"/><Relationship Id="rId9" Type="http://schemas.openxmlformats.org/officeDocument/2006/relationships/image" Target="../media/image3.png"/><Relationship Id="rId5" Type="http://schemas.openxmlformats.org/officeDocument/2006/relationships/image" Target="../media/image56.png"/><Relationship Id="rId6" Type="http://schemas.openxmlformats.org/officeDocument/2006/relationships/image" Target="../media/image54.png"/><Relationship Id="rId7" Type="http://schemas.openxmlformats.org/officeDocument/2006/relationships/image" Target="../media/image57.png"/><Relationship Id="rId8" Type="http://schemas.openxmlformats.org/officeDocument/2006/relationships/image" Target="../media/image5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1.jp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9.jpg"/><Relationship Id="rId4" Type="http://schemas.openxmlformats.org/officeDocument/2006/relationships/hyperlink" Target="https://youtu.be/swlKPGOmW4s" TargetMode="External"/><Relationship Id="rId5"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2.jpg"/><Relationship Id="rId4" Type="http://schemas.openxmlformats.org/officeDocument/2006/relationships/hyperlink" Target="https://youtu.be/V07Pk4de-5M" TargetMode="External"/><Relationship Id="rId5"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4.jpg"/><Relationship Id="rId4" Type="http://schemas.openxmlformats.org/officeDocument/2006/relationships/image" Target="../media/image66.jpg"/><Relationship Id="rId5" Type="http://schemas.openxmlformats.org/officeDocument/2006/relationships/hyperlink" Target="https://youtu.be/VjgtiyTGzHk" TargetMode="External"/><Relationship Id="rId6" Type="http://schemas.openxmlformats.org/officeDocument/2006/relationships/hyperlink" Target="https://youtu.be/IpfE8B9H9cI" TargetMode="External"/><Relationship Id="rId7"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71.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png"/><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65.png"/><Relationship Id="rId4" Type="http://schemas.openxmlformats.org/officeDocument/2006/relationships/image" Target="../media/image70.png"/><Relationship Id="rId5" Type="http://schemas.openxmlformats.org/officeDocument/2006/relationships/image" Target="../media/image68.png"/><Relationship Id="rId6" Type="http://schemas.openxmlformats.org/officeDocument/2006/relationships/image" Target="../media/image67.png"/><Relationship Id="rId7"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73.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69.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png"/><Relationship Id="rId4" Type="http://schemas.openxmlformats.org/officeDocument/2006/relationships/image" Target="../media/image7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png"/><Relationship Id="rId4" Type="http://schemas.openxmlformats.org/officeDocument/2006/relationships/image" Target="../media/image7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png"/><Relationship Id="rId4" Type="http://schemas.openxmlformats.org/officeDocument/2006/relationships/image" Target="../media/image7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7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png"/><Relationship Id="rId4" Type="http://schemas.openxmlformats.org/officeDocument/2006/relationships/image" Target="../media/image7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png"/><Relationship Id="rId4" Type="http://schemas.openxmlformats.org/officeDocument/2006/relationships/image" Target="../media/image7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png"/><Relationship Id="rId4" Type="http://schemas.openxmlformats.org/officeDocument/2006/relationships/image" Target="../media/image7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83.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80.png"/><Relationship Id="rId4" Type="http://schemas.openxmlformats.org/officeDocument/2006/relationships/image" Target="../media/image3.png"/><Relationship Id="rId5" Type="http://schemas.openxmlformats.org/officeDocument/2006/relationships/image" Target="../media/image8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82.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85.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6.jp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10" Type="http://schemas.openxmlformats.org/officeDocument/2006/relationships/image" Target="../media/image3.png"/><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hyperlink" Target="https://chat.openai.com/" TargetMode="External"/><Relationship Id="rId4" Type="http://schemas.openxmlformats.org/officeDocument/2006/relationships/hyperlink" Target="https://servicodados.ibge.gov.br/api/docs/localidades" TargetMode="External"/><Relationship Id="rId9" Type="http://schemas.openxmlformats.org/officeDocument/2006/relationships/image" Target="../media/image86.png"/><Relationship Id="rId5" Type="http://schemas.openxmlformats.org/officeDocument/2006/relationships/hyperlink" Target="https://servicodados.ibge.gov.br/api/v1/localidades/estados/SP/distritos" TargetMode="External"/><Relationship Id="rId6" Type="http://schemas.openxmlformats.org/officeDocument/2006/relationships/hyperlink" Target="https://www.bcb.gov.br/estatisticas/reporttxjuros/?codigoSegmento=1&amp;codigoModalidade=401101" TargetMode="External"/><Relationship Id="rId7" Type="http://schemas.openxmlformats.org/officeDocument/2006/relationships/hyperlink" Target="https://ge.globo.com/futebol/brasileirao-serie-a/" TargetMode="External"/><Relationship Id="rId8" Type="http://schemas.openxmlformats.org/officeDocument/2006/relationships/hyperlink" Target="https://ge.globo.com/futebol/brasileirao-serie-a/"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image" Target="../media/image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91.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95.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90.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89.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93.png"/><Relationship Id="rId4" Type="http://schemas.openxmlformats.org/officeDocument/2006/relationships/image" Target="../media/image87.png"/><Relationship Id="rId5" Type="http://schemas.openxmlformats.org/officeDocument/2006/relationships/image" Target="../media/image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94.png"/><Relationship Id="rId4" Type="http://schemas.openxmlformats.org/officeDocument/2006/relationships/image" Target="../media/image96.png"/><Relationship Id="rId5" Type="http://schemas.openxmlformats.org/officeDocument/2006/relationships/image" Target="../media/image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100.jpg"/><Relationship Id="rId4" Type="http://schemas.openxmlformats.org/officeDocument/2006/relationships/image" Target="../media/image101.jpg"/><Relationship Id="rId5" Type="http://schemas.openxmlformats.org/officeDocument/2006/relationships/image" Target="../media/image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02.jpg"/><Relationship Id="rId4" Type="http://schemas.openxmlformats.org/officeDocument/2006/relationships/image" Target="../media/image103.jpg"/><Relationship Id="rId5" Type="http://schemas.openxmlformats.org/officeDocument/2006/relationships/image" Target="../media/image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4.png"/><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104.png"/><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47.png"/><Relationship Id="rId4" Type="http://schemas.openxmlformats.org/officeDocument/2006/relationships/image" Target="../media/image28.png"/><Relationship Id="rId5" Type="http://schemas.openxmlformats.org/officeDocument/2006/relationships/image" Target="../media/image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06.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g3937d203302_0_0"/>
          <p:cNvSpPr txBox="1"/>
          <p:nvPr>
            <p:ph type="ctrTitle"/>
          </p:nvPr>
        </p:nvSpPr>
        <p:spPr>
          <a:xfrm>
            <a:off x="2773726" y="575448"/>
            <a:ext cx="5204700" cy="1759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46666"/>
              <a:buNone/>
            </a:pPr>
            <a:r>
              <a:rPr lang="pt-BR" sz="9000"/>
              <a:t>Microsoft Power BI</a:t>
            </a:r>
            <a:endParaRPr sz="9000"/>
          </a:p>
        </p:txBody>
      </p:sp>
      <p:sp>
        <p:nvSpPr>
          <p:cNvPr id="87" name="Google Shape;87;g3937d203302_0_0"/>
          <p:cNvSpPr txBox="1"/>
          <p:nvPr>
            <p:ph idx="1" type="subTitle"/>
          </p:nvPr>
        </p:nvSpPr>
        <p:spPr>
          <a:xfrm>
            <a:off x="237893" y="3452361"/>
            <a:ext cx="5040300" cy="1595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pt-BR"/>
              <a:t>Responsáveis:</a:t>
            </a:r>
            <a:endParaRPr/>
          </a:p>
          <a:p>
            <a:pPr indent="0" lvl="0" marL="0" rtl="0" algn="l">
              <a:lnSpc>
                <a:spcPct val="100000"/>
              </a:lnSpc>
              <a:spcBef>
                <a:spcPts val="0"/>
              </a:spcBef>
              <a:spcAft>
                <a:spcPts val="0"/>
              </a:spcAft>
              <a:buSzPts val="1600"/>
              <a:buNone/>
            </a:pPr>
            <a:r>
              <a:t/>
            </a:r>
            <a:endParaRPr/>
          </a:p>
          <a:p>
            <a:pPr indent="-285750" lvl="0" marL="285750" rtl="0" algn="l">
              <a:lnSpc>
                <a:spcPct val="100000"/>
              </a:lnSpc>
              <a:spcBef>
                <a:spcPts val="0"/>
              </a:spcBef>
              <a:spcAft>
                <a:spcPts val="0"/>
              </a:spcAft>
              <a:buSzPts val="1600"/>
              <a:buFont typeface="Arial"/>
              <a:buChar char="•"/>
            </a:pPr>
            <a:r>
              <a:rPr lang="pt-BR"/>
              <a:t>Luciano Trevisan - </a:t>
            </a:r>
            <a:r>
              <a:rPr i="1" lang="pt-BR" sz="1400"/>
              <a:t>luciano.t@sp.senai.br </a:t>
            </a:r>
            <a:endParaRPr i="1"/>
          </a:p>
          <a:p>
            <a:pPr indent="-285750" lvl="0" marL="285750" rtl="0" algn="l">
              <a:lnSpc>
                <a:spcPct val="100000"/>
              </a:lnSpc>
              <a:spcBef>
                <a:spcPts val="0"/>
              </a:spcBef>
              <a:spcAft>
                <a:spcPts val="0"/>
              </a:spcAft>
              <a:buSzPts val="1600"/>
              <a:buFont typeface="Arial"/>
              <a:buChar char="•"/>
            </a:pPr>
            <a:r>
              <a:rPr b="1" lang="pt-BR"/>
              <a:t>Rafael Selvagio – </a:t>
            </a:r>
            <a:r>
              <a:rPr b="1" i="1" lang="pt-BR" sz="1400"/>
              <a:t>rselvagio@sp.senai.br</a:t>
            </a:r>
            <a:endParaRPr b="1" i="1"/>
          </a:p>
          <a:p>
            <a:pPr indent="-285750" lvl="0" marL="285750" rtl="0" algn="l">
              <a:lnSpc>
                <a:spcPct val="100000"/>
              </a:lnSpc>
              <a:spcBef>
                <a:spcPts val="0"/>
              </a:spcBef>
              <a:spcAft>
                <a:spcPts val="0"/>
              </a:spcAft>
              <a:buSzPts val="1600"/>
              <a:buFont typeface="Arial"/>
              <a:buChar char="•"/>
            </a:pPr>
            <a:r>
              <a:rPr lang="pt-BR"/>
              <a:t>Vinicius dos Santos – </a:t>
            </a:r>
            <a:r>
              <a:rPr i="1" lang="pt-BR" sz="1400"/>
              <a:t>vinicius.santos@sp.senai.br</a:t>
            </a:r>
            <a:endParaRPr i="1"/>
          </a:p>
        </p:txBody>
      </p:sp>
      <p:sp>
        <p:nvSpPr>
          <p:cNvPr id="88" name="Google Shape;88;g3937d203302_0_0"/>
          <p:cNvSpPr txBox="1"/>
          <p:nvPr>
            <p:ph idx="1" type="subTitle"/>
          </p:nvPr>
        </p:nvSpPr>
        <p:spPr>
          <a:xfrm>
            <a:off x="7287075" y="4602300"/>
            <a:ext cx="1620900" cy="5412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1600"/>
              <a:buNone/>
            </a:pPr>
            <a:r>
              <a:rPr lang="pt-BR"/>
              <a:t>Curso Livre</a:t>
            </a:r>
            <a:endParaRPr/>
          </a:p>
        </p:txBody>
      </p:sp>
      <p:pic>
        <p:nvPicPr>
          <p:cNvPr id="89" name="Google Shape;89;g3937d203302_0_0" title="SENAI_São_Paulo_logo.png"/>
          <p:cNvPicPr preferRelativeResize="0"/>
          <p:nvPr/>
        </p:nvPicPr>
        <p:blipFill rotWithShape="1">
          <a:blip r:embed="rId3">
            <a:alphaModFix/>
          </a:blip>
          <a:srcRect b="0" l="0" r="0" t="0"/>
          <a:stretch/>
        </p:blipFill>
        <p:spPr>
          <a:xfrm>
            <a:off x="7566725" y="4065565"/>
            <a:ext cx="1439427" cy="368995"/>
          </a:xfrm>
          <a:prstGeom prst="rect">
            <a:avLst/>
          </a:prstGeom>
          <a:noFill/>
          <a:ln>
            <a:noFill/>
          </a:ln>
        </p:spPr>
      </p:pic>
      <p:pic>
        <p:nvPicPr>
          <p:cNvPr id="90" name="Google Shape;90;g3937d203302_0_0" title="powerbi.png"/>
          <p:cNvPicPr preferRelativeResize="0"/>
          <p:nvPr/>
        </p:nvPicPr>
        <p:blipFill rotWithShape="1">
          <a:blip r:embed="rId4">
            <a:alphaModFix/>
          </a:blip>
          <a:srcRect b="0" l="0" r="0" t="0"/>
          <a:stretch/>
        </p:blipFill>
        <p:spPr>
          <a:xfrm>
            <a:off x="1089625" y="1067375"/>
            <a:ext cx="1684101" cy="16841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937d203302_0_8"/>
          <p:cNvSpPr txBox="1"/>
          <p:nvPr>
            <p:ph type="title"/>
          </p:nvPr>
        </p:nvSpPr>
        <p:spPr>
          <a:xfrm>
            <a:off x="729450" y="571725"/>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Agenda</a:t>
            </a:r>
            <a:endParaRPr b="0" sz="2400">
              <a:latin typeface="Impact"/>
              <a:ea typeface="Impact"/>
              <a:cs typeface="Impact"/>
              <a:sym typeface="Impact"/>
            </a:endParaRPr>
          </a:p>
        </p:txBody>
      </p:sp>
      <p:sp>
        <p:nvSpPr>
          <p:cNvPr id="96" name="Google Shape;96;g3937d203302_0_8"/>
          <p:cNvSpPr txBox="1"/>
          <p:nvPr>
            <p:ph idx="1" type="body"/>
          </p:nvPr>
        </p:nvSpPr>
        <p:spPr>
          <a:xfrm>
            <a:off x="436025" y="1758350"/>
            <a:ext cx="4610400" cy="25914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just">
              <a:lnSpc>
                <a:spcPct val="200000"/>
              </a:lnSpc>
              <a:spcBef>
                <a:spcPts val="0"/>
              </a:spcBef>
              <a:spcAft>
                <a:spcPts val="0"/>
              </a:spcAft>
              <a:buSzPct val="100353"/>
              <a:buNone/>
            </a:pPr>
            <a:r>
              <a:rPr b="1" lang="pt-BR" sz="1400">
                <a:solidFill>
                  <a:srgbClr val="FF0000"/>
                </a:solidFill>
                <a:latin typeface="Arial"/>
                <a:ea typeface="Arial"/>
                <a:cs typeface="Arial"/>
                <a:sym typeface="Arial"/>
              </a:rPr>
              <a:t>Cronograma</a:t>
            </a:r>
            <a:endParaRPr/>
          </a:p>
          <a:p>
            <a:pPr indent="0" lvl="0" marL="457200" rtl="0" algn="just">
              <a:lnSpc>
                <a:spcPct val="200000"/>
              </a:lnSpc>
              <a:spcBef>
                <a:spcPts val="0"/>
              </a:spcBef>
              <a:spcAft>
                <a:spcPts val="0"/>
              </a:spcAft>
              <a:buSzPct val="68421"/>
              <a:buNone/>
            </a:pPr>
            <a:r>
              <a:rPr b="1" lang="pt-BR" sz="1900">
                <a:solidFill>
                  <a:srgbClr val="374151"/>
                </a:solidFill>
                <a:latin typeface="Calibri"/>
                <a:ea typeface="Calibri"/>
                <a:cs typeface="Calibri"/>
                <a:sym typeface="Calibri"/>
              </a:rPr>
              <a:t>Data de Início: 03/03/2026</a:t>
            </a:r>
            <a:endParaRPr b="1" sz="1900">
              <a:solidFill>
                <a:srgbClr val="374151"/>
              </a:solidFill>
              <a:latin typeface="Calibri"/>
              <a:ea typeface="Calibri"/>
              <a:cs typeface="Calibri"/>
              <a:sym typeface="Calibri"/>
            </a:endParaRPr>
          </a:p>
          <a:p>
            <a:pPr indent="0" lvl="0" marL="457200" rtl="0" algn="just">
              <a:lnSpc>
                <a:spcPct val="200000"/>
              </a:lnSpc>
              <a:spcBef>
                <a:spcPts val="0"/>
              </a:spcBef>
              <a:spcAft>
                <a:spcPts val="0"/>
              </a:spcAft>
              <a:buSzPct val="68421"/>
              <a:buNone/>
            </a:pPr>
            <a:r>
              <a:rPr b="1" lang="pt-BR" sz="1900">
                <a:solidFill>
                  <a:srgbClr val="374151"/>
                </a:solidFill>
                <a:latin typeface="Calibri"/>
                <a:ea typeface="Calibri"/>
                <a:cs typeface="Calibri"/>
                <a:sym typeface="Calibri"/>
              </a:rPr>
              <a:t>Data de Término: 26/03/2026</a:t>
            </a:r>
            <a:endParaRPr b="1" sz="1900">
              <a:solidFill>
                <a:srgbClr val="374151"/>
              </a:solidFill>
              <a:latin typeface="Calibri"/>
              <a:ea typeface="Calibri"/>
              <a:cs typeface="Calibri"/>
              <a:sym typeface="Calibri"/>
            </a:endParaRPr>
          </a:p>
          <a:p>
            <a:pPr indent="0" lvl="0" marL="457200" rtl="0" algn="just">
              <a:lnSpc>
                <a:spcPct val="200000"/>
              </a:lnSpc>
              <a:spcBef>
                <a:spcPts val="0"/>
              </a:spcBef>
              <a:spcAft>
                <a:spcPts val="0"/>
              </a:spcAft>
              <a:buSzPct val="68421"/>
              <a:buNone/>
            </a:pPr>
            <a:r>
              <a:rPr b="1" lang="pt-BR" sz="1900">
                <a:solidFill>
                  <a:srgbClr val="374151"/>
                </a:solidFill>
                <a:latin typeface="Calibri"/>
                <a:ea typeface="Calibri"/>
                <a:cs typeface="Calibri"/>
                <a:sym typeface="Calibri"/>
              </a:rPr>
              <a:t>Aulas: Ter e Qui (13h às 17h)</a:t>
            </a:r>
            <a:endParaRPr b="1" sz="1900">
              <a:solidFill>
                <a:srgbClr val="374151"/>
              </a:solidFill>
              <a:latin typeface="Calibri"/>
              <a:ea typeface="Calibri"/>
              <a:cs typeface="Calibri"/>
              <a:sym typeface="Calibri"/>
            </a:endParaRPr>
          </a:p>
          <a:p>
            <a:pPr indent="0" lvl="0" marL="457200" rtl="0" algn="just">
              <a:lnSpc>
                <a:spcPct val="200000"/>
              </a:lnSpc>
              <a:spcBef>
                <a:spcPts val="0"/>
              </a:spcBef>
              <a:spcAft>
                <a:spcPts val="0"/>
              </a:spcAft>
              <a:buSzPct val="68421"/>
              <a:buNone/>
            </a:pPr>
            <a:r>
              <a:rPr b="1" lang="pt-BR" sz="1900">
                <a:solidFill>
                  <a:srgbClr val="374151"/>
                </a:solidFill>
                <a:latin typeface="Calibri"/>
                <a:ea typeface="Calibri"/>
                <a:cs typeface="Calibri"/>
                <a:sym typeface="Calibri"/>
              </a:rPr>
              <a:t>Intervalo das 15h às 15:15</a:t>
            </a:r>
            <a:endParaRPr b="1" sz="1900">
              <a:solidFill>
                <a:srgbClr val="374151"/>
              </a:solidFill>
              <a:latin typeface="Calibri"/>
              <a:ea typeface="Calibri"/>
              <a:cs typeface="Calibri"/>
              <a:sym typeface="Calibri"/>
            </a:endParaRPr>
          </a:p>
          <a:p>
            <a:pPr indent="0" lvl="0" marL="0" rtl="0" algn="just">
              <a:lnSpc>
                <a:spcPct val="200000"/>
              </a:lnSpc>
              <a:spcBef>
                <a:spcPts val="0"/>
              </a:spcBef>
              <a:spcAft>
                <a:spcPts val="0"/>
              </a:spcAft>
              <a:buSzPct val="68421"/>
              <a:buNone/>
            </a:pPr>
            <a:r>
              <a:t/>
            </a:r>
            <a:endParaRPr b="1" sz="1900">
              <a:solidFill>
                <a:srgbClr val="374151"/>
              </a:solidFill>
              <a:latin typeface="Calibri"/>
              <a:ea typeface="Calibri"/>
              <a:cs typeface="Calibri"/>
              <a:sym typeface="Calibri"/>
            </a:endParaRPr>
          </a:p>
        </p:txBody>
      </p:sp>
      <p:pic>
        <p:nvPicPr>
          <p:cNvPr descr="Interface gráfica do usuário, Aplicativo&#10;&#10;Descrição gerada automaticamente" id="97" name="Google Shape;97;g3937d203302_0_8"/>
          <p:cNvPicPr preferRelativeResize="0"/>
          <p:nvPr/>
        </p:nvPicPr>
        <p:blipFill rotWithShape="1">
          <a:blip r:embed="rId3">
            <a:alphaModFix/>
          </a:blip>
          <a:srcRect b="0" l="0" r="0" t="0"/>
          <a:stretch/>
        </p:blipFill>
        <p:spPr>
          <a:xfrm>
            <a:off x="5328368" y="2174154"/>
            <a:ext cx="2989537" cy="1759635"/>
          </a:xfrm>
          <a:prstGeom prst="rect">
            <a:avLst/>
          </a:prstGeom>
          <a:noFill/>
          <a:ln>
            <a:noFill/>
          </a:ln>
        </p:spPr>
      </p:pic>
      <p:pic>
        <p:nvPicPr>
          <p:cNvPr id="98" name="Google Shape;98;g3937d203302_0_8"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937d203302_0_15"/>
          <p:cNvSpPr txBox="1"/>
          <p:nvPr>
            <p:ph type="title"/>
          </p:nvPr>
        </p:nvSpPr>
        <p:spPr>
          <a:xfrm>
            <a:off x="729450" y="571725"/>
            <a:ext cx="51918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Certificado de Conclusão de Curso</a:t>
            </a:r>
            <a:endParaRPr b="0" sz="2400">
              <a:latin typeface="Impact"/>
              <a:ea typeface="Impact"/>
              <a:cs typeface="Impact"/>
              <a:sym typeface="Impact"/>
            </a:endParaRPr>
          </a:p>
          <a:p>
            <a:pPr indent="0" lvl="0" marL="0" rtl="0" algn="l">
              <a:lnSpc>
                <a:spcPct val="100000"/>
              </a:lnSpc>
              <a:spcBef>
                <a:spcPts val="0"/>
              </a:spcBef>
              <a:spcAft>
                <a:spcPts val="0"/>
              </a:spcAft>
              <a:buSzPct val="111110"/>
              <a:buNone/>
            </a:pPr>
            <a:r>
              <a:t/>
            </a:r>
            <a:endParaRPr b="0" sz="2400">
              <a:latin typeface="Impact"/>
              <a:ea typeface="Impact"/>
              <a:cs typeface="Impact"/>
              <a:sym typeface="Impact"/>
            </a:endParaRPr>
          </a:p>
        </p:txBody>
      </p:sp>
      <p:sp>
        <p:nvSpPr>
          <p:cNvPr id="104" name="Google Shape;104;g3937d203302_0_15"/>
          <p:cNvSpPr txBox="1"/>
          <p:nvPr>
            <p:ph idx="1" type="body"/>
          </p:nvPr>
        </p:nvSpPr>
        <p:spPr>
          <a:xfrm>
            <a:off x="436025" y="1758350"/>
            <a:ext cx="3346200" cy="25914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200000"/>
              </a:lnSpc>
              <a:spcBef>
                <a:spcPts val="0"/>
              </a:spcBef>
              <a:spcAft>
                <a:spcPts val="0"/>
              </a:spcAft>
              <a:buSzPts val="1405"/>
              <a:buNone/>
            </a:pPr>
            <a:r>
              <a:rPr b="1" lang="pt-BR" sz="1500">
                <a:solidFill>
                  <a:srgbClr val="FF0000"/>
                </a:solidFill>
                <a:latin typeface="Arial"/>
                <a:ea typeface="Arial"/>
                <a:cs typeface="Arial"/>
                <a:sym typeface="Arial"/>
              </a:rPr>
              <a:t>Para obter o Certificado, o aluno deve atender os critérios abaixo:</a:t>
            </a:r>
            <a:endParaRPr b="1" sz="1500">
              <a:solidFill>
                <a:srgbClr val="FF0000"/>
              </a:solidFill>
              <a:latin typeface="Arial"/>
              <a:ea typeface="Arial"/>
              <a:cs typeface="Arial"/>
              <a:sym typeface="Arial"/>
            </a:endParaRPr>
          </a:p>
          <a:p>
            <a:pPr indent="-323850" lvl="0" marL="457200" rtl="0" algn="just">
              <a:lnSpc>
                <a:spcPct val="200000"/>
              </a:lnSpc>
              <a:spcBef>
                <a:spcPts val="0"/>
              </a:spcBef>
              <a:spcAft>
                <a:spcPts val="0"/>
              </a:spcAft>
              <a:buClr>
                <a:schemeClr val="dk2"/>
              </a:buClr>
              <a:buSzPts val="1500"/>
              <a:buFont typeface="Arial"/>
              <a:buAutoNum type="arabicPeriod"/>
            </a:pPr>
            <a:r>
              <a:rPr b="1" lang="pt-BR" sz="1500">
                <a:solidFill>
                  <a:schemeClr val="dk2"/>
                </a:solidFill>
                <a:latin typeface="Arial"/>
                <a:ea typeface="Arial"/>
                <a:cs typeface="Arial"/>
                <a:sym typeface="Arial"/>
              </a:rPr>
              <a:t>Obter nota igual ou superior a 50 pontos</a:t>
            </a:r>
            <a:endParaRPr b="1" sz="1500">
              <a:solidFill>
                <a:schemeClr val="dk2"/>
              </a:solidFill>
              <a:latin typeface="Arial"/>
              <a:ea typeface="Arial"/>
              <a:cs typeface="Arial"/>
              <a:sym typeface="Arial"/>
            </a:endParaRPr>
          </a:p>
          <a:p>
            <a:pPr indent="-323850" lvl="0" marL="457200" rtl="0" algn="just">
              <a:lnSpc>
                <a:spcPct val="200000"/>
              </a:lnSpc>
              <a:spcBef>
                <a:spcPts val="0"/>
              </a:spcBef>
              <a:spcAft>
                <a:spcPts val="0"/>
              </a:spcAft>
              <a:buClr>
                <a:schemeClr val="dk2"/>
              </a:buClr>
              <a:buSzPts val="1500"/>
              <a:buFont typeface="Arial"/>
              <a:buAutoNum type="arabicPeriod"/>
            </a:pPr>
            <a:r>
              <a:rPr b="1" lang="pt-BR" sz="1500">
                <a:solidFill>
                  <a:schemeClr val="dk2"/>
                </a:solidFill>
                <a:latin typeface="Arial"/>
                <a:ea typeface="Arial"/>
                <a:cs typeface="Arial"/>
                <a:sym typeface="Arial"/>
              </a:rPr>
              <a:t>Manter a frequência igual ou superior a 75%</a:t>
            </a:r>
            <a:endParaRPr b="1" sz="1900">
              <a:solidFill>
                <a:srgbClr val="374151"/>
              </a:solidFill>
              <a:latin typeface="Calibri"/>
              <a:ea typeface="Calibri"/>
              <a:cs typeface="Calibri"/>
              <a:sym typeface="Calibri"/>
            </a:endParaRPr>
          </a:p>
        </p:txBody>
      </p:sp>
      <p:pic>
        <p:nvPicPr>
          <p:cNvPr id="105" name="Google Shape;105;g3937d203302_0_15" title="capa.jpg"/>
          <p:cNvPicPr preferRelativeResize="0"/>
          <p:nvPr/>
        </p:nvPicPr>
        <p:blipFill rotWithShape="1">
          <a:blip r:embed="rId3">
            <a:alphaModFix/>
          </a:blip>
          <a:srcRect b="0" l="0" r="0" t="0"/>
          <a:stretch/>
        </p:blipFill>
        <p:spPr>
          <a:xfrm>
            <a:off x="3849375" y="1222050"/>
            <a:ext cx="4914900" cy="2228850"/>
          </a:xfrm>
          <a:prstGeom prst="rect">
            <a:avLst/>
          </a:prstGeom>
          <a:noFill/>
          <a:ln>
            <a:noFill/>
          </a:ln>
        </p:spPr>
      </p:pic>
      <p:sp>
        <p:nvSpPr>
          <p:cNvPr id="106" name="Google Shape;106;g3937d203302_0_15"/>
          <p:cNvSpPr txBox="1"/>
          <p:nvPr/>
        </p:nvSpPr>
        <p:spPr>
          <a:xfrm>
            <a:off x="5731696" y="3241650"/>
            <a:ext cx="33462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pt-BR" sz="2300" u="none" cap="none" strike="noStrike">
                <a:solidFill>
                  <a:schemeClr val="accent1"/>
                </a:solidFill>
                <a:latin typeface="Impact"/>
                <a:ea typeface="Impact"/>
                <a:cs typeface="Impact"/>
                <a:sym typeface="Impact"/>
              </a:rPr>
              <a:t>PARA OBTER CERTIFICADO</a:t>
            </a:r>
            <a:endParaRPr b="0" i="0" sz="2300" u="none" cap="none" strike="noStrike">
              <a:solidFill>
                <a:schemeClr val="accent1"/>
              </a:solidFill>
              <a:latin typeface="Impact"/>
              <a:ea typeface="Impact"/>
              <a:cs typeface="Impact"/>
              <a:sym typeface="Impact"/>
            </a:endParaRPr>
          </a:p>
        </p:txBody>
      </p:sp>
      <p:pic>
        <p:nvPicPr>
          <p:cNvPr id="107" name="Google Shape;107;g3937d203302_0_15"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937d203302_0_23"/>
          <p:cNvSpPr txBox="1"/>
          <p:nvPr>
            <p:ph type="title"/>
          </p:nvPr>
        </p:nvSpPr>
        <p:spPr>
          <a:xfrm>
            <a:off x="729450" y="571725"/>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sp>
        <p:nvSpPr>
          <p:cNvPr id="113" name="Google Shape;113;g3937d203302_0_23"/>
          <p:cNvSpPr txBox="1"/>
          <p:nvPr>
            <p:ph idx="1" type="body"/>
          </p:nvPr>
        </p:nvSpPr>
        <p:spPr>
          <a:xfrm>
            <a:off x="436028" y="1758349"/>
            <a:ext cx="4027800" cy="25911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200000"/>
              </a:lnSpc>
              <a:spcBef>
                <a:spcPts val="0"/>
              </a:spcBef>
              <a:spcAft>
                <a:spcPts val="0"/>
              </a:spcAft>
              <a:buSzPts val="1405"/>
              <a:buNone/>
            </a:pPr>
            <a:r>
              <a:rPr b="1" lang="pt-BR" sz="1400">
                <a:solidFill>
                  <a:srgbClr val="FF0000"/>
                </a:solidFill>
                <a:latin typeface="Arial"/>
                <a:ea typeface="Arial"/>
                <a:cs typeface="Arial"/>
                <a:sym typeface="Arial"/>
              </a:rPr>
              <a:t>Cronograma</a:t>
            </a:r>
            <a:endParaRPr/>
          </a:p>
          <a:p>
            <a:pPr indent="-349224" lvl="0" marL="495300" rtl="0" algn="just">
              <a:lnSpc>
                <a:spcPct val="200000"/>
              </a:lnSpc>
              <a:spcBef>
                <a:spcPts val="0"/>
              </a:spcBef>
              <a:spcAft>
                <a:spcPts val="0"/>
              </a:spcAft>
              <a:buClr>
                <a:srgbClr val="374151"/>
              </a:buClr>
              <a:buSzPts val="1297"/>
              <a:buFont typeface="Arial"/>
              <a:buAutoNum type="arabicPeriod"/>
            </a:pPr>
            <a:r>
              <a:rPr b="1" lang="pt-BR" sz="1900">
                <a:solidFill>
                  <a:srgbClr val="374151"/>
                </a:solidFill>
                <a:latin typeface="Calibri"/>
                <a:ea typeface="Calibri"/>
                <a:cs typeface="Calibri"/>
                <a:sym typeface="Calibri"/>
              </a:rPr>
              <a:t>Apresentação pessoal</a:t>
            </a:r>
            <a:endParaRPr b="1" sz="1900">
              <a:solidFill>
                <a:srgbClr val="374151"/>
              </a:solidFill>
              <a:latin typeface="Calibri"/>
              <a:ea typeface="Calibri"/>
              <a:cs typeface="Calibri"/>
              <a:sym typeface="Calibri"/>
            </a:endParaRPr>
          </a:p>
          <a:p>
            <a:pPr indent="-349224" lvl="0" marL="495300" rtl="0" algn="just">
              <a:lnSpc>
                <a:spcPct val="200000"/>
              </a:lnSpc>
              <a:spcBef>
                <a:spcPts val="0"/>
              </a:spcBef>
              <a:spcAft>
                <a:spcPts val="0"/>
              </a:spcAft>
              <a:buClr>
                <a:srgbClr val="374151"/>
              </a:buClr>
              <a:buSzPts val="1297"/>
              <a:buFont typeface="Arial"/>
              <a:buAutoNum type="arabicPeriod"/>
            </a:pPr>
            <a:r>
              <a:rPr b="1" lang="pt-BR" sz="1900">
                <a:solidFill>
                  <a:srgbClr val="374151"/>
                </a:solidFill>
                <a:latin typeface="Calibri"/>
                <a:ea typeface="Calibri"/>
                <a:cs typeface="Calibri"/>
                <a:sym typeface="Calibri"/>
              </a:rPr>
              <a:t>Apresentação do curso</a:t>
            </a:r>
            <a:endParaRPr/>
          </a:p>
          <a:p>
            <a:pPr indent="-349224" lvl="0" marL="495300" rtl="0" algn="just">
              <a:lnSpc>
                <a:spcPct val="200000"/>
              </a:lnSpc>
              <a:spcBef>
                <a:spcPts val="0"/>
              </a:spcBef>
              <a:spcAft>
                <a:spcPts val="0"/>
              </a:spcAft>
              <a:buClr>
                <a:srgbClr val="374151"/>
              </a:buClr>
              <a:buSzPts val="1297"/>
              <a:buFont typeface="Arial"/>
              <a:buAutoNum type="arabicPeriod"/>
            </a:pPr>
            <a:r>
              <a:rPr b="1" lang="pt-BR" sz="1900">
                <a:solidFill>
                  <a:srgbClr val="374151"/>
                </a:solidFill>
                <a:latin typeface="Calibri"/>
                <a:ea typeface="Calibri"/>
                <a:cs typeface="Calibri"/>
                <a:sym typeface="Calibri"/>
              </a:rPr>
              <a:t>Conceitos básicos sobre Power BI</a:t>
            </a:r>
            <a:endParaRPr/>
          </a:p>
          <a:p>
            <a:pPr indent="-349224" lvl="0" marL="495300" rtl="0" algn="just">
              <a:lnSpc>
                <a:spcPct val="200000"/>
              </a:lnSpc>
              <a:spcBef>
                <a:spcPts val="0"/>
              </a:spcBef>
              <a:spcAft>
                <a:spcPts val="0"/>
              </a:spcAft>
              <a:buClr>
                <a:srgbClr val="374151"/>
              </a:buClr>
              <a:buSzPts val="1297"/>
              <a:buFont typeface="Arial"/>
              <a:buAutoNum type="arabicPeriod"/>
            </a:pPr>
            <a:r>
              <a:rPr b="1" lang="pt-BR" sz="1900">
                <a:solidFill>
                  <a:srgbClr val="374151"/>
                </a:solidFill>
                <a:latin typeface="Calibri"/>
                <a:ea typeface="Calibri"/>
                <a:cs typeface="Calibri"/>
                <a:sym typeface="Calibri"/>
              </a:rPr>
              <a:t>Exercício prático</a:t>
            </a:r>
            <a:endParaRPr b="1" sz="1900">
              <a:solidFill>
                <a:srgbClr val="374151"/>
              </a:solidFill>
              <a:latin typeface="Calibri"/>
              <a:ea typeface="Calibri"/>
              <a:cs typeface="Calibri"/>
              <a:sym typeface="Calibri"/>
            </a:endParaRPr>
          </a:p>
        </p:txBody>
      </p:sp>
      <p:pic>
        <p:nvPicPr>
          <p:cNvPr descr="Interface gráfica do usuário, Aplicativo&#10;&#10;Descrição gerada automaticamente" id="114" name="Google Shape;114;g3937d203302_0_23"/>
          <p:cNvPicPr preferRelativeResize="0"/>
          <p:nvPr/>
        </p:nvPicPr>
        <p:blipFill rotWithShape="1">
          <a:blip r:embed="rId3">
            <a:alphaModFix/>
          </a:blip>
          <a:srcRect b="0" l="0" r="0" t="0"/>
          <a:stretch/>
        </p:blipFill>
        <p:spPr>
          <a:xfrm>
            <a:off x="5328368" y="2174154"/>
            <a:ext cx="2989537" cy="1759635"/>
          </a:xfrm>
          <a:prstGeom prst="rect">
            <a:avLst/>
          </a:prstGeom>
          <a:noFill/>
          <a:ln>
            <a:noFill/>
          </a:ln>
        </p:spPr>
      </p:pic>
      <p:pic>
        <p:nvPicPr>
          <p:cNvPr id="115" name="Google Shape;115;g3937d203302_0_23"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937d203302_0_30"/>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Apresentação do professor</a:t>
            </a:r>
            <a:endParaRPr b="0">
              <a:latin typeface="Impact"/>
              <a:ea typeface="Impact"/>
              <a:cs typeface="Impact"/>
              <a:sym typeface="Impact"/>
            </a:endParaRPr>
          </a:p>
        </p:txBody>
      </p:sp>
      <p:sp>
        <p:nvSpPr>
          <p:cNvPr id="121" name="Google Shape;121;g3937d203302_0_30"/>
          <p:cNvSpPr txBox="1"/>
          <p:nvPr>
            <p:ph idx="1" type="body"/>
          </p:nvPr>
        </p:nvSpPr>
        <p:spPr>
          <a:xfrm>
            <a:off x="634923" y="1405054"/>
            <a:ext cx="4442700" cy="3007500"/>
          </a:xfrm>
          <a:prstGeom prst="rect">
            <a:avLst/>
          </a:prstGeom>
          <a:noFill/>
          <a:ln>
            <a:noFill/>
          </a:ln>
        </p:spPr>
        <p:txBody>
          <a:bodyPr anchorCtr="0" anchor="ctr" bIns="91425" lIns="91425" spcFirstLastPara="1" rIns="91425" wrap="square" tIns="91425">
            <a:normAutofit/>
          </a:bodyPr>
          <a:lstStyle/>
          <a:p>
            <a:pPr indent="177800" lvl="0" marL="0" rtl="0" algn="l">
              <a:lnSpc>
                <a:spcPct val="100000"/>
              </a:lnSpc>
              <a:spcBef>
                <a:spcPts val="0"/>
              </a:spcBef>
              <a:spcAft>
                <a:spcPts val="0"/>
              </a:spcAft>
              <a:buClr>
                <a:srgbClr val="374151"/>
              </a:buClr>
              <a:buSzPts val="1400"/>
              <a:buNone/>
            </a:pPr>
            <a:r>
              <a:rPr lang="pt-BR" sz="1600">
                <a:solidFill>
                  <a:srgbClr val="374151"/>
                </a:solidFill>
                <a:latin typeface="Calibri"/>
                <a:ea typeface="Calibri"/>
                <a:cs typeface="Calibri"/>
                <a:sym typeface="Calibri"/>
              </a:rPr>
              <a:t>1- Qual é o seu nome? </a:t>
            </a:r>
            <a:endParaRPr/>
          </a:p>
          <a:p>
            <a:pPr indent="177800" lvl="1" marL="0" rtl="0" algn="l">
              <a:lnSpc>
                <a:spcPct val="100000"/>
              </a:lnSpc>
              <a:spcBef>
                <a:spcPts val="0"/>
              </a:spcBef>
              <a:spcAft>
                <a:spcPts val="0"/>
              </a:spcAft>
              <a:buClr>
                <a:srgbClr val="374151"/>
              </a:buClr>
              <a:buSzPts val="1400"/>
              <a:buNone/>
            </a:pPr>
            <a:r>
              <a:rPr b="1" lang="pt-BR" sz="1600">
                <a:solidFill>
                  <a:srgbClr val="374151"/>
                </a:solidFill>
                <a:latin typeface="Calibri"/>
                <a:ea typeface="Calibri"/>
                <a:cs typeface="Calibri"/>
                <a:sym typeface="Calibri"/>
              </a:rPr>
              <a:t>Rafael de Sena Selvagio</a:t>
            </a:r>
            <a:endParaRPr/>
          </a:p>
          <a:p>
            <a:pPr indent="177800" lvl="1" marL="0" rtl="0" algn="l">
              <a:lnSpc>
                <a:spcPct val="100000"/>
              </a:lnSpc>
              <a:spcBef>
                <a:spcPts val="0"/>
              </a:spcBef>
              <a:spcAft>
                <a:spcPts val="0"/>
              </a:spcAft>
              <a:buClr>
                <a:srgbClr val="374151"/>
              </a:buClr>
              <a:buSzPts val="1400"/>
              <a:buNone/>
            </a:pPr>
            <a:r>
              <a:t/>
            </a:r>
            <a:endParaRPr sz="1600">
              <a:solidFill>
                <a:srgbClr val="374151"/>
              </a:solidFill>
              <a:latin typeface="Calibri"/>
              <a:ea typeface="Calibri"/>
              <a:cs typeface="Calibri"/>
              <a:sym typeface="Calibri"/>
            </a:endParaRPr>
          </a:p>
          <a:p>
            <a:pPr indent="177800" lvl="1" marL="0" rtl="0" algn="l">
              <a:lnSpc>
                <a:spcPct val="100000"/>
              </a:lnSpc>
              <a:spcBef>
                <a:spcPts val="0"/>
              </a:spcBef>
              <a:spcAft>
                <a:spcPts val="0"/>
              </a:spcAft>
              <a:buClr>
                <a:srgbClr val="374151"/>
              </a:buClr>
              <a:buSzPts val="1400"/>
              <a:buNone/>
            </a:pPr>
            <a:r>
              <a:rPr lang="pt-BR" sz="1600">
                <a:solidFill>
                  <a:srgbClr val="374151"/>
                </a:solidFill>
                <a:latin typeface="Calibri"/>
                <a:ea typeface="Calibri"/>
                <a:cs typeface="Calibri"/>
                <a:sym typeface="Calibri"/>
              </a:rPr>
              <a:t>2- Qual sua idade? </a:t>
            </a:r>
            <a:endParaRPr/>
          </a:p>
          <a:p>
            <a:pPr indent="177800" lvl="1" marL="0" rtl="0" algn="l">
              <a:lnSpc>
                <a:spcPct val="100000"/>
              </a:lnSpc>
              <a:spcBef>
                <a:spcPts val="0"/>
              </a:spcBef>
              <a:spcAft>
                <a:spcPts val="0"/>
              </a:spcAft>
              <a:buClr>
                <a:srgbClr val="374151"/>
              </a:buClr>
              <a:buSzPts val="1400"/>
              <a:buNone/>
            </a:pPr>
            <a:r>
              <a:rPr b="1" lang="pt-BR" sz="1600">
                <a:solidFill>
                  <a:srgbClr val="374151"/>
                </a:solidFill>
                <a:latin typeface="Calibri"/>
                <a:ea typeface="Calibri"/>
                <a:cs typeface="Calibri"/>
                <a:sym typeface="Calibri"/>
              </a:rPr>
              <a:t>35 anos</a:t>
            </a:r>
            <a:endParaRPr/>
          </a:p>
          <a:p>
            <a:pPr indent="177800" lvl="1" marL="0" rtl="0" algn="l">
              <a:lnSpc>
                <a:spcPct val="100000"/>
              </a:lnSpc>
              <a:spcBef>
                <a:spcPts val="0"/>
              </a:spcBef>
              <a:spcAft>
                <a:spcPts val="0"/>
              </a:spcAft>
              <a:buClr>
                <a:srgbClr val="374151"/>
              </a:buClr>
              <a:buSzPts val="1400"/>
              <a:buNone/>
            </a:pPr>
            <a:r>
              <a:t/>
            </a:r>
            <a:endParaRPr sz="1600">
              <a:solidFill>
                <a:srgbClr val="374151"/>
              </a:solidFill>
              <a:latin typeface="Calibri"/>
              <a:ea typeface="Calibri"/>
              <a:cs typeface="Calibri"/>
              <a:sym typeface="Calibri"/>
            </a:endParaRPr>
          </a:p>
          <a:p>
            <a:pPr indent="177800" lvl="0" marL="0" rtl="0" algn="l">
              <a:lnSpc>
                <a:spcPct val="100000"/>
              </a:lnSpc>
              <a:spcBef>
                <a:spcPts val="0"/>
              </a:spcBef>
              <a:spcAft>
                <a:spcPts val="0"/>
              </a:spcAft>
              <a:buClr>
                <a:srgbClr val="374151"/>
              </a:buClr>
              <a:buSzPts val="1400"/>
              <a:buNone/>
            </a:pPr>
            <a:r>
              <a:rPr lang="pt-BR" sz="1600">
                <a:solidFill>
                  <a:srgbClr val="374151"/>
                </a:solidFill>
                <a:latin typeface="Calibri"/>
                <a:ea typeface="Calibri"/>
                <a:cs typeface="Calibri"/>
                <a:sym typeface="Calibri"/>
              </a:rPr>
              <a:t>3- O que você faz nas horas vagas?</a:t>
            </a:r>
            <a:endParaRPr/>
          </a:p>
          <a:p>
            <a:pPr indent="177800" lvl="0" marL="0" rtl="0" algn="l">
              <a:lnSpc>
                <a:spcPct val="100000"/>
              </a:lnSpc>
              <a:spcBef>
                <a:spcPts val="0"/>
              </a:spcBef>
              <a:spcAft>
                <a:spcPts val="0"/>
              </a:spcAft>
              <a:buClr>
                <a:srgbClr val="374151"/>
              </a:buClr>
              <a:buSzPts val="1400"/>
              <a:buNone/>
            </a:pPr>
            <a:r>
              <a:rPr b="1" lang="pt-BR" sz="1600">
                <a:solidFill>
                  <a:srgbClr val="374151"/>
                </a:solidFill>
                <a:latin typeface="Calibri"/>
                <a:ea typeface="Calibri"/>
                <a:cs typeface="Calibri"/>
                <a:sym typeface="Calibri"/>
              </a:rPr>
              <a:t>Youtube, vídeos, séries e estudar</a:t>
            </a:r>
            <a:endParaRPr sz="1600">
              <a:solidFill>
                <a:srgbClr val="374151"/>
              </a:solidFill>
              <a:latin typeface="Calibri"/>
              <a:ea typeface="Calibri"/>
              <a:cs typeface="Calibri"/>
              <a:sym typeface="Calibri"/>
            </a:endParaRPr>
          </a:p>
          <a:p>
            <a:pPr indent="177800" lvl="0" marL="0" rtl="0" algn="l">
              <a:lnSpc>
                <a:spcPct val="100000"/>
              </a:lnSpc>
              <a:spcBef>
                <a:spcPts val="0"/>
              </a:spcBef>
              <a:spcAft>
                <a:spcPts val="0"/>
              </a:spcAft>
              <a:buClr>
                <a:srgbClr val="374151"/>
              </a:buClr>
              <a:buSzPts val="1400"/>
              <a:buNone/>
            </a:pPr>
            <a:r>
              <a:t/>
            </a:r>
            <a:endParaRPr sz="1600">
              <a:solidFill>
                <a:srgbClr val="374151"/>
              </a:solidFill>
              <a:latin typeface="Calibri"/>
              <a:ea typeface="Calibri"/>
              <a:cs typeface="Calibri"/>
              <a:sym typeface="Calibri"/>
            </a:endParaRPr>
          </a:p>
          <a:p>
            <a:pPr indent="177800" lvl="0" marL="0" rtl="0" algn="l">
              <a:lnSpc>
                <a:spcPct val="100000"/>
              </a:lnSpc>
              <a:spcBef>
                <a:spcPts val="0"/>
              </a:spcBef>
              <a:spcAft>
                <a:spcPts val="0"/>
              </a:spcAft>
              <a:buClr>
                <a:srgbClr val="374151"/>
              </a:buClr>
              <a:buSzPts val="1400"/>
              <a:buNone/>
            </a:pPr>
            <a:r>
              <a:rPr lang="pt-BR" sz="1600">
                <a:solidFill>
                  <a:srgbClr val="374151"/>
                </a:solidFill>
                <a:latin typeface="Calibri"/>
                <a:ea typeface="Calibri"/>
                <a:cs typeface="Calibri"/>
                <a:sym typeface="Calibri"/>
              </a:rPr>
              <a:t>4- Qual a sua experiência com Power BI?</a:t>
            </a:r>
            <a:endParaRPr/>
          </a:p>
          <a:p>
            <a:pPr indent="177800" lvl="0" marL="0" rtl="0" algn="l">
              <a:lnSpc>
                <a:spcPct val="100000"/>
              </a:lnSpc>
              <a:spcBef>
                <a:spcPts val="0"/>
              </a:spcBef>
              <a:spcAft>
                <a:spcPts val="0"/>
              </a:spcAft>
              <a:buClr>
                <a:srgbClr val="374151"/>
              </a:buClr>
              <a:buSzPts val="1400"/>
              <a:buNone/>
            </a:pPr>
            <a:r>
              <a:rPr b="1" lang="pt-BR" sz="1600">
                <a:solidFill>
                  <a:srgbClr val="374151"/>
                </a:solidFill>
                <a:latin typeface="Calibri"/>
                <a:ea typeface="Calibri"/>
                <a:cs typeface="Calibri"/>
                <a:sym typeface="Calibri"/>
              </a:rPr>
              <a:t>Profissional (empresa), educacional (aqui)</a:t>
            </a:r>
            <a:endParaRPr/>
          </a:p>
        </p:txBody>
      </p:sp>
      <p:pic>
        <p:nvPicPr>
          <p:cNvPr descr="Ícone&#10;&#10;Descrição gerada automaticamente" id="122" name="Google Shape;122;g3937d203302_0_30"/>
          <p:cNvPicPr preferRelativeResize="0"/>
          <p:nvPr/>
        </p:nvPicPr>
        <p:blipFill rotWithShape="1">
          <a:blip r:embed="rId3">
            <a:alphaModFix/>
          </a:blip>
          <a:srcRect b="0" l="0" r="0" t="0"/>
          <a:stretch/>
        </p:blipFill>
        <p:spPr>
          <a:xfrm>
            <a:off x="5445513" y="3390474"/>
            <a:ext cx="1338147" cy="1338147"/>
          </a:xfrm>
          <a:prstGeom prst="rect">
            <a:avLst/>
          </a:prstGeom>
          <a:noFill/>
          <a:ln>
            <a:noFill/>
          </a:ln>
        </p:spPr>
      </p:pic>
      <p:pic>
        <p:nvPicPr>
          <p:cNvPr descr="Ícone&#10;&#10;Descrição gerada automaticamente" id="123" name="Google Shape;123;g3937d203302_0_30"/>
          <p:cNvPicPr preferRelativeResize="0"/>
          <p:nvPr/>
        </p:nvPicPr>
        <p:blipFill rotWithShape="1">
          <a:blip r:embed="rId4">
            <a:alphaModFix/>
          </a:blip>
          <a:srcRect b="0" l="0" r="0" t="0"/>
          <a:stretch/>
        </p:blipFill>
        <p:spPr>
          <a:xfrm>
            <a:off x="6623825" y="3423191"/>
            <a:ext cx="1338147" cy="1338147"/>
          </a:xfrm>
          <a:prstGeom prst="rect">
            <a:avLst/>
          </a:prstGeom>
          <a:noFill/>
          <a:ln>
            <a:noFill/>
          </a:ln>
        </p:spPr>
      </p:pic>
      <p:pic>
        <p:nvPicPr>
          <p:cNvPr descr="Ícone&#10;&#10;Descrição gerada automaticamente" id="124" name="Google Shape;124;g3937d203302_0_30"/>
          <p:cNvPicPr preferRelativeResize="0"/>
          <p:nvPr/>
        </p:nvPicPr>
        <p:blipFill rotWithShape="1">
          <a:blip r:embed="rId5">
            <a:alphaModFix/>
          </a:blip>
          <a:srcRect b="0" l="0" r="0" t="0"/>
          <a:stretch/>
        </p:blipFill>
        <p:spPr>
          <a:xfrm>
            <a:off x="6527750" y="750115"/>
            <a:ext cx="1631099" cy="1631099"/>
          </a:xfrm>
          <a:prstGeom prst="rect">
            <a:avLst/>
          </a:prstGeom>
          <a:noFill/>
          <a:ln>
            <a:noFill/>
          </a:ln>
        </p:spPr>
      </p:pic>
      <p:pic>
        <p:nvPicPr>
          <p:cNvPr descr="Ícone&#10;&#10;Descrição gerada automaticamente" id="125" name="Google Shape;125;g3937d203302_0_30"/>
          <p:cNvPicPr preferRelativeResize="0"/>
          <p:nvPr/>
        </p:nvPicPr>
        <p:blipFill rotWithShape="1">
          <a:blip r:embed="rId6">
            <a:alphaModFix/>
          </a:blip>
          <a:srcRect b="0" l="0" r="0" t="0"/>
          <a:stretch/>
        </p:blipFill>
        <p:spPr>
          <a:xfrm>
            <a:off x="6732575" y="2144094"/>
            <a:ext cx="1401336" cy="1401336"/>
          </a:xfrm>
          <a:prstGeom prst="rect">
            <a:avLst/>
          </a:prstGeom>
          <a:noFill/>
          <a:ln>
            <a:noFill/>
          </a:ln>
        </p:spPr>
      </p:pic>
      <p:pic>
        <p:nvPicPr>
          <p:cNvPr descr="Ícone&#10;&#10;Descrição gerada automaticamente" id="126" name="Google Shape;126;g3937d203302_0_30"/>
          <p:cNvPicPr preferRelativeResize="0"/>
          <p:nvPr/>
        </p:nvPicPr>
        <p:blipFill rotWithShape="1">
          <a:blip r:embed="rId7">
            <a:alphaModFix/>
          </a:blip>
          <a:srcRect b="0" l="0" r="0" t="0"/>
          <a:stretch/>
        </p:blipFill>
        <p:spPr>
          <a:xfrm>
            <a:off x="5536940" y="2010129"/>
            <a:ext cx="1484330" cy="1484330"/>
          </a:xfrm>
          <a:prstGeom prst="rect">
            <a:avLst/>
          </a:prstGeom>
          <a:noFill/>
          <a:ln>
            <a:noFill/>
          </a:ln>
        </p:spPr>
      </p:pic>
      <p:pic>
        <p:nvPicPr>
          <p:cNvPr descr="Ícone&#10;&#10;Descrição gerada automaticamente" id="127" name="Google Shape;127;g3937d203302_0_30"/>
          <p:cNvPicPr preferRelativeResize="0"/>
          <p:nvPr/>
        </p:nvPicPr>
        <p:blipFill rotWithShape="1">
          <a:blip r:embed="rId8">
            <a:alphaModFix/>
          </a:blip>
          <a:srcRect b="0" l="0" r="0" t="0"/>
          <a:stretch/>
        </p:blipFill>
        <p:spPr>
          <a:xfrm>
            <a:off x="5445513" y="875893"/>
            <a:ext cx="1401336" cy="1401336"/>
          </a:xfrm>
          <a:prstGeom prst="rect">
            <a:avLst/>
          </a:prstGeom>
          <a:noFill/>
          <a:ln>
            <a:noFill/>
          </a:ln>
        </p:spPr>
      </p:pic>
      <p:sp>
        <p:nvSpPr>
          <p:cNvPr id="128" name="Google Shape;128;g3937d203302_0_30"/>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129" name="Google Shape;129;g3937d203302_0_30" title="SENAI_São_Paulo_logo.png"/>
          <p:cNvPicPr preferRelativeResize="0"/>
          <p:nvPr/>
        </p:nvPicPr>
        <p:blipFill rotWithShape="1">
          <a:blip r:embed="rId9">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937d203302_0_43"/>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Apresentação dos alunos</a:t>
            </a:r>
            <a:endParaRPr b="0">
              <a:latin typeface="Impact"/>
              <a:ea typeface="Impact"/>
              <a:cs typeface="Impact"/>
              <a:sym typeface="Impact"/>
            </a:endParaRPr>
          </a:p>
        </p:txBody>
      </p:sp>
      <p:sp>
        <p:nvSpPr>
          <p:cNvPr id="135" name="Google Shape;135;g3937d203302_0_43"/>
          <p:cNvSpPr txBox="1"/>
          <p:nvPr>
            <p:ph idx="1" type="body"/>
          </p:nvPr>
        </p:nvSpPr>
        <p:spPr>
          <a:xfrm>
            <a:off x="647675" y="1412775"/>
            <a:ext cx="4286400" cy="3007500"/>
          </a:xfrm>
          <a:prstGeom prst="rect">
            <a:avLst/>
          </a:prstGeom>
          <a:noFill/>
          <a:ln>
            <a:noFill/>
          </a:ln>
        </p:spPr>
        <p:txBody>
          <a:bodyPr anchorCtr="0" anchor="ctr" bIns="91425" lIns="91425" spcFirstLastPara="1" rIns="91425" wrap="square" tIns="91425">
            <a:normAutofit/>
          </a:bodyPr>
          <a:lstStyle/>
          <a:p>
            <a:pPr indent="-324708" lvl="0" marL="457200" rtl="0" algn="l">
              <a:lnSpc>
                <a:spcPct val="200000"/>
              </a:lnSpc>
              <a:spcBef>
                <a:spcPts val="1500"/>
              </a:spcBef>
              <a:spcAft>
                <a:spcPts val="0"/>
              </a:spcAft>
              <a:buClr>
                <a:srgbClr val="374151"/>
              </a:buClr>
              <a:buSzPts val="1514"/>
              <a:buFont typeface="Arial"/>
              <a:buChar char="●"/>
            </a:pPr>
            <a:r>
              <a:rPr lang="pt-BR" sz="1600">
                <a:solidFill>
                  <a:srgbClr val="374151"/>
                </a:solidFill>
                <a:latin typeface="Calibri"/>
                <a:ea typeface="Calibri"/>
                <a:cs typeface="Calibri"/>
                <a:sym typeface="Calibri"/>
              </a:rPr>
              <a:t>Qual é o seu nome?</a:t>
            </a:r>
            <a:endParaRPr sz="1600">
              <a:solidFill>
                <a:srgbClr val="374151"/>
              </a:solidFill>
              <a:latin typeface="Calibri"/>
              <a:ea typeface="Calibri"/>
              <a:cs typeface="Calibri"/>
              <a:sym typeface="Calibri"/>
            </a:endParaRPr>
          </a:p>
          <a:p>
            <a:pPr indent="-324708" lvl="0" marL="457200" rtl="0" algn="l">
              <a:lnSpc>
                <a:spcPct val="200000"/>
              </a:lnSpc>
              <a:spcBef>
                <a:spcPts val="0"/>
              </a:spcBef>
              <a:spcAft>
                <a:spcPts val="0"/>
              </a:spcAft>
              <a:buClr>
                <a:srgbClr val="374151"/>
              </a:buClr>
              <a:buSzPts val="1514"/>
              <a:buFont typeface="Arial"/>
              <a:buChar char="●"/>
            </a:pPr>
            <a:r>
              <a:rPr lang="pt-BR" sz="1600">
                <a:solidFill>
                  <a:srgbClr val="374151"/>
                </a:solidFill>
                <a:latin typeface="Calibri"/>
                <a:ea typeface="Calibri"/>
                <a:cs typeface="Calibri"/>
                <a:sym typeface="Calibri"/>
              </a:rPr>
              <a:t>Trabalha em qual secretaria?</a:t>
            </a:r>
            <a:endParaRPr sz="1600">
              <a:solidFill>
                <a:srgbClr val="374151"/>
              </a:solidFill>
              <a:latin typeface="Calibri"/>
              <a:ea typeface="Calibri"/>
              <a:cs typeface="Calibri"/>
              <a:sym typeface="Calibri"/>
            </a:endParaRPr>
          </a:p>
          <a:p>
            <a:pPr indent="-324708" lvl="0" marL="457200" rtl="0" algn="l">
              <a:lnSpc>
                <a:spcPct val="200000"/>
              </a:lnSpc>
              <a:spcBef>
                <a:spcPts val="0"/>
              </a:spcBef>
              <a:spcAft>
                <a:spcPts val="0"/>
              </a:spcAft>
              <a:buClr>
                <a:srgbClr val="374151"/>
              </a:buClr>
              <a:buSzPts val="1514"/>
              <a:buFont typeface="Arial"/>
              <a:buChar char="●"/>
            </a:pPr>
            <a:r>
              <a:rPr lang="pt-BR" sz="1600">
                <a:solidFill>
                  <a:srgbClr val="374151"/>
                </a:solidFill>
                <a:latin typeface="Calibri"/>
                <a:ea typeface="Calibri"/>
                <a:cs typeface="Calibri"/>
                <a:sym typeface="Calibri"/>
              </a:rPr>
              <a:t>O que você faz nas horas vagas?</a:t>
            </a:r>
            <a:endParaRPr sz="1600">
              <a:solidFill>
                <a:srgbClr val="374151"/>
              </a:solidFill>
              <a:latin typeface="Calibri"/>
              <a:ea typeface="Calibri"/>
              <a:cs typeface="Calibri"/>
              <a:sym typeface="Calibri"/>
            </a:endParaRPr>
          </a:p>
          <a:p>
            <a:pPr indent="-324708" lvl="0" marL="457200" rtl="0" algn="l">
              <a:lnSpc>
                <a:spcPct val="200000"/>
              </a:lnSpc>
              <a:spcBef>
                <a:spcPts val="0"/>
              </a:spcBef>
              <a:spcAft>
                <a:spcPts val="0"/>
              </a:spcAft>
              <a:buClr>
                <a:srgbClr val="374151"/>
              </a:buClr>
              <a:buSzPts val="1514"/>
              <a:buFont typeface="Arial"/>
              <a:buChar char="●"/>
            </a:pPr>
            <a:r>
              <a:rPr lang="pt-BR" sz="1600">
                <a:solidFill>
                  <a:srgbClr val="374151"/>
                </a:solidFill>
                <a:latin typeface="Calibri"/>
                <a:ea typeface="Calibri"/>
                <a:cs typeface="Calibri"/>
                <a:sym typeface="Calibri"/>
              </a:rPr>
              <a:t>Qual a sua experiência com Power BI?</a:t>
            </a:r>
            <a:endParaRPr/>
          </a:p>
          <a:p>
            <a:pPr indent="-324708" lvl="0" marL="457200" rtl="0" algn="l">
              <a:lnSpc>
                <a:spcPct val="200000"/>
              </a:lnSpc>
              <a:spcBef>
                <a:spcPts val="0"/>
              </a:spcBef>
              <a:spcAft>
                <a:spcPts val="0"/>
              </a:spcAft>
              <a:buClr>
                <a:srgbClr val="374151"/>
              </a:buClr>
              <a:buSzPts val="1514"/>
              <a:buFont typeface="Arial"/>
              <a:buChar char="●"/>
            </a:pPr>
            <a:r>
              <a:rPr lang="pt-BR" sz="1600">
                <a:solidFill>
                  <a:srgbClr val="374151"/>
                </a:solidFill>
                <a:latin typeface="Calibri"/>
                <a:ea typeface="Calibri"/>
                <a:cs typeface="Calibri"/>
                <a:sym typeface="Calibri"/>
              </a:rPr>
              <a:t>O que trouxe você ao curso de Power BI?</a:t>
            </a:r>
            <a:endParaRPr sz="1600">
              <a:solidFill>
                <a:srgbClr val="374151"/>
              </a:solidFill>
              <a:latin typeface="Calibri"/>
              <a:ea typeface="Calibri"/>
              <a:cs typeface="Calibri"/>
              <a:sym typeface="Calibri"/>
            </a:endParaRPr>
          </a:p>
        </p:txBody>
      </p:sp>
      <p:pic>
        <p:nvPicPr>
          <p:cNvPr descr="Ícone&#10;&#10;Descrição gerada automaticamente" id="136" name="Google Shape;136;g3937d203302_0_43"/>
          <p:cNvPicPr preferRelativeResize="0"/>
          <p:nvPr/>
        </p:nvPicPr>
        <p:blipFill rotWithShape="1">
          <a:blip r:embed="rId3">
            <a:alphaModFix/>
          </a:blip>
          <a:srcRect b="0" l="0" r="0" t="0"/>
          <a:stretch/>
        </p:blipFill>
        <p:spPr>
          <a:xfrm>
            <a:off x="5445513" y="3390474"/>
            <a:ext cx="1338147" cy="1338147"/>
          </a:xfrm>
          <a:prstGeom prst="rect">
            <a:avLst/>
          </a:prstGeom>
          <a:noFill/>
          <a:ln>
            <a:noFill/>
          </a:ln>
        </p:spPr>
      </p:pic>
      <p:pic>
        <p:nvPicPr>
          <p:cNvPr descr="Ícone&#10;&#10;Descrição gerada automaticamente" id="137" name="Google Shape;137;g3937d203302_0_43"/>
          <p:cNvPicPr preferRelativeResize="0"/>
          <p:nvPr/>
        </p:nvPicPr>
        <p:blipFill rotWithShape="1">
          <a:blip r:embed="rId4">
            <a:alphaModFix/>
          </a:blip>
          <a:srcRect b="0" l="0" r="0" t="0"/>
          <a:stretch/>
        </p:blipFill>
        <p:spPr>
          <a:xfrm>
            <a:off x="6623825" y="3423191"/>
            <a:ext cx="1338147" cy="1338147"/>
          </a:xfrm>
          <a:prstGeom prst="rect">
            <a:avLst/>
          </a:prstGeom>
          <a:noFill/>
          <a:ln>
            <a:noFill/>
          </a:ln>
        </p:spPr>
      </p:pic>
      <p:pic>
        <p:nvPicPr>
          <p:cNvPr descr="Ícone&#10;&#10;Descrição gerada automaticamente" id="138" name="Google Shape;138;g3937d203302_0_43"/>
          <p:cNvPicPr preferRelativeResize="0"/>
          <p:nvPr/>
        </p:nvPicPr>
        <p:blipFill rotWithShape="1">
          <a:blip r:embed="rId5">
            <a:alphaModFix/>
          </a:blip>
          <a:srcRect b="0" l="0" r="0" t="0"/>
          <a:stretch/>
        </p:blipFill>
        <p:spPr>
          <a:xfrm>
            <a:off x="6527750" y="750115"/>
            <a:ext cx="1631099" cy="1631099"/>
          </a:xfrm>
          <a:prstGeom prst="rect">
            <a:avLst/>
          </a:prstGeom>
          <a:noFill/>
          <a:ln>
            <a:noFill/>
          </a:ln>
        </p:spPr>
      </p:pic>
      <p:pic>
        <p:nvPicPr>
          <p:cNvPr descr="Ícone&#10;&#10;Descrição gerada automaticamente" id="139" name="Google Shape;139;g3937d203302_0_43"/>
          <p:cNvPicPr preferRelativeResize="0"/>
          <p:nvPr/>
        </p:nvPicPr>
        <p:blipFill rotWithShape="1">
          <a:blip r:embed="rId6">
            <a:alphaModFix/>
          </a:blip>
          <a:srcRect b="0" l="0" r="0" t="0"/>
          <a:stretch/>
        </p:blipFill>
        <p:spPr>
          <a:xfrm>
            <a:off x="6732575" y="2144094"/>
            <a:ext cx="1401336" cy="1401336"/>
          </a:xfrm>
          <a:prstGeom prst="rect">
            <a:avLst/>
          </a:prstGeom>
          <a:noFill/>
          <a:ln>
            <a:noFill/>
          </a:ln>
        </p:spPr>
      </p:pic>
      <p:pic>
        <p:nvPicPr>
          <p:cNvPr descr="Ícone&#10;&#10;Descrição gerada automaticamente" id="140" name="Google Shape;140;g3937d203302_0_43"/>
          <p:cNvPicPr preferRelativeResize="0"/>
          <p:nvPr/>
        </p:nvPicPr>
        <p:blipFill rotWithShape="1">
          <a:blip r:embed="rId7">
            <a:alphaModFix/>
          </a:blip>
          <a:srcRect b="0" l="0" r="0" t="0"/>
          <a:stretch/>
        </p:blipFill>
        <p:spPr>
          <a:xfrm>
            <a:off x="5536940" y="2010129"/>
            <a:ext cx="1484330" cy="1484330"/>
          </a:xfrm>
          <a:prstGeom prst="rect">
            <a:avLst/>
          </a:prstGeom>
          <a:noFill/>
          <a:ln>
            <a:noFill/>
          </a:ln>
        </p:spPr>
      </p:pic>
      <p:pic>
        <p:nvPicPr>
          <p:cNvPr descr="Ícone&#10;&#10;Descrição gerada automaticamente" id="141" name="Google Shape;141;g3937d203302_0_43"/>
          <p:cNvPicPr preferRelativeResize="0"/>
          <p:nvPr/>
        </p:nvPicPr>
        <p:blipFill rotWithShape="1">
          <a:blip r:embed="rId8">
            <a:alphaModFix/>
          </a:blip>
          <a:srcRect b="0" l="0" r="0" t="0"/>
          <a:stretch/>
        </p:blipFill>
        <p:spPr>
          <a:xfrm>
            <a:off x="5445513" y="875893"/>
            <a:ext cx="1401336" cy="1401336"/>
          </a:xfrm>
          <a:prstGeom prst="rect">
            <a:avLst/>
          </a:prstGeom>
          <a:noFill/>
          <a:ln>
            <a:noFill/>
          </a:ln>
        </p:spPr>
      </p:pic>
      <p:sp>
        <p:nvSpPr>
          <p:cNvPr id="142" name="Google Shape;142;g3937d203302_0_43"/>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143" name="Google Shape;143;g3937d203302_0_43" title="SENAI_São_Paulo_logo.png"/>
          <p:cNvPicPr preferRelativeResize="0"/>
          <p:nvPr/>
        </p:nvPicPr>
        <p:blipFill rotWithShape="1">
          <a:blip r:embed="rId9">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937d203302_0_56"/>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Antes de mais nada... </a:t>
            </a:r>
            <a:endParaRPr b="0">
              <a:latin typeface="Impact"/>
              <a:ea typeface="Impact"/>
              <a:cs typeface="Impact"/>
              <a:sym typeface="Impact"/>
            </a:endParaRPr>
          </a:p>
        </p:txBody>
      </p:sp>
      <p:sp>
        <p:nvSpPr>
          <p:cNvPr id="149" name="Google Shape;149;g3937d203302_0_56"/>
          <p:cNvSpPr txBox="1"/>
          <p:nvPr/>
        </p:nvSpPr>
        <p:spPr>
          <a:xfrm>
            <a:off x="450200" y="2083925"/>
            <a:ext cx="8276400" cy="535200"/>
          </a:xfrm>
          <a:prstGeom prst="rect">
            <a:avLst/>
          </a:prstGeom>
          <a:noFill/>
          <a:ln>
            <a:noFill/>
          </a:ln>
        </p:spPr>
        <p:txBody>
          <a:bodyPr anchorCtr="0" anchor="t" bIns="91425" lIns="91425" spcFirstLastPara="1" rIns="91425" wrap="square" tIns="91425">
            <a:normAutofit lnSpcReduction="20000"/>
          </a:bodyPr>
          <a:lstStyle/>
          <a:p>
            <a:pPr indent="0" lvl="0" marL="0" marR="0" rtl="0" algn="ctr">
              <a:lnSpc>
                <a:spcPct val="100000"/>
              </a:lnSpc>
              <a:spcBef>
                <a:spcPts val="0"/>
              </a:spcBef>
              <a:spcAft>
                <a:spcPts val="0"/>
              </a:spcAft>
              <a:buClr>
                <a:schemeClr val="dk2"/>
              </a:buClr>
              <a:buSzPts val="2889"/>
              <a:buFont typeface="Raleway"/>
              <a:buNone/>
            </a:pPr>
            <a:r>
              <a:rPr b="1" i="0" lang="pt-BR" sz="2600" u="none" cap="none" strike="noStrike">
                <a:solidFill>
                  <a:schemeClr val="dk2"/>
                </a:solidFill>
                <a:latin typeface="Calibri"/>
                <a:ea typeface="Calibri"/>
                <a:cs typeface="Calibri"/>
                <a:sym typeface="Calibri"/>
              </a:rPr>
              <a:t>O que é o Power BI?</a:t>
            </a:r>
            <a:endParaRPr b="0" i="0" sz="1400" u="none" cap="none" strike="noStrike">
              <a:solidFill>
                <a:srgbClr val="000000"/>
              </a:solidFill>
              <a:latin typeface="Arial"/>
              <a:ea typeface="Arial"/>
              <a:cs typeface="Arial"/>
              <a:sym typeface="Arial"/>
            </a:endParaRPr>
          </a:p>
        </p:txBody>
      </p:sp>
      <p:sp>
        <p:nvSpPr>
          <p:cNvPr id="150" name="Google Shape;150;g3937d203302_0_56"/>
          <p:cNvSpPr txBox="1"/>
          <p:nvPr/>
        </p:nvSpPr>
        <p:spPr>
          <a:xfrm>
            <a:off x="379200" y="3135825"/>
            <a:ext cx="8385600" cy="5970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chemeClr val="dk2"/>
              </a:buClr>
              <a:buSzPts val="2889"/>
              <a:buFont typeface="Raleway"/>
              <a:buNone/>
            </a:pPr>
            <a:r>
              <a:rPr b="1" i="0" lang="pt-BR" sz="2600" u="none" cap="none" strike="noStrike">
                <a:solidFill>
                  <a:schemeClr val="dk2"/>
                </a:solidFill>
                <a:latin typeface="Calibri"/>
                <a:ea typeface="Calibri"/>
                <a:cs typeface="Calibri"/>
                <a:sym typeface="Calibri"/>
              </a:rPr>
              <a:t>O que podemos fazer com Power BI?</a:t>
            </a:r>
            <a:endParaRPr b="0" i="0" sz="1400" u="none" cap="none" strike="noStrike">
              <a:solidFill>
                <a:srgbClr val="000000"/>
              </a:solidFill>
              <a:latin typeface="Arial"/>
              <a:ea typeface="Arial"/>
              <a:cs typeface="Arial"/>
              <a:sym typeface="Arial"/>
            </a:endParaRPr>
          </a:p>
        </p:txBody>
      </p:sp>
      <p:sp>
        <p:nvSpPr>
          <p:cNvPr id="151" name="Google Shape;151;g3937d203302_0_56"/>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152" name="Google Shape;152;g3937d203302_0_56"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937d203302_0_64"/>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Antes de mais nada o que é o Power BI?</a:t>
            </a:r>
            <a:endParaRPr b="0">
              <a:latin typeface="Impact"/>
              <a:ea typeface="Impact"/>
              <a:cs typeface="Impact"/>
              <a:sym typeface="Impact"/>
            </a:endParaRPr>
          </a:p>
        </p:txBody>
      </p:sp>
      <p:pic>
        <p:nvPicPr>
          <p:cNvPr id="158" name="Google Shape;158;g3937d203302_0_64"/>
          <p:cNvPicPr preferRelativeResize="0"/>
          <p:nvPr/>
        </p:nvPicPr>
        <p:blipFill rotWithShape="1">
          <a:blip r:embed="rId3">
            <a:alphaModFix/>
          </a:blip>
          <a:srcRect b="0" l="0" r="0" t="0"/>
          <a:stretch/>
        </p:blipFill>
        <p:spPr>
          <a:xfrm>
            <a:off x="5225303" y="2230244"/>
            <a:ext cx="3189247" cy="1798840"/>
          </a:xfrm>
          <a:prstGeom prst="rect">
            <a:avLst/>
          </a:prstGeom>
          <a:noFill/>
          <a:ln>
            <a:noFill/>
          </a:ln>
        </p:spPr>
      </p:pic>
      <p:sp>
        <p:nvSpPr>
          <p:cNvPr id="159" name="Google Shape;159;g3937d203302_0_64"/>
          <p:cNvSpPr txBox="1"/>
          <p:nvPr>
            <p:ph idx="1" type="body"/>
          </p:nvPr>
        </p:nvSpPr>
        <p:spPr>
          <a:xfrm>
            <a:off x="575650" y="1440775"/>
            <a:ext cx="4590300" cy="33840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pt-BR" sz="1800">
                <a:solidFill>
                  <a:schemeClr val="dk2"/>
                </a:solidFill>
                <a:latin typeface="Calibri"/>
                <a:ea typeface="Calibri"/>
                <a:cs typeface="Calibri"/>
                <a:sym typeface="Calibri"/>
              </a:rPr>
              <a:t>É um software</a:t>
            </a:r>
            <a:endParaRPr/>
          </a:p>
          <a:p>
            <a:pPr indent="-311150" lvl="0" marL="457200" rtl="0" algn="l">
              <a:lnSpc>
                <a:spcPct val="115000"/>
              </a:lnSpc>
              <a:spcBef>
                <a:spcPts val="0"/>
              </a:spcBef>
              <a:spcAft>
                <a:spcPts val="0"/>
              </a:spcAft>
              <a:buSzPts val="1300"/>
              <a:buChar char="●"/>
            </a:pPr>
            <a:r>
              <a:rPr lang="pt-BR" sz="1800">
                <a:solidFill>
                  <a:schemeClr val="dk2"/>
                </a:solidFill>
                <a:latin typeface="Calibri"/>
                <a:ea typeface="Calibri"/>
                <a:cs typeface="Calibri"/>
                <a:sym typeface="Calibri"/>
              </a:rPr>
              <a:t>Faz parte do Pacote Power Platform (PL)</a:t>
            </a:r>
            <a:endParaRPr/>
          </a:p>
          <a:p>
            <a:pPr indent="-311150" lvl="0" marL="457200" rtl="0" algn="l">
              <a:lnSpc>
                <a:spcPct val="115000"/>
              </a:lnSpc>
              <a:spcBef>
                <a:spcPts val="0"/>
              </a:spcBef>
              <a:spcAft>
                <a:spcPts val="0"/>
              </a:spcAft>
              <a:buSzPts val="1300"/>
              <a:buChar char="●"/>
            </a:pPr>
            <a:r>
              <a:rPr lang="pt-BR" sz="1800">
                <a:solidFill>
                  <a:schemeClr val="dk2"/>
                </a:solidFill>
                <a:latin typeface="Calibri"/>
                <a:ea typeface="Calibri"/>
                <a:cs typeface="Calibri"/>
                <a:sym typeface="Calibri"/>
              </a:rPr>
              <a:t>Viabiliza o “Business Intelligence”</a:t>
            </a:r>
            <a:endParaRPr/>
          </a:p>
          <a:p>
            <a:pPr indent="-311150" lvl="0" marL="457200" rtl="0" algn="l">
              <a:lnSpc>
                <a:spcPct val="115000"/>
              </a:lnSpc>
              <a:spcBef>
                <a:spcPts val="0"/>
              </a:spcBef>
              <a:spcAft>
                <a:spcPts val="0"/>
              </a:spcAft>
              <a:buSzPts val="1300"/>
              <a:buChar char="●"/>
            </a:pPr>
            <a:r>
              <a:rPr lang="pt-BR" sz="1800">
                <a:solidFill>
                  <a:schemeClr val="dk2"/>
                </a:solidFill>
                <a:latin typeface="Calibri"/>
                <a:ea typeface="Calibri"/>
                <a:cs typeface="Calibri"/>
                <a:sym typeface="Calibri"/>
              </a:rPr>
              <a:t>Permite extração, tratamento e apresentação de dados</a:t>
            </a:r>
            <a:endParaRPr/>
          </a:p>
          <a:p>
            <a:pPr indent="-311150" lvl="0" marL="457200" rtl="0" algn="l">
              <a:lnSpc>
                <a:spcPct val="115000"/>
              </a:lnSpc>
              <a:spcBef>
                <a:spcPts val="0"/>
              </a:spcBef>
              <a:spcAft>
                <a:spcPts val="0"/>
              </a:spcAft>
              <a:buSzPts val="1300"/>
              <a:buChar char="●"/>
            </a:pPr>
            <a:r>
              <a:rPr lang="pt-BR" sz="1800">
                <a:solidFill>
                  <a:schemeClr val="dk2"/>
                </a:solidFill>
                <a:latin typeface="Calibri"/>
                <a:ea typeface="Calibri"/>
                <a:cs typeface="Calibri"/>
                <a:sym typeface="Calibri"/>
              </a:rPr>
              <a:t>É amplamente usado nas empresas</a:t>
            </a:r>
            <a:endParaRPr/>
          </a:p>
          <a:p>
            <a:pPr indent="-311150" lvl="0" marL="457200" rtl="0" algn="l">
              <a:lnSpc>
                <a:spcPct val="115000"/>
              </a:lnSpc>
              <a:spcBef>
                <a:spcPts val="0"/>
              </a:spcBef>
              <a:spcAft>
                <a:spcPts val="0"/>
              </a:spcAft>
              <a:buSzPts val="1300"/>
              <a:buChar char="●"/>
            </a:pPr>
            <a:r>
              <a:rPr lang="pt-BR" sz="1800">
                <a:solidFill>
                  <a:schemeClr val="dk2"/>
                </a:solidFill>
                <a:latin typeface="Calibri"/>
                <a:ea typeface="Calibri"/>
                <a:cs typeface="Calibri"/>
                <a:sym typeface="Calibri"/>
              </a:rPr>
              <a:t>Não é a única opção (</a:t>
            </a:r>
            <a:r>
              <a:rPr b="0" i="0" lang="pt-BR" sz="1800">
                <a:solidFill>
                  <a:schemeClr val="dk2"/>
                </a:solidFill>
                <a:latin typeface="Calibri"/>
                <a:ea typeface="Calibri"/>
                <a:cs typeface="Calibri"/>
                <a:sym typeface="Calibri"/>
              </a:rPr>
              <a:t>Tableau, IBM Cognos Analytics, Google Data Studio)</a:t>
            </a:r>
            <a:endParaRPr sz="1800">
              <a:solidFill>
                <a:schemeClr val="dk2"/>
              </a:solidFill>
              <a:latin typeface="Calibri"/>
              <a:ea typeface="Calibri"/>
              <a:cs typeface="Calibri"/>
              <a:sym typeface="Calibri"/>
            </a:endParaRPr>
          </a:p>
        </p:txBody>
      </p:sp>
      <p:sp>
        <p:nvSpPr>
          <p:cNvPr id="160" name="Google Shape;160;g3937d203302_0_64"/>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161" name="Google Shape;161;g3937d203302_0_64"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937d203302_0_72"/>
          <p:cNvSpPr txBox="1"/>
          <p:nvPr>
            <p:ph type="title"/>
          </p:nvPr>
        </p:nvSpPr>
        <p:spPr>
          <a:xfrm>
            <a:off x="555679" y="484646"/>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O Power BI é solicitado no mercado?</a:t>
            </a:r>
            <a:endParaRPr b="0">
              <a:latin typeface="Impact"/>
              <a:ea typeface="Impact"/>
              <a:cs typeface="Impact"/>
              <a:sym typeface="Impact"/>
            </a:endParaRPr>
          </a:p>
        </p:txBody>
      </p:sp>
      <p:pic>
        <p:nvPicPr>
          <p:cNvPr id="167" name="Google Shape;167;g3937d203302_0_72"/>
          <p:cNvPicPr preferRelativeResize="0"/>
          <p:nvPr/>
        </p:nvPicPr>
        <p:blipFill rotWithShape="1">
          <a:blip r:embed="rId3">
            <a:alphaModFix/>
          </a:blip>
          <a:srcRect b="0" l="0" r="0" t="0"/>
          <a:stretch/>
        </p:blipFill>
        <p:spPr>
          <a:xfrm>
            <a:off x="594732" y="957307"/>
            <a:ext cx="7688701" cy="2554652"/>
          </a:xfrm>
          <a:prstGeom prst="rect">
            <a:avLst/>
          </a:prstGeom>
          <a:noFill/>
          <a:ln>
            <a:noFill/>
          </a:ln>
        </p:spPr>
      </p:pic>
      <p:sp>
        <p:nvSpPr>
          <p:cNvPr id="168" name="Google Shape;168;g3937d203302_0_72"/>
          <p:cNvSpPr/>
          <p:nvPr/>
        </p:nvSpPr>
        <p:spPr>
          <a:xfrm>
            <a:off x="729451" y="1821320"/>
            <a:ext cx="1426500" cy="483300"/>
          </a:xfrm>
          <a:prstGeom prst="roundRect">
            <a:avLst>
              <a:gd fmla="val 16667" name="adj"/>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9" name="Google Shape;169;g3937d203302_0_72"/>
          <p:cNvSpPr txBox="1"/>
          <p:nvPr/>
        </p:nvSpPr>
        <p:spPr>
          <a:xfrm>
            <a:off x="7136225" y="2642511"/>
            <a:ext cx="1147200" cy="384900"/>
          </a:xfrm>
          <a:prstGeom prst="rect">
            <a:avLst/>
          </a:prstGeom>
          <a:solidFill>
            <a:srgbClr val="3C78D8"/>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pt-BR" sz="1300" u="none" cap="none" strike="noStrike">
                <a:solidFill>
                  <a:schemeClr val="lt1"/>
                </a:solidFill>
                <a:latin typeface="Lato"/>
                <a:ea typeface="Lato"/>
                <a:cs typeface="Lato"/>
                <a:sym typeface="Lato"/>
              </a:rPr>
              <a:t>Junho/2023</a:t>
            </a:r>
            <a:endParaRPr b="0" i="0" sz="1300" u="none" cap="none" strike="noStrike">
              <a:solidFill>
                <a:schemeClr val="lt1"/>
              </a:solidFill>
              <a:latin typeface="Lato"/>
              <a:ea typeface="Lato"/>
              <a:cs typeface="Lato"/>
              <a:sym typeface="Lato"/>
            </a:endParaRPr>
          </a:p>
        </p:txBody>
      </p:sp>
      <p:pic>
        <p:nvPicPr>
          <p:cNvPr id="170" name="Google Shape;170;g3937d203302_0_72"/>
          <p:cNvPicPr preferRelativeResize="0"/>
          <p:nvPr/>
        </p:nvPicPr>
        <p:blipFill rotWithShape="1">
          <a:blip r:embed="rId4">
            <a:alphaModFix/>
          </a:blip>
          <a:srcRect b="21407" l="487" r="9276" t="0"/>
          <a:stretch/>
        </p:blipFill>
        <p:spPr>
          <a:xfrm>
            <a:off x="594725" y="2994426"/>
            <a:ext cx="7688701" cy="2007750"/>
          </a:xfrm>
          <a:prstGeom prst="rect">
            <a:avLst/>
          </a:prstGeom>
          <a:noFill/>
          <a:ln>
            <a:noFill/>
          </a:ln>
        </p:spPr>
      </p:pic>
      <p:sp>
        <p:nvSpPr>
          <p:cNvPr id="171" name="Google Shape;171;g3937d203302_0_72"/>
          <p:cNvSpPr/>
          <p:nvPr/>
        </p:nvSpPr>
        <p:spPr>
          <a:xfrm>
            <a:off x="702426" y="3909217"/>
            <a:ext cx="1426500" cy="483300"/>
          </a:xfrm>
          <a:prstGeom prst="roundRect">
            <a:avLst>
              <a:gd fmla="val 16667" name="adj"/>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2" name="Google Shape;172;g3937d203302_0_72"/>
          <p:cNvSpPr txBox="1"/>
          <p:nvPr/>
        </p:nvSpPr>
        <p:spPr>
          <a:xfrm>
            <a:off x="7136225" y="4557167"/>
            <a:ext cx="1147200" cy="384900"/>
          </a:xfrm>
          <a:prstGeom prst="rect">
            <a:avLst/>
          </a:prstGeom>
          <a:solidFill>
            <a:srgbClr val="3C78D8"/>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pt-BR" sz="1300" u="none" cap="none" strike="noStrike">
                <a:solidFill>
                  <a:schemeClr val="lt1"/>
                </a:solidFill>
                <a:latin typeface="Lato"/>
                <a:ea typeface="Lato"/>
                <a:cs typeface="Lato"/>
                <a:sym typeface="Lato"/>
              </a:rPr>
              <a:t>Março/2025</a:t>
            </a:r>
            <a:endParaRPr b="0" i="0" sz="1300" u="none" cap="none" strike="noStrike">
              <a:solidFill>
                <a:schemeClr val="lt1"/>
              </a:solidFill>
              <a:latin typeface="Lato"/>
              <a:ea typeface="Lato"/>
              <a:cs typeface="Lato"/>
              <a:sym typeface="Lato"/>
            </a:endParaRPr>
          </a:p>
        </p:txBody>
      </p:sp>
      <p:cxnSp>
        <p:nvCxnSpPr>
          <p:cNvPr id="173" name="Google Shape;173;g3937d203302_0_72"/>
          <p:cNvCxnSpPr/>
          <p:nvPr/>
        </p:nvCxnSpPr>
        <p:spPr>
          <a:xfrm flipH="1" rot="10800000">
            <a:off x="598075" y="3053636"/>
            <a:ext cx="7692900" cy="7500"/>
          </a:xfrm>
          <a:prstGeom prst="straightConnector1">
            <a:avLst/>
          </a:prstGeom>
          <a:noFill/>
          <a:ln cap="flat" cmpd="sng" w="38100">
            <a:solidFill>
              <a:schemeClr val="dk2"/>
            </a:solidFill>
            <a:prstDash val="solid"/>
            <a:round/>
            <a:headEnd len="sm" w="sm" type="none"/>
            <a:tailEnd len="sm" w="sm" type="none"/>
          </a:ln>
        </p:spPr>
      </p:cxnSp>
      <p:sp>
        <p:nvSpPr>
          <p:cNvPr id="174" name="Google Shape;174;g3937d203302_0_72"/>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175" name="Google Shape;175;g3937d203302_0_72" title="SENAI_São_Paulo_logo.png"/>
          <p:cNvPicPr preferRelativeResize="0"/>
          <p:nvPr/>
        </p:nvPicPr>
        <p:blipFill rotWithShape="1">
          <a:blip r:embed="rId5">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937d203302_0_85"/>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O Power BI é solicitado no mercado?</a:t>
            </a:r>
            <a:endParaRPr b="0">
              <a:latin typeface="Impact"/>
              <a:ea typeface="Impact"/>
              <a:cs typeface="Impact"/>
              <a:sym typeface="Impact"/>
            </a:endParaRPr>
          </a:p>
        </p:txBody>
      </p:sp>
      <p:pic>
        <p:nvPicPr>
          <p:cNvPr id="181" name="Google Shape;181;g3937d203302_0_85"/>
          <p:cNvPicPr preferRelativeResize="0"/>
          <p:nvPr/>
        </p:nvPicPr>
        <p:blipFill rotWithShape="1">
          <a:blip r:embed="rId3">
            <a:alphaModFix/>
          </a:blip>
          <a:srcRect b="0" l="0" r="0" t="0"/>
          <a:stretch/>
        </p:blipFill>
        <p:spPr>
          <a:xfrm>
            <a:off x="1918008" y="1239850"/>
            <a:ext cx="5513217" cy="3735217"/>
          </a:xfrm>
          <a:prstGeom prst="rect">
            <a:avLst/>
          </a:prstGeom>
          <a:noFill/>
          <a:ln>
            <a:noFill/>
          </a:ln>
        </p:spPr>
      </p:pic>
      <p:sp>
        <p:nvSpPr>
          <p:cNvPr id="182" name="Google Shape;182;g3937d203302_0_85"/>
          <p:cNvSpPr/>
          <p:nvPr/>
        </p:nvSpPr>
        <p:spPr>
          <a:xfrm>
            <a:off x="4549698" y="1667801"/>
            <a:ext cx="2616900" cy="1442100"/>
          </a:xfrm>
          <a:prstGeom prst="roundRect">
            <a:avLst>
              <a:gd fmla="val 4052" name="adj"/>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3" name="Google Shape;183;g3937d203302_0_85"/>
          <p:cNvSpPr/>
          <p:nvPr/>
        </p:nvSpPr>
        <p:spPr>
          <a:xfrm>
            <a:off x="6962333" y="2068830"/>
            <a:ext cx="527400" cy="369600"/>
          </a:xfrm>
          <a:prstGeom prst="leftArrow">
            <a:avLst>
              <a:gd fmla="val 50000" name="adj1"/>
              <a:gd fmla="val 50000" name="adj2"/>
            </a:avLst>
          </a:prstGeom>
          <a:solidFill>
            <a:srgbClr val="C00000"/>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4" name="Google Shape;184;g3937d203302_0_85"/>
          <p:cNvSpPr/>
          <p:nvPr/>
        </p:nvSpPr>
        <p:spPr>
          <a:xfrm>
            <a:off x="7065203" y="1632798"/>
            <a:ext cx="527400" cy="369600"/>
          </a:xfrm>
          <a:prstGeom prst="leftArrow">
            <a:avLst>
              <a:gd fmla="val 50000" name="adj1"/>
              <a:gd fmla="val 50000" name="adj2"/>
            </a:avLst>
          </a:prstGeom>
          <a:solidFill>
            <a:srgbClr val="C00000"/>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5" name="Google Shape;185;g3937d203302_0_85"/>
          <p:cNvSpPr/>
          <p:nvPr/>
        </p:nvSpPr>
        <p:spPr>
          <a:xfrm>
            <a:off x="7118543" y="3488190"/>
            <a:ext cx="527400" cy="369600"/>
          </a:xfrm>
          <a:prstGeom prst="leftArrow">
            <a:avLst>
              <a:gd fmla="val 50000" name="adj1"/>
              <a:gd fmla="val 50000" name="adj2"/>
            </a:avLst>
          </a:prstGeom>
          <a:solidFill>
            <a:srgbClr val="C00000"/>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6" name="Google Shape;186;g3937d203302_0_85"/>
          <p:cNvSpPr/>
          <p:nvPr/>
        </p:nvSpPr>
        <p:spPr>
          <a:xfrm rot="1856094">
            <a:off x="5251013" y="4207495"/>
            <a:ext cx="306382" cy="268310"/>
          </a:xfrm>
          <a:prstGeom prst="leftArrow">
            <a:avLst>
              <a:gd fmla="val 50000" name="adj1"/>
              <a:gd fmla="val 50000" name="adj2"/>
            </a:avLst>
          </a:prstGeom>
          <a:solidFill>
            <a:srgbClr val="C00000"/>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7" name="Google Shape;187;g3937d203302_0_85"/>
          <p:cNvSpPr/>
          <p:nvPr/>
        </p:nvSpPr>
        <p:spPr>
          <a:xfrm rot="-1997109">
            <a:off x="6413187" y="3172046"/>
            <a:ext cx="306119" cy="268176"/>
          </a:xfrm>
          <a:prstGeom prst="leftArrow">
            <a:avLst>
              <a:gd fmla="val 50000" name="adj1"/>
              <a:gd fmla="val 50000" name="adj2"/>
            </a:avLst>
          </a:prstGeom>
          <a:solidFill>
            <a:srgbClr val="C00000"/>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8" name="Google Shape;188;g3937d203302_0_85"/>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189" name="Google Shape;189;g3937d203302_0_85"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id="194" name="Google Shape;194;g3937d203302_0_98"/>
          <p:cNvPicPr preferRelativeResize="0"/>
          <p:nvPr/>
        </p:nvPicPr>
        <p:blipFill rotWithShape="1">
          <a:blip r:embed="rId3">
            <a:alphaModFix/>
          </a:blip>
          <a:srcRect b="0" l="0" r="0" t="0"/>
          <a:stretch/>
        </p:blipFill>
        <p:spPr>
          <a:xfrm>
            <a:off x="2252919" y="1106925"/>
            <a:ext cx="4944929" cy="3903650"/>
          </a:xfrm>
          <a:prstGeom prst="rect">
            <a:avLst/>
          </a:prstGeom>
          <a:noFill/>
          <a:ln>
            <a:noFill/>
          </a:ln>
        </p:spPr>
      </p:pic>
      <p:sp>
        <p:nvSpPr>
          <p:cNvPr id="195" name="Google Shape;195;g3937d203302_0_98"/>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O Power BI é solicitado no mercado?</a:t>
            </a:r>
            <a:endParaRPr b="0">
              <a:latin typeface="Impact"/>
              <a:ea typeface="Impact"/>
              <a:cs typeface="Impact"/>
              <a:sym typeface="Impact"/>
            </a:endParaRPr>
          </a:p>
        </p:txBody>
      </p:sp>
      <p:sp>
        <p:nvSpPr>
          <p:cNvPr id="196" name="Google Shape;196;g3937d203302_0_98"/>
          <p:cNvSpPr/>
          <p:nvPr/>
        </p:nvSpPr>
        <p:spPr>
          <a:xfrm>
            <a:off x="2252919" y="1847110"/>
            <a:ext cx="3786600" cy="3163500"/>
          </a:xfrm>
          <a:prstGeom prst="roundRect">
            <a:avLst>
              <a:gd fmla="val 4052" name="adj"/>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7" name="Google Shape;197;g3937d203302_0_98"/>
          <p:cNvSpPr/>
          <p:nvPr/>
        </p:nvSpPr>
        <p:spPr>
          <a:xfrm rot="10087381">
            <a:off x="1755824" y="3252723"/>
            <a:ext cx="606382" cy="534953"/>
          </a:xfrm>
          <a:prstGeom prst="leftArrow">
            <a:avLst>
              <a:gd fmla="val 50000" name="adj1"/>
              <a:gd fmla="val 47711" name="adj2"/>
            </a:avLst>
          </a:prstGeom>
          <a:solidFill>
            <a:srgbClr val="C00000"/>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8" name="Google Shape;198;g3937d203302_0_98"/>
          <p:cNvSpPr/>
          <p:nvPr/>
        </p:nvSpPr>
        <p:spPr>
          <a:xfrm rot="-8872467">
            <a:off x="1803033" y="4288992"/>
            <a:ext cx="606458" cy="534876"/>
          </a:xfrm>
          <a:prstGeom prst="leftArrow">
            <a:avLst>
              <a:gd fmla="val 50000" name="adj1"/>
              <a:gd fmla="val 47711" name="adj2"/>
            </a:avLst>
          </a:prstGeom>
          <a:solidFill>
            <a:srgbClr val="C00000"/>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9" name="Google Shape;199;g3937d203302_0_98"/>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200" name="Google Shape;200;g3937d203302_0_98"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937d203302_0_108"/>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Antes de mais nada o que é o Power BI?</a:t>
            </a:r>
            <a:endParaRPr b="0">
              <a:latin typeface="Impact"/>
              <a:ea typeface="Impact"/>
              <a:cs typeface="Impact"/>
              <a:sym typeface="Impact"/>
            </a:endParaRPr>
          </a:p>
        </p:txBody>
      </p:sp>
      <p:sp>
        <p:nvSpPr>
          <p:cNvPr id="206" name="Google Shape;206;g3937d203302_0_108"/>
          <p:cNvSpPr txBox="1"/>
          <p:nvPr>
            <p:ph idx="1" type="body"/>
          </p:nvPr>
        </p:nvSpPr>
        <p:spPr>
          <a:xfrm>
            <a:off x="729450" y="1318400"/>
            <a:ext cx="3668100" cy="395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300"/>
              <a:buNone/>
            </a:pPr>
            <a:r>
              <a:rPr b="1" lang="pt-BR" sz="1600">
                <a:solidFill>
                  <a:srgbClr val="000000"/>
                </a:solidFill>
                <a:latin typeface="Calibri"/>
                <a:ea typeface="Calibri"/>
                <a:cs typeface="Calibri"/>
                <a:sym typeface="Calibri"/>
              </a:rPr>
              <a:t>Antes</a:t>
            </a:r>
            <a:endParaRPr b="1" sz="1600">
              <a:solidFill>
                <a:srgbClr val="000000"/>
              </a:solidFill>
              <a:latin typeface="Calibri"/>
              <a:ea typeface="Calibri"/>
              <a:cs typeface="Calibri"/>
              <a:sym typeface="Calibri"/>
            </a:endParaRPr>
          </a:p>
          <a:p>
            <a:pPr indent="0" lvl="0" marL="0" rtl="0" algn="l">
              <a:lnSpc>
                <a:spcPct val="100000"/>
              </a:lnSpc>
              <a:spcBef>
                <a:spcPts val="0"/>
              </a:spcBef>
              <a:spcAft>
                <a:spcPts val="0"/>
              </a:spcAft>
              <a:buClr>
                <a:srgbClr val="000000"/>
              </a:buClr>
              <a:buSzPts val="1300"/>
              <a:buNone/>
            </a:pPr>
            <a:r>
              <a:t/>
            </a:r>
            <a:endParaRPr b="1" sz="1600">
              <a:solidFill>
                <a:srgbClr val="000000"/>
              </a:solidFill>
              <a:latin typeface="Calibri"/>
              <a:ea typeface="Calibri"/>
              <a:cs typeface="Calibri"/>
              <a:sym typeface="Calibri"/>
            </a:endParaRPr>
          </a:p>
        </p:txBody>
      </p:sp>
      <p:sp>
        <p:nvSpPr>
          <p:cNvPr id="207" name="Google Shape;207;g3937d203302_0_108"/>
          <p:cNvSpPr txBox="1"/>
          <p:nvPr/>
        </p:nvSpPr>
        <p:spPr>
          <a:xfrm>
            <a:off x="4501650" y="1318400"/>
            <a:ext cx="4154700" cy="39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pt-BR" sz="1600" u="none" cap="none" strike="noStrike">
                <a:solidFill>
                  <a:srgbClr val="000000"/>
                </a:solidFill>
                <a:latin typeface="Calibri"/>
                <a:ea typeface="Calibri"/>
                <a:cs typeface="Calibri"/>
                <a:sym typeface="Calibri"/>
              </a:rPr>
              <a:t>Depois</a:t>
            </a:r>
            <a:endParaRPr b="1" i="0" sz="1600" u="none" cap="none" strike="noStrike">
              <a:solidFill>
                <a:srgbClr val="000000"/>
              </a:solidFill>
              <a:latin typeface="Calibri"/>
              <a:ea typeface="Calibri"/>
              <a:cs typeface="Calibri"/>
              <a:sym typeface="Calibri"/>
            </a:endParaRPr>
          </a:p>
        </p:txBody>
      </p:sp>
      <p:pic>
        <p:nvPicPr>
          <p:cNvPr id="208" name="Google Shape;208;g3937d203302_0_108"/>
          <p:cNvPicPr preferRelativeResize="0"/>
          <p:nvPr/>
        </p:nvPicPr>
        <p:blipFill rotWithShape="1">
          <a:blip r:embed="rId3">
            <a:alphaModFix/>
          </a:blip>
          <a:srcRect b="0" l="0" r="0" t="0"/>
          <a:stretch/>
        </p:blipFill>
        <p:spPr>
          <a:xfrm>
            <a:off x="4501650" y="2238200"/>
            <a:ext cx="4359876" cy="2333575"/>
          </a:xfrm>
          <a:prstGeom prst="rect">
            <a:avLst/>
          </a:prstGeom>
          <a:noFill/>
          <a:ln>
            <a:noFill/>
          </a:ln>
        </p:spPr>
      </p:pic>
      <p:pic>
        <p:nvPicPr>
          <p:cNvPr id="209" name="Google Shape;209;g3937d203302_0_108"/>
          <p:cNvPicPr preferRelativeResize="0"/>
          <p:nvPr/>
        </p:nvPicPr>
        <p:blipFill rotWithShape="1">
          <a:blip r:embed="rId4">
            <a:alphaModFix/>
          </a:blip>
          <a:srcRect b="0" l="0" r="0" t="0"/>
          <a:stretch/>
        </p:blipFill>
        <p:spPr>
          <a:xfrm>
            <a:off x="610504" y="2005601"/>
            <a:ext cx="3668100" cy="2914521"/>
          </a:xfrm>
          <a:prstGeom prst="rect">
            <a:avLst/>
          </a:prstGeom>
          <a:noFill/>
          <a:ln>
            <a:noFill/>
          </a:ln>
        </p:spPr>
      </p:pic>
      <p:sp>
        <p:nvSpPr>
          <p:cNvPr id="210" name="Google Shape;210;g3937d203302_0_108"/>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211" name="Google Shape;211;g3937d203302_0_108" title="SENAI_São_Paulo_logo.png"/>
          <p:cNvPicPr preferRelativeResize="0"/>
          <p:nvPr/>
        </p:nvPicPr>
        <p:blipFill rotWithShape="1">
          <a:blip r:embed="rId5">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descr="Quadrado&#10;&#10;Descrição gerada automaticamente" id="216" name="Google Shape;216;g3937d203302_0_118"/>
          <p:cNvPicPr preferRelativeResize="0"/>
          <p:nvPr/>
        </p:nvPicPr>
        <p:blipFill rotWithShape="1">
          <a:blip r:embed="rId3">
            <a:alphaModFix/>
          </a:blip>
          <a:srcRect b="0" l="0" r="0" t="0"/>
          <a:stretch/>
        </p:blipFill>
        <p:spPr>
          <a:xfrm>
            <a:off x="3596642" y="571725"/>
            <a:ext cx="6291931" cy="4765991"/>
          </a:xfrm>
          <a:prstGeom prst="rect">
            <a:avLst/>
          </a:prstGeom>
          <a:noFill/>
          <a:ln>
            <a:noFill/>
          </a:ln>
        </p:spPr>
      </p:pic>
      <p:pic>
        <p:nvPicPr>
          <p:cNvPr descr="Quadrado&#10;&#10;Descrição gerada automaticamente" id="217" name="Google Shape;217;g3937d203302_0_118"/>
          <p:cNvPicPr preferRelativeResize="0"/>
          <p:nvPr/>
        </p:nvPicPr>
        <p:blipFill rotWithShape="1">
          <a:blip r:embed="rId3">
            <a:alphaModFix/>
          </a:blip>
          <a:srcRect b="0" l="0" r="0" t="0"/>
          <a:stretch/>
        </p:blipFill>
        <p:spPr>
          <a:xfrm>
            <a:off x="-299564" y="1177446"/>
            <a:ext cx="5441800" cy="3852883"/>
          </a:xfrm>
          <a:prstGeom prst="rect">
            <a:avLst/>
          </a:prstGeom>
          <a:noFill/>
          <a:ln>
            <a:noFill/>
          </a:ln>
        </p:spPr>
      </p:pic>
      <p:sp>
        <p:nvSpPr>
          <p:cNvPr id="218" name="Google Shape;218;g3937d203302_0_118"/>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rgbClr val="000000"/>
              </a:buClr>
              <a:buSzPct val="92306"/>
              <a:buFont typeface="Arial"/>
              <a:buNone/>
            </a:pPr>
            <a:r>
              <a:rPr b="0" lang="pt-BR">
                <a:latin typeface="Impact"/>
                <a:ea typeface="Impact"/>
                <a:cs typeface="Impact"/>
                <a:sym typeface="Impact"/>
              </a:rPr>
              <a:t>O que vamos aprender?</a:t>
            </a:r>
            <a:endParaRPr b="0">
              <a:latin typeface="Impact"/>
              <a:ea typeface="Impact"/>
              <a:cs typeface="Impact"/>
              <a:sym typeface="Impact"/>
            </a:endParaRPr>
          </a:p>
        </p:txBody>
      </p:sp>
      <p:sp>
        <p:nvSpPr>
          <p:cNvPr id="219" name="Google Shape;219;g3937d203302_0_118"/>
          <p:cNvSpPr txBox="1"/>
          <p:nvPr/>
        </p:nvSpPr>
        <p:spPr>
          <a:xfrm>
            <a:off x="695735" y="2089965"/>
            <a:ext cx="34512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Calibri"/>
                <a:ea typeface="Calibri"/>
                <a:cs typeface="Calibri"/>
                <a:sym typeface="Calibri"/>
              </a:rPr>
              <a:t>Capacidades sociais, organizacionais e metodológicas</a:t>
            </a:r>
            <a:endParaRPr b="1" i="0" sz="1400" u="none" cap="none" strike="noStrike">
              <a:solidFill>
                <a:srgbClr val="000000"/>
              </a:solidFill>
              <a:latin typeface="Calibri"/>
              <a:ea typeface="Calibri"/>
              <a:cs typeface="Calibri"/>
              <a:sym typeface="Calibri"/>
            </a:endParaRPr>
          </a:p>
        </p:txBody>
      </p:sp>
      <p:sp>
        <p:nvSpPr>
          <p:cNvPr id="220" name="Google Shape;220;g3937d203302_0_118"/>
          <p:cNvSpPr txBox="1"/>
          <p:nvPr/>
        </p:nvSpPr>
        <p:spPr>
          <a:xfrm>
            <a:off x="5379334" y="1410241"/>
            <a:ext cx="2726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Calibri"/>
                <a:ea typeface="Calibri"/>
                <a:cs typeface="Calibri"/>
                <a:sym typeface="Calibri"/>
              </a:rPr>
              <a:t>Capacidades técnicas</a:t>
            </a:r>
            <a:endParaRPr b="1" i="0" sz="1400" u="none" cap="none" strike="noStrike">
              <a:solidFill>
                <a:srgbClr val="000000"/>
              </a:solidFill>
              <a:latin typeface="Calibri"/>
              <a:ea typeface="Calibri"/>
              <a:cs typeface="Calibri"/>
              <a:sym typeface="Calibri"/>
            </a:endParaRPr>
          </a:p>
        </p:txBody>
      </p:sp>
      <p:sp>
        <p:nvSpPr>
          <p:cNvPr id="221" name="Google Shape;221;g3937d203302_0_118"/>
          <p:cNvSpPr txBox="1"/>
          <p:nvPr/>
        </p:nvSpPr>
        <p:spPr>
          <a:xfrm>
            <a:off x="842024" y="2918900"/>
            <a:ext cx="3384000" cy="13698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50000"/>
              </a:lnSpc>
              <a:spcBef>
                <a:spcPts val="0"/>
              </a:spcBef>
              <a:spcAft>
                <a:spcPts val="0"/>
              </a:spcAft>
              <a:buClr>
                <a:srgbClr val="222222"/>
              </a:buClr>
              <a:buSzPts val="1200"/>
              <a:buFont typeface="Arial"/>
              <a:buChar char="●"/>
            </a:pPr>
            <a:r>
              <a:rPr b="0" i="0" lang="pt-BR" sz="1400" u="none" cap="none" strike="noStrike">
                <a:solidFill>
                  <a:srgbClr val="000000"/>
                </a:solidFill>
                <a:latin typeface="Calibri"/>
                <a:ea typeface="Calibri"/>
                <a:cs typeface="Calibri"/>
                <a:sym typeface="Calibri"/>
              </a:rPr>
              <a:t>Demonstrar autogestão</a:t>
            </a:r>
            <a:endParaRPr b="0" i="0" sz="1400" u="none" cap="none" strike="noStrike">
              <a:solidFill>
                <a:srgbClr val="000000"/>
              </a:solidFill>
              <a:latin typeface="Calibri"/>
              <a:ea typeface="Calibri"/>
              <a:cs typeface="Calibri"/>
              <a:sym typeface="Calibri"/>
            </a:endParaRPr>
          </a:p>
          <a:p>
            <a:pPr indent="-304800" lvl="0" marL="457200" marR="0" rtl="0" algn="l">
              <a:lnSpc>
                <a:spcPct val="150000"/>
              </a:lnSpc>
              <a:spcBef>
                <a:spcPts val="0"/>
              </a:spcBef>
              <a:spcAft>
                <a:spcPts val="0"/>
              </a:spcAft>
              <a:buClr>
                <a:srgbClr val="000000"/>
              </a:buClr>
              <a:buSzPts val="1200"/>
              <a:buFont typeface="Arial"/>
              <a:buChar char="●"/>
            </a:pPr>
            <a:r>
              <a:rPr b="0" i="0" lang="pt-BR" sz="1400" u="none" cap="none" strike="noStrike">
                <a:solidFill>
                  <a:srgbClr val="000000"/>
                </a:solidFill>
                <a:latin typeface="Calibri"/>
                <a:ea typeface="Calibri"/>
                <a:cs typeface="Calibri"/>
                <a:sym typeface="Calibri"/>
              </a:rPr>
              <a:t>Demonstrar pensamento analítico</a:t>
            </a:r>
            <a:endParaRPr b="0" i="0" sz="1400" u="none" cap="none" strike="noStrike">
              <a:solidFill>
                <a:srgbClr val="000000"/>
              </a:solidFill>
              <a:latin typeface="Calibri"/>
              <a:ea typeface="Calibri"/>
              <a:cs typeface="Calibri"/>
              <a:sym typeface="Calibri"/>
            </a:endParaRPr>
          </a:p>
          <a:p>
            <a:pPr indent="-317500" lvl="0" marL="457200" marR="0" rtl="0" algn="l">
              <a:lnSpc>
                <a:spcPct val="150000"/>
              </a:lnSpc>
              <a:spcBef>
                <a:spcPts val="0"/>
              </a:spcBef>
              <a:spcAft>
                <a:spcPts val="0"/>
              </a:spcAft>
              <a:buClr>
                <a:srgbClr val="000000"/>
              </a:buClr>
              <a:buSzPts val="1400"/>
              <a:buFont typeface="Calibri"/>
              <a:buChar char="●"/>
            </a:pPr>
            <a:r>
              <a:rPr b="0" i="0" lang="pt-BR" sz="1400" u="none" cap="none" strike="noStrike">
                <a:solidFill>
                  <a:srgbClr val="000000"/>
                </a:solidFill>
                <a:latin typeface="Calibri"/>
                <a:ea typeface="Calibri"/>
                <a:cs typeface="Calibri"/>
                <a:sym typeface="Calibri"/>
              </a:rPr>
              <a:t>Demonstrar inteligência emocional</a:t>
            </a:r>
            <a:endParaRPr b="0" i="0" sz="1400" u="none" cap="none" strike="noStrike">
              <a:solidFill>
                <a:srgbClr val="000000"/>
              </a:solidFill>
              <a:latin typeface="Calibri"/>
              <a:ea typeface="Calibri"/>
              <a:cs typeface="Calibri"/>
              <a:sym typeface="Calibri"/>
            </a:endParaRPr>
          </a:p>
          <a:p>
            <a:pPr indent="-317500" lvl="0" marL="457200" marR="0" rtl="0" algn="l">
              <a:lnSpc>
                <a:spcPct val="150000"/>
              </a:lnSpc>
              <a:spcBef>
                <a:spcPts val="0"/>
              </a:spcBef>
              <a:spcAft>
                <a:spcPts val="0"/>
              </a:spcAft>
              <a:buClr>
                <a:srgbClr val="000000"/>
              </a:buClr>
              <a:buSzPts val="1400"/>
              <a:buFont typeface="Calibri"/>
              <a:buChar char="●"/>
            </a:pPr>
            <a:r>
              <a:rPr b="0" i="0" lang="pt-BR" sz="1400" u="none" cap="none" strike="noStrike">
                <a:solidFill>
                  <a:srgbClr val="000000"/>
                </a:solidFill>
                <a:latin typeface="Calibri"/>
                <a:ea typeface="Calibri"/>
                <a:cs typeface="Calibri"/>
                <a:sym typeface="Calibri"/>
              </a:rPr>
              <a:t>Demonstrar autonomia</a:t>
            </a:r>
            <a:endParaRPr b="0" i="0" sz="1400" u="none" cap="none" strike="noStrike">
              <a:solidFill>
                <a:srgbClr val="000000"/>
              </a:solidFill>
              <a:latin typeface="Calibri"/>
              <a:ea typeface="Calibri"/>
              <a:cs typeface="Calibri"/>
              <a:sym typeface="Calibri"/>
            </a:endParaRPr>
          </a:p>
        </p:txBody>
      </p:sp>
      <p:sp>
        <p:nvSpPr>
          <p:cNvPr id="222" name="Google Shape;222;g3937d203302_0_118"/>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223" name="Google Shape;223;g3937d203302_0_118"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
        <p:nvSpPr>
          <p:cNvPr id="224" name="Google Shape;224;g3937d203302_0_118"/>
          <p:cNvSpPr txBox="1"/>
          <p:nvPr/>
        </p:nvSpPr>
        <p:spPr>
          <a:xfrm>
            <a:off x="5078900" y="1974950"/>
            <a:ext cx="3589800" cy="26628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50000"/>
              </a:lnSpc>
              <a:spcBef>
                <a:spcPts val="0"/>
              </a:spcBef>
              <a:spcAft>
                <a:spcPts val="0"/>
              </a:spcAft>
              <a:buClr>
                <a:srgbClr val="000000"/>
              </a:buClr>
              <a:buSzPts val="1400"/>
              <a:buFont typeface="Calibri"/>
              <a:buChar char="●"/>
            </a:pPr>
            <a:r>
              <a:rPr b="0" i="0" lang="pt-BR" sz="1400" u="none" cap="none" strike="noStrike">
                <a:solidFill>
                  <a:srgbClr val="000000"/>
                </a:solidFill>
                <a:latin typeface="Calibri"/>
                <a:ea typeface="Calibri"/>
                <a:cs typeface="Calibri"/>
                <a:sym typeface="Calibri"/>
              </a:rPr>
              <a:t>Preparar dados de acordo com fontes de dados variadas</a:t>
            </a:r>
            <a:endParaRPr b="0" i="0" sz="1400" u="none" cap="none" strike="noStrike">
              <a:solidFill>
                <a:srgbClr val="000000"/>
              </a:solidFill>
              <a:latin typeface="Calibri"/>
              <a:ea typeface="Calibri"/>
              <a:cs typeface="Calibri"/>
              <a:sym typeface="Calibri"/>
            </a:endParaRPr>
          </a:p>
          <a:p>
            <a:pPr indent="-317500" lvl="0" marL="457200" marR="0" rtl="0" algn="l">
              <a:lnSpc>
                <a:spcPct val="150000"/>
              </a:lnSpc>
              <a:spcBef>
                <a:spcPts val="0"/>
              </a:spcBef>
              <a:spcAft>
                <a:spcPts val="0"/>
              </a:spcAft>
              <a:buClr>
                <a:srgbClr val="000000"/>
              </a:buClr>
              <a:buSzPts val="1400"/>
              <a:buFont typeface="Calibri"/>
              <a:buChar char="●"/>
            </a:pPr>
            <a:r>
              <a:rPr b="0" i="0" lang="pt-BR" sz="1400" u="none" cap="none" strike="noStrike">
                <a:solidFill>
                  <a:srgbClr val="000000"/>
                </a:solidFill>
                <a:latin typeface="Calibri"/>
                <a:ea typeface="Calibri"/>
                <a:cs typeface="Calibri"/>
                <a:sym typeface="Calibri"/>
              </a:rPr>
              <a:t>Criar modelo de dados por meio da extração, transformação e limpeza de dados</a:t>
            </a:r>
            <a:endParaRPr b="0" i="0" sz="1400" u="none" cap="none" strike="noStrike">
              <a:solidFill>
                <a:srgbClr val="000000"/>
              </a:solidFill>
              <a:latin typeface="Calibri"/>
              <a:ea typeface="Calibri"/>
              <a:cs typeface="Calibri"/>
              <a:sym typeface="Calibri"/>
            </a:endParaRPr>
          </a:p>
          <a:p>
            <a:pPr indent="-317500" lvl="0" marL="457200" marR="0" rtl="0" algn="l">
              <a:lnSpc>
                <a:spcPct val="150000"/>
              </a:lnSpc>
              <a:spcBef>
                <a:spcPts val="0"/>
              </a:spcBef>
              <a:spcAft>
                <a:spcPts val="0"/>
              </a:spcAft>
              <a:buClr>
                <a:srgbClr val="000000"/>
              </a:buClr>
              <a:buSzPts val="1400"/>
              <a:buFont typeface="Calibri"/>
              <a:buChar char="●"/>
            </a:pPr>
            <a:r>
              <a:rPr b="0" i="0" lang="pt-BR" sz="1400" u="none" cap="none" strike="noStrike">
                <a:solidFill>
                  <a:srgbClr val="000000"/>
                </a:solidFill>
                <a:latin typeface="Calibri"/>
                <a:ea typeface="Calibri"/>
                <a:cs typeface="Calibri"/>
                <a:sym typeface="Calibri"/>
              </a:rPr>
              <a:t>Fornecer representações visuais dos dados</a:t>
            </a:r>
            <a:endParaRPr b="0" i="0" sz="1400" u="none" cap="none" strike="noStrike">
              <a:solidFill>
                <a:srgbClr val="000000"/>
              </a:solidFill>
              <a:latin typeface="Calibri"/>
              <a:ea typeface="Calibri"/>
              <a:cs typeface="Calibri"/>
              <a:sym typeface="Calibri"/>
            </a:endParaRPr>
          </a:p>
          <a:p>
            <a:pPr indent="-317500" lvl="0" marL="457200" marR="0" rtl="0" algn="l">
              <a:lnSpc>
                <a:spcPct val="150000"/>
              </a:lnSpc>
              <a:spcBef>
                <a:spcPts val="0"/>
              </a:spcBef>
              <a:spcAft>
                <a:spcPts val="0"/>
              </a:spcAft>
              <a:buClr>
                <a:srgbClr val="000000"/>
              </a:buClr>
              <a:buSzPts val="1400"/>
              <a:buFont typeface="Calibri"/>
              <a:buChar char="●"/>
            </a:pPr>
            <a:r>
              <a:rPr b="0" i="0" lang="pt-BR" sz="1400" u="none" cap="none" strike="noStrike">
                <a:solidFill>
                  <a:srgbClr val="000000"/>
                </a:solidFill>
                <a:latin typeface="Calibri"/>
                <a:ea typeface="Calibri"/>
                <a:cs typeface="Calibri"/>
                <a:sym typeface="Calibri"/>
              </a:rPr>
              <a:t>Implantar ativos</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937d203302_0_130"/>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Conteúdo Formativo</a:t>
            </a:r>
            <a:endParaRPr b="0">
              <a:latin typeface="Impact"/>
              <a:ea typeface="Impact"/>
              <a:cs typeface="Impact"/>
              <a:sym typeface="Impact"/>
            </a:endParaRPr>
          </a:p>
        </p:txBody>
      </p:sp>
      <p:pic>
        <p:nvPicPr>
          <p:cNvPr descr="Diagrama&#10;&#10;Descrição gerada automaticamente com confiança média" id="230" name="Google Shape;230;g3937d203302_0_130"/>
          <p:cNvPicPr preferRelativeResize="0"/>
          <p:nvPr/>
        </p:nvPicPr>
        <p:blipFill rotWithShape="1">
          <a:blip r:embed="rId3">
            <a:alphaModFix/>
          </a:blip>
          <a:srcRect b="0" l="0" r="0" t="0"/>
          <a:stretch/>
        </p:blipFill>
        <p:spPr>
          <a:xfrm>
            <a:off x="160725" y="1417551"/>
            <a:ext cx="8822551" cy="3154224"/>
          </a:xfrm>
          <a:prstGeom prst="rect">
            <a:avLst/>
          </a:prstGeom>
          <a:noFill/>
          <a:ln>
            <a:noFill/>
          </a:ln>
        </p:spPr>
      </p:pic>
      <p:sp>
        <p:nvSpPr>
          <p:cNvPr id="231" name="Google Shape;231;g3937d203302_0_130"/>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232" name="Google Shape;232;g3937d203302_0_130"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937d203302_0_137"/>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Tipos de aplicações</a:t>
            </a:r>
            <a:endParaRPr b="0">
              <a:latin typeface="Impact"/>
              <a:ea typeface="Impact"/>
              <a:cs typeface="Impact"/>
              <a:sym typeface="Impact"/>
            </a:endParaRPr>
          </a:p>
        </p:txBody>
      </p:sp>
      <p:pic>
        <p:nvPicPr>
          <p:cNvPr id="238" name="Google Shape;238;g3937d203302_0_137"/>
          <p:cNvPicPr preferRelativeResize="0"/>
          <p:nvPr/>
        </p:nvPicPr>
        <p:blipFill rotWithShape="1">
          <a:blip r:embed="rId3">
            <a:alphaModFix/>
          </a:blip>
          <a:srcRect b="0" l="0" r="0" t="0"/>
          <a:stretch/>
        </p:blipFill>
        <p:spPr>
          <a:xfrm>
            <a:off x="5448327" y="2252547"/>
            <a:ext cx="3189247" cy="1576040"/>
          </a:xfrm>
          <a:prstGeom prst="rect">
            <a:avLst/>
          </a:prstGeom>
          <a:noFill/>
          <a:ln>
            <a:noFill/>
          </a:ln>
        </p:spPr>
      </p:pic>
      <p:sp>
        <p:nvSpPr>
          <p:cNvPr id="239" name="Google Shape;239;g3937d203302_0_137"/>
          <p:cNvSpPr txBox="1"/>
          <p:nvPr/>
        </p:nvSpPr>
        <p:spPr>
          <a:xfrm>
            <a:off x="126380" y="1600897"/>
            <a:ext cx="5003100" cy="3305700"/>
          </a:xfrm>
          <a:prstGeom prst="rect">
            <a:avLst/>
          </a:prstGeom>
          <a:noFill/>
          <a:ln>
            <a:noFill/>
          </a:ln>
        </p:spPr>
        <p:txBody>
          <a:bodyPr anchorCtr="0" anchor="t" bIns="91425" lIns="91425" spcFirstLastPara="1" rIns="91425" wrap="square" tIns="91425">
            <a:normAutofit/>
          </a:bodyPr>
          <a:lstStyle/>
          <a:p>
            <a:pPr indent="0" lvl="0" marL="146050" marR="0" rtl="0" algn="l">
              <a:lnSpc>
                <a:spcPct val="115000"/>
              </a:lnSpc>
              <a:spcBef>
                <a:spcPts val="0"/>
              </a:spcBef>
              <a:spcAft>
                <a:spcPts val="0"/>
              </a:spcAft>
              <a:buClr>
                <a:schemeClr val="accent1"/>
              </a:buClr>
              <a:buSzPts val="1300"/>
              <a:buFont typeface="Lato"/>
              <a:buNone/>
            </a:pPr>
            <a:r>
              <a:rPr b="1" i="0" lang="pt-BR" sz="1000" u="none" cap="none" strike="noStrike">
                <a:solidFill>
                  <a:schemeClr val="dk2"/>
                </a:solidFill>
                <a:latin typeface="Roboto"/>
                <a:ea typeface="Roboto"/>
                <a:cs typeface="Roboto"/>
                <a:sym typeface="Roboto"/>
              </a:rPr>
              <a:t>Power BI Desktop</a:t>
            </a:r>
            <a:r>
              <a:rPr b="0" i="0" lang="pt-BR" sz="1000" u="none" cap="none" strike="noStrike">
                <a:solidFill>
                  <a:schemeClr val="dk2"/>
                </a:solidFill>
                <a:latin typeface="Roboto"/>
                <a:ea typeface="Roboto"/>
                <a:cs typeface="Roboto"/>
                <a:sym typeface="Roboto"/>
              </a:rPr>
              <a:t>: é uma aplicação de desktop gratuita que permite criar relatórios interativos e painéis de controle complexos. Ele oferece recursos avançados de modelagem de dados, criação de consultas e transformações de dados, além de uma ampla gama de visualizações e opções de formatação. </a:t>
            </a:r>
            <a:endParaRPr b="0" i="0" sz="1400" u="none" cap="none" strike="noStrike">
              <a:solidFill>
                <a:srgbClr val="000000"/>
              </a:solidFill>
              <a:latin typeface="Arial"/>
              <a:ea typeface="Arial"/>
              <a:cs typeface="Arial"/>
              <a:sym typeface="Arial"/>
            </a:endParaRPr>
          </a:p>
          <a:p>
            <a:pPr indent="0" lvl="0" marL="146050" marR="0" rtl="0" algn="l">
              <a:lnSpc>
                <a:spcPct val="115000"/>
              </a:lnSpc>
              <a:spcBef>
                <a:spcPts val="0"/>
              </a:spcBef>
              <a:spcAft>
                <a:spcPts val="0"/>
              </a:spcAft>
              <a:buClr>
                <a:schemeClr val="accent1"/>
              </a:buClr>
              <a:buSzPts val="1300"/>
              <a:buFont typeface="Lato"/>
              <a:buNone/>
            </a:pPr>
            <a:r>
              <a:t/>
            </a:r>
            <a:endParaRPr b="1" i="0" sz="1000" u="none" cap="none" strike="noStrike">
              <a:solidFill>
                <a:schemeClr val="dk2"/>
              </a:solidFill>
              <a:latin typeface="Roboto"/>
              <a:ea typeface="Roboto"/>
              <a:cs typeface="Roboto"/>
              <a:sym typeface="Roboto"/>
            </a:endParaRPr>
          </a:p>
          <a:p>
            <a:pPr indent="0" lvl="0" marL="146050" marR="0" rtl="0" algn="l">
              <a:lnSpc>
                <a:spcPct val="115000"/>
              </a:lnSpc>
              <a:spcBef>
                <a:spcPts val="0"/>
              </a:spcBef>
              <a:spcAft>
                <a:spcPts val="0"/>
              </a:spcAft>
              <a:buClr>
                <a:schemeClr val="accent1"/>
              </a:buClr>
              <a:buSzPts val="1300"/>
              <a:buFont typeface="Lato"/>
              <a:buNone/>
            </a:pPr>
            <a:r>
              <a:rPr b="1" i="0" lang="pt-BR" sz="1000" u="none" cap="none" strike="noStrike">
                <a:solidFill>
                  <a:schemeClr val="dk2"/>
                </a:solidFill>
                <a:latin typeface="Roboto"/>
                <a:ea typeface="Roboto"/>
                <a:cs typeface="Roboto"/>
                <a:sym typeface="Roboto"/>
              </a:rPr>
              <a:t>Power BI Service</a:t>
            </a:r>
            <a:r>
              <a:rPr b="0" i="0" lang="pt-BR" sz="1000" u="none" cap="none" strike="noStrike">
                <a:solidFill>
                  <a:schemeClr val="dk2"/>
                </a:solidFill>
                <a:latin typeface="Roboto"/>
                <a:ea typeface="Roboto"/>
                <a:cs typeface="Roboto"/>
                <a:sym typeface="Roboto"/>
              </a:rPr>
              <a:t>: é a plataforma online do Power BI, na qual você pode publicar, compartilhar e colaborar em relatórios e dashboards criados no Power BI Desktop. Ele permite que você acesse seus relatórios a partir de qualquer lugar, compartilhe-os com colegas de trabalho, configure atualizações automáticas de dados e gerencie permissões de acesso. </a:t>
            </a:r>
            <a:endParaRPr b="0" i="0" sz="1400" u="none" cap="none" strike="noStrike">
              <a:solidFill>
                <a:srgbClr val="000000"/>
              </a:solidFill>
              <a:latin typeface="Arial"/>
              <a:ea typeface="Arial"/>
              <a:cs typeface="Arial"/>
              <a:sym typeface="Arial"/>
            </a:endParaRPr>
          </a:p>
          <a:p>
            <a:pPr indent="0" lvl="0" marL="146050" marR="0" rtl="0" algn="l">
              <a:lnSpc>
                <a:spcPct val="115000"/>
              </a:lnSpc>
              <a:spcBef>
                <a:spcPts val="0"/>
              </a:spcBef>
              <a:spcAft>
                <a:spcPts val="0"/>
              </a:spcAft>
              <a:buClr>
                <a:schemeClr val="accent1"/>
              </a:buClr>
              <a:buSzPts val="1300"/>
              <a:buFont typeface="Lato"/>
              <a:buNone/>
            </a:pPr>
            <a:r>
              <a:t/>
            </a:r>
            <a:endParaRPr b="1" i="0" sz="1000" u="none" cap="none" strike="noStrike">
              <a:solidFill>
                <a:schemeClr val="dk2"/>
              </a:solidFill>
              <a:latin typeface="Roboto"/>
              <a:ea typeface="Roboto"/>
              <a:cs typeface="Roboto"/>
              <a:sym typeface="Roboto"/>
            </a:endParaRPr>
          </a:p>
          <a:p>
            <a:pPr indent="0" lvl="0" marL="146050" marR="0" rtl="0" algn="l">
              <a:lnSpc>
                <a:spcPct val="115000"/>
              </a:lnSpc>
              <a:spcBef>
                <a:spcPts val="0"/>
              </a:spcBef>
              <a:spcAft>
                <a:spcPts val="0"/>
              </a:spcAft>
              <a:buClr>
                <a:schemeClr val="accent1"/>
              </a:buClr>
              <a:buSzPts val="1300"/>
              <a:buFont typeface="Lato"/>
              <a:buNone/>
            </a:pPr>
            <a:r>
              <a:rPr b="1" i="0" lang="pt-BR" sz="1000" u="none" cap="none" strike="noStrike">
                <a:solidFill>
                  <a:schemeClr val="dk2"/>
                </a:solidFill>
                <a:latin typeface="Roboto"/>
                <a:ea typeface="Roboto"/>
                <a:cs typeface="Roboto"/>
                <a:sym typeface="Roboto"/>
              </a:rPr>
              <a:t>Power BI Mobile: </a:t>
            </a:r>
            <a:r>
              <a:rPr b="0" i="0" lang="pt-BR" sz="1000" u="none" cap="none" strike="noStrike">
                <a:solidFill>
                  <a:schemeClr val="dk2"/>
                </a:solidFill>
                <a:latin typeface="Roboto"/>
                <a:ea typeface="Roboto"/>
                <a:cs typeface="Roboto"/>
                <a:sym typeface="Roboto"/>
              </a:rPr>
              <a:t>é um aplicativo para dispositivos móveis que permite acessar seus relatórios e dashboards do Power BI em smartphones e tablets. Com o Power BI Mobile, você pode visualizar e interagir com seus relatórios de forma responsiva, compartilhar informações em tempo real com colegas de trabalho e receber notificações de alertas. </a:t>
            </a:r>
            <a:endParaRPr b="0" i="0" sz="800" u="none" cap="none" strike="noStrike">
              <a:solidFill>
                <a:schemeClr val="dk2"/>
              </a:solidFill>
              <a:latin typeface="Calibri"/>
              <a:ea typeface="Calibri"/>
              <a:cs typeface="Calibri"/>
              <a:sym typeface="Calibri"/>
            </a:endParaRPr>
          </a:p>
        </p:txBody>
      </p:sp>
      <p:sp>
        <p:nvSpPr>
          <p:cNvPr id="240" name="Google Shape;240;g3937d203302_0_137"/>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241" name="Google Shape;241;g3937d203302_0_137"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descr="Uma imagem contendo Texto&#10;&#10;Descrição gerada automaticamente" id="246" name="Google Shape;246;g3937d203302_0_145"/>
          <p:cNvPicPr preferRelativeResize="0"/>
          <p:nvPr/>
        </p:nvPicPr>
        <p:blipFill rotWithShape="1">
          <a:blip r:embed="rId3">
            <a:alphaModFix/>
          </a:blip>
          <a:srcRect b="0" l="0" r="0" t="0"/>
          <a:stretch/>
        </p:blipFill>
        <p:spPr>
          <a:xfrm>
            <a:off x="3564761" y="1864735"/>
            <a:ext cx="2240384" cy="1680286"/>
          </a:xfrm>
          <a:prstGeom prst="rect">
            <a:avLst/>
          </a:prstGeom>
          <a:noFill/>
          <a:ln>
            <a:noFill/>
          </a:ln>
        </p:spPr>
      </p:pic>
      <p:sp>
        <p:nvSpPr>
          <p:cNvPr id="247" name="Google Shape;247;g3937d203302_0_145"/>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Tipos de aplicações</a:t>
            </a:r>
            <a:endParaRPr b="0">
              <a:latin typeface="Impact"/>
              <a:ea typeface="Impact"/>
              <a:cs typeface="Impact"/>
              <a:sym typeface="Impact"/>
            </a:endParaRPr>
          </a:p>
        </p:txBody>
      </p:sp>
      <p:pic>
        <p:nvPicPr>
          <p:cNvPr descr="Monitor e teclado de computador&#10;&#10;Descrição gerada automaticamente" id="248" name="Google Shape;248;g3937d203302_0_145"/>
          <p:cNvPicPr preferRelativeResize="0"/>
          <p:nvPr/>
        </p:nvPicPr>
        <p:blipFill rotWithShape="1">
          <a:blip r:embed="rId4">
            <a:alphaModFix/>
          </a:blip>
          <a:srcRect b="0" l="0" r="0" t="0"/>
          <a:stretch/>
        </p:blipFill>
        <p:spPr>
          <a:xfrm>
            <a:off x="666847" y="1864735"/>
            <a:ext cx="1803816" cy="1803816"/>
          </a:xfrm>
          <a:prstGeom prst="rect">
            <a:avLst/>
          </a:prstGeom>
          <a:noFill/>
          <a:ln>
            <a:noFill/>
          </a:ln>
        </p:spPr>
      </p:pic>
      <p:pic>
        <p:nvPicPr>
          <p:cNvPr descr="Ícone&#10;&#10;Descrição gerada automaticamente" id="249" name="Google Shape;249;g3937d203302_0_145"/>
          <p:cNvPicPr preferRelativeResize="0"/>
          <p:nvPr/>
        </p:nvPicPr>
        <p:blipFill rotWithShape="1">
          <a:blip r:embed="rId5">
            <a:alphaModFix/>
          </a:blip>
          <a:srcRect b="0" l="0" r="0" t="0"/>
          <a:stretch/>
        </p:blipFill>
        <p:spPr>
          <a:xfrm>
            <a:off x="3895220" y="2038594"/>
            <a:ext cx="368750" cy="368750"/>
          </a:xfrm>
          <a:prstGeom prst="rect">
            <a:avLst/>
          </a:prstGeom>
          <a:noFill/>
          <a:ln>
            <a:noFill/>
          </a:ln>
        </p:spPr>
      </p:pic>
      <p:pic>
        <p:nvPicPr>
          <p:cNvPr descr="Logotipo&#10;&#10;Descrição gerada automaticamente" id="250" name="Google Shape;250;g3937d203302_0_145"/>
          <p:cNvPicPr preferRelativeResize="0"/>
          <p:nvPr/>
        </p:nvPicPr>
        <p:blipFill rotWithShape="1">
          <a:blip r:embed="rId6">
            <a:alphaModFix/>
          </a:blip>
          <a:srcRect b="0" l="0" r="0" t="0"/>
          <a:stretch/>
        </p:blipFill>
        <p:spPr>
          <a:xfrm>
            <a:off x="4442610" y="2038594"/>
            <a:ext cx="368750" cy="368750"/>
          </a:xfrm>
          <a:prstGeom prst="rect">
            <a:avLst/>
          </a:prstGeom>
          <a:noFill/>
          <a:ln>
            <a:noFill/>
          </a:ln>
        </p:spPr>
      </p:pic>
      <p:pic>
        <p:nvPicPr>
          <p:cNvPr descr="Logotipo&#10;&#10;Descrição gerada automaticamente" id="251" name="Google Shape;251;g3937d203302_0_145"/>
          <p:cNvPicPr preferRelativeResize="0"/>
          <p:nvPr/>
        </p:nvPicPr>
        <p:blipFill rotWithShape="1">
          <a:blip r:embed="rId7">
            <a:alphaModFix/>
          </a:blip>
          <a:srcRect b="0" l="0" r="0" t="0"/>
          <a:stretch/>
        </p:blipFill>
        <p:spPr>
          <a:xfrm>
            <a:off x="4994382" y="2047887"/>
            <a:ext cx="368750" cy="368750"/>
          </a:xfrm>
          <a:prstGeom prst="rect">
            <a:avLst/>
          </a:prstGeom>
          <a:noFill/>
          <a:ln>
            <a:noFill/>
          </a:ln>
        </p:spPr>
      </p:pic>
      <p:pic>
        <p:nvPicPr>
          <p:cNvPr descr="Tela de um aparelho eletrônico&#10;&#10;Descrição gerada automaticamente" id="252" name="Google Shape;252;g3937d203302_0_145"/>
          <p:cNvPicPr preferRelativeResize="0"/>
          <p:nvPr/>
        </p:nvPicPr>
        <p:blipFill rotWithShape="1">
          <a:blip r:embed="rId8">
            <a:alphaModFix/>
          </a:blip>
          <a:srcRect b="0" l="0" r="0" t="0"/>
          <a:stretch/>
        </p:blipFill>
        <p:spPr>
          <a:xfrm>
            <a:off x="6979976" y="1870622"/>
            <a:ext cx="1625397" cy="1625397"/>
          </a:xfrm>
          <a:prstGeom prst="rect">
            <a:avLst/>
          </a:prstGeom>
          <a:noFill/>
          <a:ln>
            <a:noFill/>
          </a:ln>
        </p:spPr>
      </p:pic>
      <p:pic>
        <p:nvPicPr>
          <p:cNvPr descr="Ícone&#10;&#10;Descrição gerada automaticamente" id="253" name="Google Shape;253;g3937d203302_0_145"/>
          <p:cNvPicPr preferRelativeResize="0"/>
          <p:nvPr/>
        </p:nvPicPr>
        <p:blipFill rotWithShape="1">
          <a:blip r:embed="rId9">
            <a:alphaModFix/>
          </a:blip>
          <a:srcRect b="0" l="0" r="0" t="0"/>
          <a:stretch/>
        </p:blipFill>
        <p:spPr>
          <a:xfrm>
            <a:off x="1274572" y="2172501"/>
            <a:ext cx="1065862" cy="710120"/>
          </a:xfrm>
          <a:prstGeom prst="rect">
            <a:avLst/>
          </a:prstGeom>
          <a:noFill/>
          <a:ln>
            <a:noFill/>
          </a:ln>
        </p:spPr>
      </p:pic>
      <p:pic>
        <p:nvPicPr>
          <p:cNvPr descr="Ícone&#10;&#10;Descrição gerada automaticamente" id="254" name="Google Shape;254;g3937d203302_0_145"/>
          <p:cNvPicPr preferRelativeResize="0"/>
          <p:nvPr/>
        </p:nvPicPr>
        <p:blipFill rotWithShape="1">
          <a:blip r:embed="rId9">
            <a:alphaModFix/>
          </a:blip>
          <a:srcRect b="0" l="0" r="0" t="0"/>
          <a:stretch/>
        </p:blipFill>
        <p:spPr>
          <a:xfrm>
            <a:off x="7438364" y="2410511"/>
            <a:ext cx="708619" cy="472111"/>
          </a:xfrm>
          <a:prstGeom prst="rect">
            <a:avLst/>
          </a:prstGeom>
          <a:noFill/>
          <a:ln>
            <a:noFill/>
          </a:ln>
        </p:spPr>
      </p:pic>
      <p:pic>
        <p:nvPicPr>
          <p:cNvPr descr="Ícone&#10;&#10;Descrição gerada automaticamente" id="255" name="Google Shape;255;g3937d203302_0_145"/>
          <p:cNvPicPr preferRelativeResize="0"/>
          <p:nvPr/>
        </p:nvPicPr>
        <p:blipFill rotWithShape="1">
          <a:blip r:embed="rId9">
            <a:alphaModFix/>
          </a:blip>
          <a:srcRect b="0" l="0" r="0" t="0"/>
          <a:stretch/>
        </p:blipFill>
        <p:spPr>
          <a:xfrm>
            <a:off x="4087925" y="2527561"/>
            <a:ext cx="1065862" cy="710120"/>
          </a:xfrm>
          <a:prstGeom prst="rect">
            <a:avLst/>
          </a:prstGeom>
          <a:noFill/>
          <a:ln>
            <a:noFill/>
          </a:ln>
        </p:spPr>
      </p:pic>
      <p:sp>
        <p:nvSpPr>
          <p:cNvPr id="256" name="Google Shape;256;g3937d203302_0_145"/>
          <p:cNvSpPr/>
          <p:nvPr/>
        </p:nvSpPr>
        <p:spPr>
          <a:xfrm>
            <a:off x="2478545" y="2355555"/>
            <a:ext cx="1048200" cy="411000"/>
          </a:xfrm>
          <a:prstGeom prst="leftRightArrow">
            <a:avLst>
              <a:gd fmla="val 50000" name="adj1"/>
              <a:gd fmla="val 50000" name="adj2"/>
            </a:avLst>
          </a:prstGeom>
          <a:solidFill>
            <a:srgbClr val="FFC000"/>
          </a:solidFill>
          <a:ln cap="flat" cmpd="sng" w="25400">
            <a:solidFill>
              <a:srgbClr val="2525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7" name="Google Shape;257;g3937d203302_0_145"/>
          <p:cNvSpPr/>
          <p:nvPr/>
        </p:nvSpPr>
        <p:spPr>
          <a:xfrm>
            <a:off x="5868453" y="2407344"/>
            <a:ext cx="1048200" cy="411000"/>
          </a:xfrm>
          <a:prstGeom prst="leftRightArrow">
            <a:avLst>
              <a:gd fmla="val 50000" name="adj1"/>
              <a:gd fmla="val 50000" name="adj2"/>
            </a:avLst>
          </a:prstGeom>
          <a:solidFill>
            <a:srgbClr val="FFC000"/>
          </a:solidFill>
          <a:ln cap="flat" cmpd="sng" w="25400">
            <a:solidFill>
              <a:srgbClr val="2525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8" name="Google Shape;258;g3937d203302_0_145"/>
          <p:cNvSpPr txBox="1"/>
          <p:nvPr>
            <p:ph idx="1" type="body"/>
          </p:nvPr>
        </p:nvSpPr>
        <p:spPr>
          <a:xfrm>
            <a:off x="501804" y="4211901"/>
            <a:ext cx="6652200" cy="633600"/>
          </a:xfrm>
          <a:prstGeom prst="rect">
            <a:avLst/>
          </a:prstGeom>
          <a:noFill/>
          <a:ln>
            <a:noFill/>
          </a:ln>
        </p:spPr>
        <p:txBody>
          <a:bodyPr anchorCtr="0" anchor="ctr" bIns="91425" lIns="91425" spcFirstLastPara="1" rIns="91425" wrap="square" tIns="91425">
            <a:normAutofit/>
          </a:bodyPr>
          <a:lstStyle/>
          <a:p>
            <a:pPr indent="0" lvl="0" marL="0" rtl="0" algn="l">
              <a:lnSpc>
                <a:spcPct val="200000"/>
              </a:lnSpc>
              <a:spcBef>
                <a:spcPts val="0"/>
              </a:spcBef>
              <a:spcAft>
                <a:spcPts val="0"/>
              </a:spcAft>
              <a:buClr>
                <a:srgbClr val="374151"/>
              </a:buClr>
              <a:buSzPts val="1514"/>
              <a:buNone/>
            </a:pPr>
            <a:r>
              <a:rPr b="1" lang="pt-BR" sz="1600">
                <a:solidFill>
                  <a:srgbClr val="FF0000"/>
                </a:solidFill>
                <a:latin typeface="Calibri"/>
                <a:ea typeface="Calibri"/>
                <a:cs typeface="Calibri"/>
                <a:sym typeface="Calibri"/>
              </a:rPr>
              <a:t>* As versões são complementares e não existe uma melhor ou pior</a:t>
            </a:r>
            <a:endParaRPr b="1" sz="1600">
              <a:solidFill>
                <a:srgbClr val="FF0000"/>
              </a:solidFill>
              <a:latin typeface="Calibri"/>
              <a:ea typeface="Calibri"/>
              <a:cs typeface="Calibri"/>
              <a:sym typeface="Calibri"/>
            </a:endParaRPr>
          </a:p>
        </p:txBody>
      </p:sp>
      <p:sp>
        <p:nvSpPr>
          <p:cNvPr id="259" name="Google Shape;259;g3937d203302_0_145"/>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260" name="Google Shape;260;g3937d203302_0_145" title="SENAI_São_Paulo_logo.png"/>
          <p:cNvPicPr preferRelativeResize="0"/>
          <p:nvPr/>
        </p:nvPicPr>
        <p:blipFill rotWithShape="1">
          <a:blip r:embed="rId10">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937d203302_0_163"/>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Links para aplicações</a:t>
            </a:r>
            <a:endParaRPr b="0">
              <a:latin typeface="Impact"/>
              <a:ea typeface="Impact"/>
              <a:cs typeface="Impact"/>
              <a:sym typeface="Impact"/>
            </a:endParaRPr>
          </a:p>
        </p:txBody>
      </p:sp>
      <p:sp>
        <p:nvSpPr>
          <p:cNvPr id="266" name="Google Shape;266;g3937d203302_0_163"/>
          <p:cNvSpPr txBox="1"/>
          <p:nvPr/>
        </p:nvSpPr>
        <p:spPr>
          <a:xfrm>
            <a:off x="362492" y="1600897"/>
            <a:ext cx="5361000" cy="3305700"/>
          </a:xfrm>
          <a:prstGeom prst="rect">
            <a:avLst/>
          </a:prstGeom>
          <a:noFill/>
          <a:ln>
            <a:noFill/>
          </a:ln>
        </p:spPr>
        <p:txBody>
          <a:bodyPr anchorCtr="0" anchor="t" bIns="91425" lIns="91425" spcFirstLastPara="1" rIns="91425" wrap="square" tIns="91425">
            <a:normAutofit/>
          </a:bodyPr>
          <a:lstStyle/>
          <a:p>
            <a:pPr indent="0" lvl="0" marL="146050" marR="0" rtl="0" algn="l">
              <a:lnSpc>
                <a:spcPct val="115000"/>
              </a:lnSpc>
              <a:spcBef>
                <a:spcPts val="0"/>
              </a:spcBef>
              <a:spcAft>
                <a:spcPts val="0"/>
              </a:spcAft>
              <a:buClr>
                <a:schemeClr val="accent1"/>
              </a:buClr>
              <a:buSzPts val="1300"/>
              <a:buFont typeface="Lato"/>
              <a:buNone/>
            </a:pPr>
            <a:r>
              <a:rPr b="0" i="0" lang="pt-BR" sz="1600" u="none" cap="none" strike="noStrike">
                <a:solidFill>
                  <a:schemeClr val="dk2"/>
                </a:solidFill>
                <a:latin typeface="Roboto"/>
                <a:ea typeface="Roboto"/>
                <a:cs typeface="Roboto"/>
                <a:sym typeface="Roboto"/>
              </a:rPr>
              <a:t>Para acessar as ferramentas acesse alguns links:</a:t>
            </a:r>
            <a:endParaRPr b="0" i="0" sz="1600" u="none" cap="none" strike="noStrike">
              <a:solidFill>
                <a:schemeClr val="dk2"/>
              </a:solidFill>
              <a:latin typeface="Roboto"/>
              <a:ea typeface="Roboto"/>
              <a:cs typeface="Roboto"/>
              <a:sym typeface="Roboto"/>
            </a:endParaRPr>
          </a:p>
          <a:p>
            <a:pPr indent="0" lvl="0" marL="146050" marR="0" rtl="0" algn="l">
              <a:lnSpc>
                <a:spcPct val="115000"/>
              </a:lnSpc>
              <a:spcBef>
                <a:spcPts val="0"/>
              </a:spcBef>
              <a:spcAft>
                <a:spcPts val="0"/>
              </a:spcAft>
              <a:buClr>
                <a:schemeClr val="accent1"/>
              </a:buClr>
              <a:buSzPts val="1300"/>
              <a:buFont typeface="Lato"/>
              <a:buNone/>
            </a:pPr>
            <a:r>
              <a:t/>
            </a:r>
            <a:endParaRPr b="1" i="0" sz="1600" u="none" cap="none" strike="noStrike">
              <a:solidFill>
                <a:schemeClr val="dk2"/>
              </a:solidFill>
              <a:latin typeface="Roboto"/>
              <a:ea typeface="Roboto"/>
              <a:cs typeface="Roboto"/>
              <a:sym typeface="Roboto"/>
            </a:endParaRPr>
          </a:p>
          <a:p>
            <a:pPr indent="0" lvl="0" marL="146050" marR="0" rtl="0" algn="l">
              <a:lnSpc>
                <a:spcPct val="115000"/>
              </a:lnSpc>
              <a:spcBef>
                <a:spcPts val="0"/>
              </a:spcBef>
              <a:spcAft>
                <a:spcPts val="0"/>
              </a:spcAft>
              <a:buClr>
                <a:schemeClr val="accent1"/>
              </a:buClr>
              <a:buSzPts val="1300"/>
              <a:buFont typeface="Lato"/>
              <a:buNone/>
            </a:pPr>
            <a:r>
              <a:rPr b="1" i="0" lang="pt-BR" sz="1600" u="sng" cap="none" strike="noStrike">
                <a:solidFill>
                  <a:schemeClr val="dk2"/>
                </a:solidFill>
                <a:latin typeface="Roboto"/>
                <a:ea typeface="Roboto"/>
                <a:cs typeface="Roboto"/>
                <a:sym typeface="Roboto"/>
                <a:hlinkClick r:id="rId3">
                  <a:extLst>
                    <a:ext uri="{A12FA001-AC4F-418D-AE19-62706E023703}">
                      <ahyp:hlinkClr val="tx"/>
                    </a:ext>
                  </a:extLst>
                </a:hlinkClick>
              </a:rPr>
              <a:t>Power BI Desktop</a:t>
            </a:r>
            <a:br>
              <a:rPr b="0" i="0" lang="pt-BR" sz="1600" u="none" cap="none" strike="noStrike">
                <a:solidFill>
                  <a:schemeClr val="dk2"/>
                </a:solidFill>
                <a:latin typeface="Lato"/>
                <a:ea typeface="Lato"/>
                <a:cs typeface="Lato"/>
                <a:sym typeface="Lato"/>
              </a:rPr>
            </a:br>
            <a:br>
              <a:rPr b="0" i="0" lang="pt-BR" sz="1600" u="none" cap="none" strike="noStrike">
                <a:solidFill>
                  <a:schemeClr val="dk2"/>
                </a:solidFill>
                <a:latin typeface="Lato"/>
                <a:ea typeface="Lato"/>
                <a:cs typeface="Lato"/>
                <a:sym typeface="Lato"/>
              </a:rPr>
            </a:br>
            <a:r>
              <a:rPr b="1" i="0" lang="pt-BR" sz="1600" u="sng" cap="none" strike="noStrike">
                <a:solidFill>
                  <a:schemeClr val="dk2"/>
                </a:solidFill>
                <a:latin typeface="Roboto"/>
                <a:ea typeface="Roboto"/>
                <a:cs typeface="Roboto"/>
                <a:sym typeface="Roboto"/>
                <a:hlinkClick r:id="rId4">
                  <a:extLst>
                    <a:ext uri="{A12FA001-AC4F-418D-AE19-62706E023703}">
                      <ahyp:hlinkClr val="tx"/>
                    </a:ext>
                  </a:extLst>
                </a:hlinkClick>
              </a:rPr>
              <a:t>Power BI Web</a:t>
            </a:r>
            <a:br>
              <a:rPr b="0" i="0" lang="pt-BR" sz="1600" u="none" cap="none" strike="noStrike">
                <a:solidFill>
                  <a:schemeClr val="dk2"/>
                </a:solidFill>
                <a:latin typeface="Lato"/>
                <a:ea typeface="Lato"/>
                <a:cs typeface="Lato"/>
                <a:sym typeface="Lato"/>
              </a:rPr>
            </a:br>
            <a:br>
              <a:rPr b="0" i="0" lang="pt-BR" sz="1600" u="none" cap="none" strike="noStrike">
                <a:solidFill>
                  <a:schemeClr val="dk2"/>
                </a:solidFill>
                <a:latin typeface="Lato"/>
                <a:ea typeface="Lato"/>
                <a:cs typeface="Lato"/>
                <a:sym typeface="Lato"/>
              </a:rPr>
            </a:br>
            <a:r>
              <a:rPr b="1" i="0" lang="pt-BR" sz="1600" u="none" cap="none" strike="noStrike">
                <a:solidFill>
                  <a:schemeClr val="dk2"/>
                </a:solidFill>
                <a:latin typeface="Roboto"/>
                <a:ea typeface="Roboto"/>
                <a:cs typeface="Roboto"/>
                <a:sym typeface="Roboto"/>
              </a:rPr>
              <a:t>Power BI Mobile</a:t>
            </a:r>
            <a:endParaRPr b="0" i="0" sz="1400" u="none" cap="none" strike="noStrike">
              <a:solidFill>
                <a:srgbClr val="000000"/>
              </a:solidFill>
              <a:latin typeface="Arial"/>
              <a:ea typeface="Arial"/>
              <a:cs typeface="Arial"/>
              <a:sym typeface="Arial"/>
            </a:endParaRPr>
          </a:p>
          <a:p>
            <a:pPr indent="-311150" lvl="0" marL="457200" marR="0" rtl="0" algn="l">
              <a:lnSpc>
                <a:spcPct val="115000"/>
              </a:lnSpc>
              <a:spcBef>
                <a:spcPts val="0"/>
              </a:spcBef>
              <a:spcAft>
                <a:spcPts val="0"/>
              </a:spcAft>
              <a:buClr>
                <a:schemeClr val="accent1"/>
              </a:buClr>
              <a:buSzPts val="1300"/>
              <a:buFont typeface="Lato"/>
              <a:buChar char="●"/>
            </a:pPr>
            <a:r>
              <a:rPr b="0" i="1" lang="pt-BR" sz="1600" u="sng" cap="none" strike="noStrike">
                <a:solidFill>
                  <a:schemeClr val="dk2"/>
                </a:solidFill>
                <a:latin typeface="Roboto"/>
                <a:ea typeface="Roboto"/>
                <a:cs typeface="Roboto"/>
                <a:sym typeface="Roboto"/>
                <a:hlinkClick r:id="rId5">
                  <a:extLst>
                    <a:ext uri="{A12FA001-AC4F-418D-AE19-62706E023703}">
                      <ahyp:hlinkClr val="tx"/>
                    </a:ext>
                  </a:extLst>
                </a:hlinkClick>
              </a:rPr>
              <a:t>Android</a:t>
            </a:r>
            <a:endParaRPr b="0" i="0" sz="1600" u="none" cap="none" strike="noStrike">
              <a:solidFill>
                <a:schemeClr val="dk2"/>
              </a:solidFill>
              <a:latin typeface="Roboto"/>
              <a:ea typeface="Roboto"/>
              <a:cs typeface="Roboto"/>
              <a:sym typeface="Roboto"/>
            </a:endParaRPr>
          </a:p>
          <a:p>
            <a:pPr indent="-311150" lvl="0" marL="457200" marR="0" rtl="0" algn="l">
              <a:lnSpc>
                <a:spcPct val="115000"/>
              </a:lnSpc>
              <a:spcBef>
                <a:spcPts val="0"/>
              </a:spcBef>
              <a:spcAft>
                <a:spcPts val="0"/>
              </a:spcAft>
              <a:buClr>
                <a:schemeClr val="accent1"/>
              </a:buClr>
              <a:buSzPts val="1300"/>
              <a:buFont typeface="Lato"/>
              <a:buChar char="●"/>
            </a:pPr>
            <a:r>
              <a:rPr b="0" i="1" lang="pt-BR" sz="1600" u="sng" cap="none" strike="noStrike">
                <a:solidFill>
                  <a:schemeClr val="dk2"/>
                </a:solidFill>
                <a:latin typeface="Roboto"/>
                <a:ea typeface="Roboto"/>
                <a:cs typeface="Roboto"/>
                <a:sym typeface="Roboto"/>
                <a:hlinkClick r:id="rId6">
                  <a:extLst>
                    <a:ext uri="{A12FA001-AC4F-418D-AE19-62706E023703}">
                      <ahyp:hlinkClr val="tx"/>
                    </a:ext>
                  </a:extLst>
                </a:hlinkClick>
              </a:rPr>
              <a:t>iOS</a:t>
            </a:r>
            <a:endParaRPr b="0" i="0" sz="1050" u="none" cap="none" strike="noStrike">
              <a:solidFill>
                <a:schemeClr val="dk2"/>
              </a:solidFill>
              <a:latin typeface="Calibri"/>
              <a:ea typeface="Calibri"/>
              <a:cs typeface="Calibri"/>
              <a:sym typeface="Calibri"/>
            </a:endParaRPr>
          </a:p>
        </p:txBody>
      </p:sp>
      <p:sp>
        <p:nvSpPr>
          <p:cNvPr id="267" name="Google Shape;267;g3937d203302_0_163"/>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268" name="Google Shape;268;g3937d203302_0_163" title="SENAI_São_Paulo_logo.png"/>
          <p:cNvPicPr preferRelativeResize="0"/>
          <p:nvPr/>
        </p:nvPicPr>
        <p:blipFill rotWithShape="1">
          <a:blip r:embed="rId7">
            <a:alphaModFix/>
          </a:blip>
          <a:srcRect b="0" l="0" r="0" t="0"/>
          <a:stretch/>
        </p:blipFill>
        <p:spPr>
          <a:xfrm>
            <a:off x="7629275" y="63340"/>
            <a:ext cx="1439427" cy="368995"/>
          </a:xfrm>
          <a:prstGeom prst="rect">
            <a:avLst/>
          </a:prstGeom>
          <a:noFill/>
          <a:ln>
            <a:noFill/>
          </a:ln>
        </p:spPr>
      </p:pic>
      <p:pic>
        <p:nvPicPr>
          <p:cNvPr id="269" name="Google Shape;269;g3937d203302_0_163" title="powerbi.png"/>
          <p:cNvPicPr preferRelativeResize="0"/>
          <p:nvPr/>
        </p:nvPicPr>
        <p:blipFill rotWithShape="1">
          <a:blip r:embed="rId8">
            <a:alphaModFix/>
          </a:blip>
          <a:srcRect b="0" l="0" r="0" t="0"/>
          <a:stretch/>
        </p:blipFill>
        <p:spPr>
          <a:xfrm>
            <a:off x="5333387" y="1106925"/>
            <a:ext cx="3115766" cy="311576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937d203302_0_17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75" name="Google Shape;275;g3937d203302_0_171"/>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t/>
            </a:r>
            <a:endParaRPr/>
          </a:p>
        </p:txBody>
      </p:sp>
      <p:sp>
        <p:nvSpPr>
          <p:cNvPr id="276" name="Google Shape;276;g3937d203302_0_171"/>
          <p:cNvSpPr txBox="1"/>
          <p:nvPr>
            <p:ph type="title"/>
          </p:nvPr>
        </p:nvSpPr>
        <p:spPr>
          <a:xfrm>
            <a:off x="0" y="0"/>
            <a:ext cx="59409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Power BI Service - Planos e Preços</a:t>
            </a:r>
            <a:endParaRPr b="0" sz="2400">
              <a:latin typeface="Impact"/>
              <a:ea typeface="Impact"/>
              <a:cs typeface="Impact"/>
              <a:sym typeface="Impact"/>
            </a:endParaRPr>
          </a:p>
        </p:txBody>
      </p:sp>
      <p:sp>
        <p:nvSpPr>
          <p:cNvPr id="277" name="Google Shape;277;g3937d203302_0_171"/>
          <p:cNvSpPr txBox="1"/>
          <p:nvPr/>
        </p:nvSpPr>
        <p:spPr>
          <a:xfrm>
            <a:off x="88040" y="446481"/>
            <a:ext cx="86274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pt-BR" sz="1300" u="sng" cap="none" strike="noStrike">
                <a:solidFill>
                  <a:schemeClr val="hlink"/>
                </a:solidFill>
                <a:latin typeface="Lato"/>
                <a:ea typeface="Lato"/>
                <a:cs typeface="Lato"/>
                <a:sym typeface="Lato"/>
                <a:hlinkClick r:id="rId3"/>
              </a:rPr>
              <a:t>https://www.microsoft.com/pt-br/power-platform/products/power-bi/pricing</a:t>
            </a:r>
            <a:endParaRPr b="0" i="0" sz="1300" u="none" cap="none" strike="noStrike">
              <a:solidFill>
                <a:schemeClr val="accent1"/>
              </a:solidFill>
              <a:latin typeface="Lato"/>
              <a:ea typeface="Lato"/>
              <a:cs typeface="Lato"/>
              <a:sym typeface="Lato"/>
            </a:endParaRPr>
          </a:p>
        </p:txBody>
      </p:sp>
      <p:pic>
        <p:nvPicPr>
          <p:cNvPr id="278" name="Google Shape;278;g3937d203302_0_171"/>
          <p:cNvPicPr preferRelativeResize="0"/>
          <p:nvPr/>
        </p:nvPicPr>
        <p:blipFill rotWithShape="1">
          <a:blip r:embed="rId4">
            <a:alphaModFix/>
          </a:blip>
          <a:srcRect b="18613" l="0" r="0" t="0"/>
          <a:stretch/>
        </p:blipFill>
        <p:spPr>
          <a:xfrm>
            <a:off x="673300" y="829500"/>
            <a:ext cx="8076401" cy="4186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937d203302_0_179"/>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Self-service, o que é?</a:t>
            </a:r>
            <a:endParaRPr b="0">
              <a:latin typeface="Impact"/>
              <a:ea typeface="Impact"/>
              <a:cs typeface="Impact"/>
              <a:sym typeface="Impact"/>
            </a:endParaRPr>
          </a:p>
        </p:txBody>
      </p:sp>
      <p:pic>
        <p:nvPicPr>
          <p:cNvPr descr="Como escolher o melhor restaurante self-service | Veja Saúde" id="284" name="Google Shape;284;g3937d203302_0_179"/>
          <p:cNvPicPr preferRelativeResize="0"/>
          <p:nvPr/>
        </p:nvPicPr>
        <p:blipFill rotWithShape="1">
          <a:blip r:embed="rId3">
            <a:alphaModFix/>
          </a:blip>
          <a:srcRect b="0" l="0" r="0" t="0"/>
          <a:stretch/>
        </p:blipFill>
        <p:spPr>
          <a:xfrm>
            <a:off x="913325" y="1440575"/>
            <a:ext cx="6225174" cy="350165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285" name="Google Shape;285;g3937d203302_0_179"/>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286" name="Google Shape;286;g3937d203302_0_179"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3937d203302_0_186"/>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Self-service BI</a:t>
            </a:r>
            <a:endParaRPr b="0">
              <a:latin typeface="Impact"/>
              <a:ea typeface="Impact"/>
              <a:cs typeface="Impact"/>
              <a:sym typeface="Impact"/>
            </a:endParaRPr>
          </a:p>
        </p:txBody>
      </p:sp>
      <p:sp>
        <p:nvSpPr>
          <p:cNvPr id="292" name="Google Shape;292;g3937d203302_0_186"/>
          <p:cNvSpPr txBox="1"/>
          <p:nvPr>
            <p:ph idx="1" type="body"/>
          </p:nvPr>
        </p:nvSpPr>
        <p:spPr>
          <a:xfrm>
            <a:off x="454387" y="1325834"/>
            <a:ext cx="4169700" cy="3547500"/>
          </a:xfrm>
          <a:prstGeom prst="rect">
            <a:avLst/>
          </a:prstGeom>
          <a:noFill/>
          <a:ln>
            <a:noFill/>
          </a:ln>
        </p:spPr>
        <p:txBody>
          <a:bodyPr anchorCtr="0" anchor="t" bIns="91425" lIns="91425" spcFirstLastPara="1" rIns="91425" wrap="square" tIns="91425">
            <a:normAutofit fontScale="92500" lnSpcReduction="10000"/>
          </a:bodyPr>
          <a:lstStyle/>
          <a:p>
            <a:pPr indent="0" lvl="0" marL="152400" rtl="0" algn="l">
              <a:lnSpc>
                <a:spcPct val="200000"/>
              </a:lnSpc>
              <a:spcBef>
                <a:spcPts val="0"/>
              </a:spcBef>
              <a:spcAft>
                <a:spcPts val="0"/>
              </a:spcAft>
              <a:buClr>
                <a:srgbClr val="374151"/>
              </a:buClr>
              <a:buSzPct val="68275"/>
              <a:buNone/>
            </a:pPr>
            <a:r>
              <a:rPr b="1" lang="pt-BR" sz="1900">
                <a:solidFill>
                  <a:srgbClr val="374151"/>
                </a:solidFill>
                <a:latin typeface="Calibri"/>
                <a:ea typeface="Calibri"/>
                <a:cs typeface="Calibri"/>
                <a:sym typeface="Calibri"/>
              </a:rPr>
              <a:t>O que é?</a:t>
            </a:r>
            <a:endParaRPr/>
          </a:p>
          <a:p>
            <a:pPr indent="0" lvl="0" marL="152400" rtl="0" algn="l">
              <a:lnSpc>
                <a:spcPct val="200000"/>
              </a:lnSpc>
              <a:spcBef>
                <a:spcPts val="0"/>
              </a:spcBef>
              <a:spcAft>
                <a:spcPts val="0"/>
              </a:spcAft>
              <a:buClr>
                <a:srgbClr val="374151"/>
              </a:buClr>
              <a:buSzPct val="92664"/>
              <a:buNone/>
            </a:pPr>
            <a:r>
              <a:rPr lang="pt-BR" sz="1400">
                <a:solidFill>
                  <a:srgbClr val="374151"/>
                </a:solidFill>
                <a:latin typeface="Calibri"/>
                <a:ea typeface="Calibri"/>
                <a:cs typeface="Calibri"/>
                <a:sym typeface="Calibri"/>
              </a:rPr>
              <a:t>Permite que usuários finais acessem e analisem dados sem depender de especialistas em TI.</a:t>
            </a:r>
            <a:endParaRPr sz="1400">
              <a:solidFill>
                <a:srgbClr val="374151"/>
              </a:solidFill>
              <a:latin typeface="Calibri"/>
              <a:ea typeface="Calibri"/>
              <a:cs typeface="Calibri"/>
              <a:sym typeface="Calibri"/>
            </a:endParaRPr>
          </a:p>
          <a:p>
            <a:pPr indent="0" lvl="0" marL="152400" rtl="0" algn="l">
              <a:lnSpc>
                <a:spcPct val="200000"/>
              </a:lnSpc>
              <a:spcBef>
                <a:spcPts val="0"/>
              </a:spcBef>
              <a:spcAft>
                <a:spcPts val="0"/>
              </a:spcAft>
              <a:buClr>
                <a:srgbClr val="374151"/>
              </a:buClr>
              <a:buSzPct val="68275"/>
              <a:buNone/>
            </a:pPr>
            <a:r>
              <a:rPr b="1" lang="pt-BR" sz="1900">
                <a:solidFill>
                  <a:srgbClr val="374151"/>
                </a:solidFill>
                <a:latin typeface="Calibri"/>
                <a:ea typeface="Calibri"/>
                <a:cs typeface="Calibri"/>
                <a:sym typeface="Calibri"/>
              </a:rPr>
              <a:t>Qual a motivação?</a:t>
            </a:r>
            <a:endParaRPr/>
          </a:p>
          <a:p>
            <a:pPr indent="0" lvl="0" marL="152400" rtl="0" algn="l">
              <a:lnSpc>
                <a:spcPct val="200000"/>
              </a:lnSpc>
              <a:spcBef>
                <a:spcPts val="0"/>
              </a:spcBef>
              <a:spcAft>
                <a:spcPts val="0"/>
              </a:spcAft>
              <a:buClr>
                <a:srgbClr val="374151"/>
              </a:buClr>
              <a:buSzPct val="92664"/>
              <a:buNone/>
            </a:pPr>
            <a:r>
              <a:rPr lang="pt-BR" sz="1400">
                <a:solidFill>
                  <a:srgbClr val="374151"/>
                </a:solidFill>
                <a:latin typeface="Calibri"/>
                <a:ea typeface="Calibri"/>
                <a:cs typeface="Calibri"/>
                <a:sym typeface="Calibri"/>
              </a:rPr>
              <a:t>Criar relatórios, painéis interativos e visualizações de dados por conta própria</a:t>
            </a:r>
            <a:endParaRPr/>
          </a:p>
          <a:p>
            <a:pPr indent="0" lvl="0" marL="152400" rtl="0" algn="l">
              <a:lnSpc>
                <a:spcPct val="200000"/>
              </a:lnSpc>
              <a:spcBef>
                <a:spcPts val="0"/>
              </a:spcBef>
              <a:spcAft>
                <a:spcPts val="0"/>
              </a:spcAft>
              <a:buClr>
                <a:srgbClr val="374151"/>
              </a:buClr>
              <a:buSzPct val="68275"/>
              <a:buNone/>
            </a:pPr>
            <a:r>
              <a:rPr b="1" lang="pt-BR" sz="1900">
                <a:solidFill>
                  <a:srgbClr val="374151"/>
                </a:solidFill>
                <a:latin typeface="Calibri"/>
                <a:ea typeface="Calibri"/>
                <a:cs typeface="Calibri"/>
                <a:sym typeface="Calibri"/>
              </a:rPr>
              <a:t>Quais os benefícios?</a:t>
            </a:r>
            <a:endParaRPr/>
          </a:p>
          <a:p>
            <a:pPr indent="0" lvl="0" marL="152400" rtl="0" algn="l">
              <a:lnSpc>
                <a:spcPct val="200000"/>
              </a:lnSpc>
              <a:spcBef>
                <a:spcPts val="0"/>
              </a:spcBef>
              <a:spcAft>
                <a:spcPts val="0"/>
              </a:spcAft>
              <a:buClr>
                <a:srgbClr val="374151"/>
              </a:buClr>
              <a:buSzPct val="92664"/>
              <a:buNone/>
            </a:pPr>
            <a:r>
              <a:rPr lang="pt-BR" sz="1400">
                <a:solidFill>
                  <a:srgbClr val="374151"/>
                </a:solidFill>
                <a:latin typeface="Calibri"/>
                <a:ea typeface="Calibri"/>
                <a:cs typeface="Calibri"/>
                <a:sym typeface="Calibri"/>
              </a:rPr>
              <a:t>Agilidade na obtenção de insights e tomada de decisões</a:t>
            </a:r>
            <a:endParaRPr/>
          </a:p>
        </p:txBody>
      </p:sp>
      <p:pic>
        <p:nvPicPr>
          <p:cNvPr descr="Como escolher o melhor restaurante self-service | Veja Saúde" id="293" name="Google Shape;293;g3937d203302_0_186"/>
          <p:cNvPicPr preferRelativeResize="0"/>
          <p:nvPr/>
        </p:nvPicPr>
        <p:blipFill rotWithShape="1">
          <a:blip r:embed="rId3">
            <a:alphaModFix/>
          </a:blip>
          <a:srcRect b="0" l="0" r="0" t="0"/>
          <a:stretch/>
        </p:blipFill>
        <p:spPr>
          <a:xfrm>
            <a:off x="5002276" y="1873406"/>
            <a:ext cx="3687338" cy="2074127"/>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294" name="Google Shape;294;g3937d203302_0_186"/>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295" name="Google Shape;295;g3937d203302_0_186"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937d203302_0_211"/>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Material complementar</a:t>
            </a:r>
            <a:endParaRPr b="0">
              <a:latin typeface="Impact"/>
              <a:ea typeface="Impact"/>
              <a:cs typeface="Impact"/>
              <a:sym typeface="Impact"/>
            </a:endParaRPr>
          </a:p>
        </p:txBody>
      </p:sp>
      <p:sp>
        <p:nvSpPr>
          <p:cNvPr id="301" name="Google Shape;301;g3937d203302_0_211"/>
          <p:cNvSpPr txBox="1"/>
          <p:nvPr>
            <p:ph idx="1" type="body"/>
          </p:nvPr>
        </p:nvSpPr>
        <p:spPr>
          <a:xfrm>
            <a:off x="454387" y="2127040"/>
            <a:ext cx="3165900" cy="2746200"/>
          </a:xfrm>
          <a:prstGeom prst="rect">
            <a:avLst/>
          </a:prstGeom>
          <a:noFill/>
          <a:ln>
            <a:noFill/>
          </a:ln>
        </p:spPr>
        <p:txBody>
          <a:bodyPr anchorCtr="0" anchor="t" bIns="91425" lIns="91425" spcFirstLastPara="1" rIns="91425" wrap="square" tIns="91425">
            <a:normAutofit/>
          </a:bodyPr>
          <a:lstStyle/>
          <a:p>
            <a:pPr indent="0" lvl="0" marL="146050" rtl="0" algn="l">
              <a:lnSpc>
                <a:spcPct val="115000"/>
              </a:lnSpc>
              <a:spcBef>
                <a:spcPts val="0"/>
              </a:spcBef>
              <a:spcAft>
                <a:spcPts val="0"/>
              </a:spcAft>
              <a:buSzPts val="1300"/>
              <a:buNone/>
            </a:pPr>
            <a:r>
              <a:rPr b="0" i="0" lang="pt-BR" sz="2000">
                <a:solidFill>
                  <a:schemeClr val="dk2"/>
                </a:solidFill>
                <a:latin typeface="Roboto"/>
                <a:ea typeface="Roboto"/>
                <a:cs typeface="Roboto"/>
                <a:sym typeface="Roboto"/>
              </a:rPr>
              <a:t>Veja nos materiais complementares:</a:t>
            </a:r>
            <a:endParaRPr/>
          </a:p>
          <a:p>
            <a:pPr indent="0" lvl="0" marL="146050" rtl="0" algn="l">
              <a:lnSpc>
                <a:spcPct val="115000"/>
              </a:lnSpc>
              <a:spcBef>
                <a:spcPts val="0"/>
              </a:spcBef>
              <a:spcAft>
                <a:spcPts val="0"/>
              </a:spcAft>
              <a:buSzPts val="1300"/>
              <a:buNone/>
            </a:pPr>
            <a:r>
              <a:t/>
            </a:r>
            <a:endParaRPr sz="2000">
              <a:solidFill>
                <a:schemeClr val="dk2"/>
              </a:solidFill>
              <a:latin typeface="Roboto"/>
              <a:ea typeface="Roboto"/>
              <a:cs typeface="Roboto"/>
              <a:sym typeface="Roboto"/>
            </a:endParaRPr>
          </a:p>
          <a:p>
            <a:pPr indent="0" lvl="0" marL="146050" rtl="0" algn="l">
              <a:lnSpc>
                <a:spcPct val="115000"/>
              </a:lnSpc>
              <a:spcBef>
                <a:spcPts val="0"/>
              </a:spcBef>
              <a:spcAft>
                <a:spcPts val="0"/>
              </a:spcAft>
              <a:buSzPts val="1300"/>
              <a:buNone/>
            </a:pPr>
            <a:r>
              <a:rPr b="1" lang="pt-BR" sz="2000">
                <a:solidFill>
                  <a:schemeClr val="dk2"/>
                </a:solidFill>
                <a:latin typeface="Roboto"/>
                <a:ea typeface="Roboto"/>
                <a:cs typeface="Roboto"/>
                <a:sym typeface="Roboto"/>
              </a:rPr>
              <a:t>Self-Service BI</a:t>
            </a:r>
            <a:endParaRPr/>
          </a:p>
          <a:p>
            <a:pPr indent="-228600" lvl="0" marL="457200" rtl="0" algn="l">
              <a:lnSpc>
                <a:spcPct val="115000"/>
              </a:lnSpc>
              <a:spcBef>
                <a:spcPts val="0"/>
              </a:spcBef>
              <a:spcAft>
                <a:spcPts val="0"/>
              </a:spcAft>
              <a:buSzPts val="1300"/>
              <a:buFont typeface="Arial"/>
              <a:buNone/>
            </a:pPr>
            <a:r>
              <a:t/>
            </a:r>
            <a:endParaRPr b="0" i="0" sz="2000">
              <a:solidFill>
                <a:schemeClr val="dk2"/>
              </a:solidFill>
              <a:latin typeface="Roboto"/>
              <a:ea typeface="Roboto"/>
              <a:cs typeface="Roboto"/>
              <a:sym typeface="Roboto"/>
            </a:endParaRPr>
          </a:p>
        </p:txBody>
      </p:sp>
      <p:pic>
        <p:nvPicPr>
          <p:cNvPr id="302" name="Google Shape;302;g3937d203302_0_211" title="O que é Self-Service BI?"/>
          <p:cNvPicPr preferRelativeResize="0"/>
          <p:nvPr/>
        </p:nvPicPr>
        <p:blipFill rotWithShape="1">
          <a:blip r:embed="rId3">
            <a:alphaModFix/>
          </a:blip>
          <a:srcRect b="0" l="0" r="0" t="0"/>
          <a:stretch/>
        </p:blipFill>
        <p:spPr>
          <a:xfrm>
            <a:off x="3725747" y="1497361"/>
            <a:ext cx="4860693" cy="2746292"/>
          </a:xfrm>
          <a:prstGeom prst="rect">
            <a:avLst/>
          </a:prstGeom>
          <a:noFill/>
          <a:ln>
            <a:noFill/>
          </a:ln>
        </p:spPr>
      </p:pic>
      <p:sp>
        <p:nvSpPr>
          <p:cNvPr id="303" name="Google Shape;303;g3937d203302_0_211"/>
          <p:cNvSpPr txBox="1"/>
          <p:nvPr/>
        </p:nvSpPr>
        <p:spPr>
          <a:xfrm>
            <a:off x="3620429" y="4357042"/>
            <a:ext cx="5136000" cy="554100"/>
          </a:xfrm>
          <a:prstGeom prst="rect">
            <a:avLst/>
          </a:prstGeom>
          <a:noFill/>
          <a:ln>
            <a:noFill/>
          </a:ln>
        </p:spPr>
        <p:txBody>
          <a:bodyPr anchorCtr="0" anchor="t" bIns="91425" lIns="91425" spcFirstLastPara="1" rIns="91425" wrap="square" tIns="91425">
            <a:normAutofit/>
          </a:bodyPr>
          <a:lstStyle/>
          <a:p>
            <a:pPr indent="0" lvl="0" marL="146050" marR="0" rtl="0" algn="l">
              <a:lnSpc>
                <a:spcPct val="115000"/>
              </a:lnSpc>
              <a:spcBef>
                <a:spcPts val="0"/>
              </a:spcBef>
              <a:spcAft>
                <a:spcPts val="0"/>
              </a:spcAft>
              <a:buClr>
                <a:schemeClr val="accent1"/>
              </a:buClr>
              <a:buSzPts val="1300"/>
              <a:buFont typeface="Lato"/>
              <a:buNone/>
            </a:pPr>
            <a:r>
              <a:rPr b="0" i="0" lang="pt-BR" sz="2000" u="sng" cap="none" strike="noStrike">
                <a:solidFill>
                  <a:schemeClr val="dk2"/>
                </a:solidFill>
                <a:latin typeface="Roboto"/>
                <a:ea typeface="Roboto"/>
                <a:cs typeface="Roboto"/>
                <a:sym typeface="Roboto"/>
                <a:hlinkClick r:id="rId4">
                  <a:extLst>
                    <a:ext uri="{A12FA001-AC4F-418D-AE19-62706E023703}">
                      <ahyp:hlinkClr val="tx"/>
                    </a:ext>
                  </a:extLst>
                </a:hlinkClick>
              </a:rPr>
              <a:t>https://youtu.be/uY6cuQhpQrc</a:t>
            </a:r>
            <a:endParaRPr b="0" i="0" sz="2000" u="none" cap="none" strike="noStrike">
              <a:solidFill>
                <a:schemeClr val="dk2"/>
              </a:solidFill>
              <a:latin typeface="Roboto"/>
              <a:ea typeface="Roboto"/>
              <a:cs typeface="Roboto"/>
              <a:sym typeface="Roboto"/>
            </a:endParaRPr>
          </a:p>
        </p:txBody>
      </p:sp>
      <p:sp>
        <p:nvSpPr>
          <p:cNvPr id="304" name="Google Shape;304;g3937d203302_0_211"/>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305" name="Google Shape;305;g3937d203302_0_211" title="SENAI_São_Paulo_logo.png"/>
          <p:cNvPicPr preferRelativeResize="0"/>
          <p:nvPr/>
        </p:nvPicPr>
        <p:blipFill rotWithShape="1">
          <a:blip r:embed="rId5">
            <a:alphaModFix/>
          </a:blip>
          <a:srcRect b="0" l="0" r="0" t="0"/>
          <a:stretch/>
        </p:blipFill>
        <p:spPr>
          <a:xfrm>
            <a:off x="7629275" y="63340"/>
            <a:ext cx="1439427" cy="3689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1"/>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g3937d203302_0_194"/>
          <p:cNvSpPr txBox="1"/>
          <p:nvPr>
            <p:ph type="title"/>
          </p:nvPr>
        </p:nvSpPr>
        <p:spPr>
          <a:xfrm>
            <a:off x="729450" y="571725"/>
            <a:ext cx="40590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Exemplo de Self-service BI</a:t>
            </a:r>
            <a:endParaRPr b="0">
              <a:latin typeface="Impact"/>
              <a:ea typeface="Impact"/>
              <a:cs typeface="Impact"/>
              <a:sym typeface="Impact"/>
            </a:endParaRPr>
          </a:p>
          <a:p>
            <a:pPr indent="0" lvl="0" marL="0" rtl="0" algn="l">
              <a:lnSpc>
                <a:spcPct val="100000"/>
              </a:lnSpc>
              <a:spcBef>
                <a:spcPts val="0"/>
              </a:spcBef>
              <a:spcAft>
                <a:spcPts val="0"/>
              </a:spcAft>
              <a:buSzPct val="111111"/>
              <a:buNone/>
            </a:pPr>
            <a:r>
              <a:t/>
            </a:r>
            <a:endParaRPr b="0">
              <a:latin typeface="Impact"/>
              <a:ea typeface="Impact"/>
              <a:cs typeface="Impact"/>
              <a:sym typeface="Impact"/>
            </a:endParaRPr>
          </a:p>
        </p:txBody>
      </p:sp>
      <p:pic>
        <p:nvPicPr>
          <p:cNvPr id="311" name="Google Shape;311;g3937d203302_0_194"/>
          <p:cNvPicPr preferRelativeResize="0"/>
          <p:nvPr/>
        </p:nvPicPr>
        <p:blipFill rotWithShape="1">
          <a:blip r:embed="rId3">
            <a:alphaModFix/>
          </a:blip>
          <a:srcRect b="0" l="0" r="0" t="0"/>
          <a:stretch/>
        </p:blipFill>
        <p:spPr>
          <a:xfrm>
            <a:off x="729450" y="1885275"/>
            <a:ext cx="8140650" cy="2653650"/>
          </a:xfrm>
          <a:prstGeom prst="rect">
            <a:avLst/>
          </a:prstGeom>
          <a:noFill/>
          <a:ln>
            <a:noFill/>
          </a:ln>
        </p:spPr>
      </p:pic>
      <p:sp>
        <p:nvSpPr>
          <p:cNvPr id="312" name="Google Shape;312;g3937d203302_0_194"/>
          <p:cNvSpPr txBox="1"/>
          <p:nvPr/>
        </p:nvSpPr>
        <p:spPr>
          <a:xfrm>
            <a:off x="710100" y="1381825"/>
            <a:ext cx="3368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Análise de dados com Self-service BI</a:t>
            </a:r>
            <a:endParaRPr b="0" i="0" sz="1400" u="none" cap="none" strike="noStrike">
              <a:solidFill>
                <a:srgbClr val="000000"/>
              </a:solidFill>
              <a:latin typeface="Arial"/>
              <a:ea typeface="Arial"/>
              <a:cs typeface="Arial"/>
              <a:sym typeface="Arial"/>
            </a:endParaRPr>
          </a:p>
        </p:txBody>
      </p:sp>
      <p:pic>
        <p:nvPicPr>
          <p:cNvPr id="313" name="Google Shape;313;g3937d203302_0_194"/>
          <p:cNvPicPr preferRelativeResize="0"/>
          <p:nvPr/>
        </p:nvPicPr>
        <p:blipFill rotWithShape="1">
          <a:blip r:embed="rId4">
            <a:alphaModFix/>
          </a:blip>
          <a:srcRect b="0" l="0" r="0" t="0"/>
          <a:stretch/>
        </p:blipFill>
        <p:spPr>
          <a:xfrm rot="5400000">
            <a:off x="4119575" y="1216388"/>
            <a:ext cx="668875" cy="668875"/>
          </a:xfrm>
          <a:prstGeom prst="rect">
            <a:avLst/>
          </a:prstGeom>
          <a:noFill/>
          <a:ln>
            <a:noFill/>
          </a:ln>
        </p:spPr>
      </p:pic>
      <p:pic>
        <p:nvPicPr>
          <p:cNvPr id="314" name="Google Shape;314;g3937d203302_0_194"/>
          <p:cNvPicPr preferRelativeResize="0"/>
          <p:nvPr/>
        </p:nvPicPr>
        <p:blipFill rotWithShape="1">
          <a:blip r:embed="rId4">
            <a:alphaModFix/>
          </a:blip>
          <a:srcRect b="0" l="0" r="0" t="0"/>
          <a:stretch/>
        </p:blipFill>
        <p:spPr>
          <a:xfrm rot="5400000">
            <a:off x="5011475" y="1216400"/>
            <a:ext cx="668875" cy="668875"/>
          </a:xfrm>
          <a:prstGeom prst="rect">
            <a:avLst/>
          </a:prstGeom>
          <a:noFill/>
          <a:ln>
            <a:noFill/>
          </a:ln>
        </p:spPr>
      </p:pic>
      <p:sp>
        <p:nvSpPr>
          <p:cNvPr id="315" name="Google Shape;315;g3937d203302_0_194"/>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316" name="Google Shape;316;g3937d203302_0_194" title="SENAI_São_Paulo_logo.png"/>
          <p:cNvPicPr preferRelativeResize="0"/>
          <p:nvPr/>
        </p:nvPicPr>
        <p:blipFill rotWithShape="1">
          <a:blip r:embed="rId5">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937d203302_0_204"/>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Exemplo de Self-service BI</a:t>
            </a:r>
            <a:endParaRPr b="0">
              <a:latin typeface="Impact"/>
              <a:ea typeface="Impact"/>
              <a:cs typeface="Impact"/>
              <a:sym typeface="Impact"/>
            </a:endParaRPr>
          </a:p>
        </p:txBody>
      </p:sp>
      <p:pic>
        <p:nvPicPr>
          <p:cNvPr id="322" name="Google Shape;322;g3937d203302_0_204"/>
          <p:cNvPicPr preferRelativeResize="0"/>
          <p:nvPr/>
        </p:nvPicPr>
        <p:blipFill rotWithShape="1">
          <a:blip r:embed="rId3">
            <a:alphaModFix/>
          </a:blip>
          <a:srcRect b="9780" l="15837" r="17729" t="21296"/>
          <a:stretch/>
        </p:blipFill>
        <p:spPr>
          <a:xfrm>
            <a:off x="1279577" y="1280851"/>
            <a:ext cx="6848672" cy="3819249"/>
          </a:xfrm>
          <a:prstGeom prst="rect">
            <a:avLst/>
          </a:prstGeom>
          <a:noFill/>
          <a:ln>
            <a:noFill/>
          </a:ln>
        </p:spPr>
      </p:pic>
      <p:sp>
        <p:nvSpPr>
          <p:cNvPr id="323" name="Google Shape;323;g3937d203302_0_204"/>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324" name="Google Shape;324;g3937d203302_0_204"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937d203302_0_220"/>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ETL - Extract, Transform, Load</a:t>
            </a:r>
            <a:endParaRPr b="0">
              <a:latin typeface="Impact"/>
              <a:ea typeface="Impact"/>
              <a:cs typeface="Impact"/>
              <a:sym typeface="Impact"/>
            </a:endParaRPr>
          </a:p>
        </p:txBody>
      </p:sp>
      <p:sp>
        <p:nvSpPr>
          <p:cNvPr id="330" name="Google Shape;330;g3937d203302_0_220"/>
          <p:cNvSpPr txBox="1"/>
          <p:nvPr>
            <p:ph idx="1" type="body"/>
          </p:nvPr>
        </p:nvSpPr>
        <p:spPr>
          <a:xfrm>
            <a:off x="729450" y="1350177"/>
            <a:ext cx="4028400" cy="892800"/>
          </a:xfrm>
          <a:prstGeom prst="rect">
            <a:avLst/>
          </a:prstGeom>
          <a:noFill/>
          <a:ln>
            <a:noFill/>
          </a:ln>
        </p:spPr>
        <p:txBody>
          <a:bodyPr anchorCtr="0" anchor="t" bIns="91425" lIns="91425" spcFirstLastPara="1" rIns="91425" wrap="square" tIns="91425">
            <a:normAutofit/>
          </a:bodyPr>
          <a:lstStyle/>
          <a:p>
            <a:pPr indent="-304800" lvl="0" marL="457200" rtl="0" algn="l">
              <a:lnSpc>
                <a:spcPct val="100000"/>
              </a:lnSpc>
              <a:spcBef>
                <a:spcPts val="0"/>
              </a:spcBef>
              <a:spcAft>
                <a:spcPts val="0"/>
              </a:spcAft>
              <a:buClr>
                <a:srgbClr val="374151"/>
              </a:buClr>
              <a:buSzPts val="1200"/>
              <a:buFont typeface="Arial"/>
              <a:buChar char="●"/>
            </a:pPr>
            <a:r>
              <a:rPr b="1" i="1" lang="pt-BR" sz="1400">
                <a:solidFill>
                  <a:srgbClr val="374151"/>
                </a:solidFill>
                <a:latin typeface="Calibri"/>
                <a:ea typeface="Calibri"/>
                <a:cs typeface="Calibri"/>
                <a:sym typeface="Calibri"/>
              </a:rPr>
              <a:t>Extract</a:t>
            </a:r>
            <a:r>
              <a:rPr b="1" lang="pt-BR" sz="1400">
                <a:solidFill>
                  <a:srgbClr val="374151"/>
                </a:solidFill>
                <a:latin typeface="Calibri"/>
                <a:ea typeface="Calibri"/>
                <a:cs typeface="Calibri"/>
                <a:sym typeface="Calibri"/>
              </a:rPr>
              <a:t> (Extrair)</a:t>
            </a:r>
            <a:r>
              <a:rPr lang="pt-BR" sz="1400">
                <a:solidFill>
                  <a:srgbClr val="374151"/>
                </a:solidFill>
                <a:latin typeface="Calibri"/>
                <a:ea typeface="Calibri"/>
                <a:cs typeface="Calibri"/>
                <a:sym typeface="Calibri"/>
              </a:rPr>
              <a:t> - </a:t>
            </a:r>
            <a:r>
              <a:rPr lang="pt-BR" sz="1400">
                <a:solidFill>
                  <a:srgbClr val="374151"/>
                </a:solidFill>
                <a:highlight>
                  <a:schemeClr val="lt1"/>
                </a:highlight>
                <a:latin typeface="Calibri"/>
                <a:ea typeface="Calibri"/>
                <a:cs typeface="Calibri"/>
                <a:sym typeface="Calibri"/>
              </a:rPr>
              <a:t>Obter dados de várias fontes (bancos de dados, arquivos CSV, planilhas, APIs).</a:t>
            </a:r>
            <a:endParaRPr sz="1400">
              <a:solidFill>
                <a:srgbClr val="374151"/>
              </a:solidFill>
              <a:highlight>
                <a:schemeClr val="lt1"/>
              </a:highlight>
              <a:latin typeface="Calibri"/>
              <a:ea typeface="Calibri"/>
              <a:cs typeface="Calibri"/>
              <a:sym typeface="Calibri"/>
            </a:endParaRPr>
          </a:p>
        </p:txBody>
      </p:sp>
      <p:pic>
        <p:nvPicPr>
          <p:cNvPr descr="Ícone&#10;&#10;Descrição gerada automaticamente" id="331" name="Google Shape;331;g3937d203302_0_220"/>
          <p:cNvPicPr preferRelativeResize="0"/>
          <p:nvPr/>
        </p:nvPicPr>
        <p:blipFill rotWithShape="1">
          <a:blip r:embed="rId3">
            <a:alphaModFix/>
          </a:blip>
          <a:srcRect b="0" l="0" r="0" t="0"/>
          <a:stretch/>
        </p:blipFill>
        <p:spPr>
          <a:xfrm>
            <a:off x="5580667" y="1475767"/>
            <a:ext cx="641713" cy="641713"/>
          </a:xfrm>
          <a:prstGeom prst="rect">
            <a:avLst/>
          </a:prstGeom>
          <a:noFill/>
          <a:ln>
            <a:noFill/>
          </a:ln>
        </p:spPr>
      </p:pic>
      <p:sp>
        <p:nvSpPr>
          <p:cNvPr id="332" name="Google Shape;332;g3937d203302_0_220"/>
          <p:cNvSpPr txBox="1"/>
          <p:nvPr/>
        </p:nvSpPr>
        <p:spPr>
          <a:xfrm>
            <a:off x="729450" y="2511956"/>
            <a:ext cx="4028400" cy="11004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rgbClr val="374151"/>
              </a:buClr>
              <a:buSzPts val="1200"/>
              <a:buFont typeface="Arial"/>
              <a:buChar char="●"/>
            </a:pPr>
            <a:r>
              <a:rPr b="1" i="1" lang="pt-BR" sz="1400" u="none" cap="none" strike="noStrike">
                <a:solidFill>
                  <a:srgbClr val="374151"/>
                </a:solidFill>
                <a:highlight>
                  <a:schemeClr val="lt1"/>
                </a:highlight>
                <a:latin typeface="Calibri"/>
                <a:ea typeface="Calibri"/>
                <a:cs typeface="Calibri"/>
                <a:sym typeface="Calibri"/>
              </a:rPr>
              <a:t>Transform</a:t>
            </a:r>
            <a:r>
              <a:rPr b="1" i="0" lang="pt-BR" sz="1400" u="none" cap="none" strike="noStrike">
                <a:solidFill>
                  <a:srgbClr val="374151"/>
                </a:solidFill>
                <a:highlight>
                  <a:schemeClr val="lt1"/>
                </a:highlight>
                <a:latin typeface="Calibri"/>
                <a:ea typeface="Calibri"/>
                <a:cs typeface="Calibri"/>
                <a:sym typeface="Calibri"/>
              </a:rPr>
              <a:t> (Transformar)</a:t>
            </a:r>
            <a:r>
              <a:rPr b="0" i="0" lang="pt-BR" sz="1400" u="none" cap="none" strike="noStrike">
                <a:solidFill>
                  <a:srgbClr val="374151"/>
                </a:solidFill>
                <a:highlight>
                  <a:schemeClr val="lt1"/>
                </a:highlight>
                <a:latin typeface="Calibri"/>
                <a:ea typeface="Calibri"/>
                <a:cs typeface="Calibri"/>
                <a:sym typeface="Calibri"/>
              </a:rPr>
              <a:t> - Os dados passam por processos de limpeza, filtragem, combinação de tabelas, criação de colunas calculadas e formatação.</a:t>
            </a:r>
            <a:endParaRPr b="0" i="0" sz="1400" u="none" cap="none" strike="noStrike">
              <a:solidFill>
                <a:srgbClr val="000000"/>
              </a:solidFill>
              <a:latin typeface="Arial"/>
              <a:ea typeface="Arial"/>
              <a:cs typeface="Arial"/>
              <a:sym typeface="Arial"/>
            </a:endParaRPr>
          </a:p>
        </p:txBody>
      </p:sp>
      <p:sp>
        <p:nvSpPr>
          <p:cNvPr id="333" name="Google Shape;333;g3937d203302_0_220"/>
          <p:cNvSpPr txBox="1"/>
          <p:nvPr/>
        </p:nvSpPr>
        <p:spPr>
          <a:xfrm>
            <a:off x="729450" y="3881098"/>
            <a:ext cx="4028400" cy="8580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rgbClr val="374151"/>
              </a:buClr>
              <a:buSzPts val="1200"/>
              <a:buFont typeface="Arial"/>
              <a:buChar char="●"/>
            </a:pPr>
            <a:r>
              <a:rPr b="1" i="1" lang="pt-BR" sz="1400" u="none" cap="none" strike="noStrike">
                <a:solidFill>
                  <a:srgbClr val="374151"/>
                </a:solidFill>
                <a:highlight>
                  <a:schemeClr val="lt1"/>
                </a:highlight>
                <a:latin typeface="Calibri"/>
                <a:ea typeface="Calibri"/>
                <a:cs typeface="Calibri"/>
                <a:sym typeface="Calibri"/>
              </a:rPr>
              <a:t>Load</a:t>
            </a:r>
            <a:r>
              <a:rPr b="1" i="0" lang="pt-BR" sz="1400" u="none" cap="none" strike="noStrike">
                <a:solidFill>
                  <a:srgbClr val="374151"/>
                </a:solidFill>
                <a:highlight>
                  <a:schemeClr val="lt1"/>
                </a:highlight>
                <a:latin typeface="Calibri"/>
                <a:ea typeface="Calibri"/>
                <a:cs typeface="Calibri"/>
                <a:sym typeface="Calibri"/>
              </a:rPr>
              <a:t> (Carregar)</a:t>
            </a:r>
            <a:r>
              <a:rPr b="0" i="0" lang="pt-BR" sz="1400" u="none" cap="none" strike="noStrike">
                <a:solidFill>
                  <a:srgbClr val="374151"/>
                </a:solidFill>
                <a:highlight>
                  <a:schemeClr val="lt1"/>
                </a:highlight>
                <a:latin typeface="Calibri"/>
                <a:ea typeface="Calibri"/>
                <a:cs typeface="Calibri"/>
                <a:sym typeface="Calibri"/>
              </a:rPr>
              <a:t> - Os dados são armazenados e preparados, servindo como base para criar relatórios, painéis e visualizações interativas.</a:t>
            </a:r>
            <a:endParaRPr b="0" i="0" sz="1400" u="none" cap="none" strike="noStrike">
              <a:solidFill>
                <a:srgbClr val="000000"/>
              </a:solidFill>
              <a:latin typeface="Arial"/>
              <a:ea typeface="Arial"/>
              <a:cs typeface="Arial"/>
              <a:sym typeface="Arial"/>
            </a:endParaRPr>
          </a:p>
        </p:txBody>
      </p:sp>
      <p:pic>
        <p:nvPicPr>
          <p:cNvPr descr="Forma&#10;&#10;Descrição gerada automaticamente com confiança baixa" id="334" name="Google Shape;334;g3937d203302_0_220"/>
          <p:cNvPicPr preferRelativeResize="0"/>
          <p:nvPr/>
        </p:nvPicPr>
        <p:blipFill rotWithShape="1">
          <a:blip r:embed="rId4">
            <a:alphaModFix/>
          </a:blip>
          <a:srcRect b="0" l="0" r="0" t="0"/>
          <a:stretch/>
        </p:blipFill>
        <p:spPr>
          <a:xfrm>
            <a:off x="6524803" y="1475767"/>
            <a:ext cx="641713" cy="641713"/>
          </a:xfrm>
          <a:prstGeom prst="rect">
            <a:avLst/>
          </a:prstGeom>
          <a:noFill/>
          <a:ln>
            <a:noFill/>
          </a:ln>
        </p:spPr>
      </p:pic>
      <p:pic>
        <p:nvPicPr>
          <p:cNvPr descr="Uma imagem contendo quarto, garrafa&#10;&#10;Descrição gerada automaticamente" id="335" name="Google Shape;335;g3937d203302_0_220"/>
          <p:cNvPicPr preferRelativeResize="0"/>
          <p:nvPr/>
        </p:nvPicPr>
        <p:blipFill rotWithShape="1">
          <a:blip r:embed="rId5">
            <a:alphaModFix/>
          </a:blip>
          <a:srcRect b="0" l="0" r="0" t="0"/>
          <a:stretch/>
        </p:blipFill>
        <p:spPr>
          <a:xfrm>
            <a:off x="7468939" y="1418118"/>
            <a:ext cx="757010" cy="757010"/>
          </a:xfrm>
          <a:prstGeom prst="rect">
            <a:avLst/>
          </a:prstGeom>
          <a:noFill/>
          <a:ln>
            <a:noFill/>
          </a:ln>
        </p:spPr>
      </p:pic>
      <p:pic>
        <p:nvPicPr>
          <p:cNvPr descr="Desenho de uma placa&#10;&#10;Descrição gerada automaticamente com confiança média" id="336" name="Google Shape;336;g3937d203302_0_220"/>
          <p:cNvPicPr preferRelativeResize="0"/>
          <p:nvPr/>
        </p:nvPicPr>
        <p:blipFill rotWithShape="1">
          <a:blip r:embed="rId6">
            <a:alphaModFix/>
          </a:blip>
          <a:srcRect b="0" l="0" r="0" t="0"/>
          <a:stretch/>
        </p:blipFill>
        <p:spPr>
          <a:xfrm>
            <a:off x="5843875" y="2584001"/>
            <a:ext cx="757010" cy="757010"/>
          </a:xfrm>
          <a:prstGeom prst="rect">
            <a:avLst/>
          </a:prstGeom>
          <a:noFill/>
          <a:ln>
            <a:noFill/>
          </a:ln>
        </p:spPr>
      </p:pic>
      <p:pic>
        <p:nvPicPr>
          <p:cNvPr descr="Interface gráfica do usuário, Ícone&#10;&#10;Descrição gerada automaticamente" id="337" name="Google Shape;337;g3937d203302_0_220"/>
          <p:cNvPicPr preferRelativeResize="0"/>
          <p:nvPr/>
        </p:nvPicPr>
        <p:blipFill rotWithShape="1">
          <a:blip r:embed="rId7">
            <a:alphaModFix/>
          </a:blip>
          <a:srcRect b="0" l="0" r="0" t="0"/>
          <a:stretch/>
        </p:blipFill>
        <p:spPr>
          <a:xfrm>
            <a:off x="6845659" y="2412379"/>
            <a:ext cx="1100254" cy="1100254"/>
          </a:xfrm>
          <a:prstGeom prst="rect">
            <a:avLst/>
          </a:prstGeom>
          <a:noFill/>
          <a:ln>
            <a:noFill/>
          </a:ln>
        </p:spPr>
      </p:pic>
      <p:pic>
        <p:nvPicPr>
          <p:cNvPr descr="Vetores de Ícone Do Design Símbolo De Data Warehouse Solução De Tecnologia  De Ilustração Vetorial Tendem O Conceito De Design e mais imagens de Branco  - iStock" id="338" name="Google Shape;338;g3937d203302_0_220"/>
          <p:cNvPicPr preferRelativeResize="0"/>
          <p:nvPr/>
        </p:nvPicPr>
        <p:blipFill rotWithShape="1">
          <a:blip r:embed="rId8">
            <a:alphaModFix/>
          </a:blip>
          <a:srcRect b="0" l="0" r="0" t="0"/>
          <a:stretch/>
        </p:blipFill>
        <p:spPr>
          <a:xfrm>
            <a:off x="6334132" y="3652204"/>
            <a:ext cx="1315843" cy="1315843"/>
          </a:xfrm>
          <a:prstGeom prst="rect">
            <a:avLst/>
          </a:prstGeom>
          <a:noFill/>
          <a:ln>
            <a:noFill/>
          </a:ln>
        </p:spPr>
      </p:pic>
      <p:sp>
        <p:nvSpPr>
          <p:cNvPr id="339" name="Google Shape;339;g3937d203302_0_220"/>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340" name="Google Shape;340;g3937d203302_0_220" title="SENAI_São_Paulo_logo.png"/>
          <p:cNvPicPr preferRelativeResize="0"/>
          <p:nvPr/>
        </p:nvPicPr>
        <p:blipFill rotWithShape="1">
          <a:blip r:embed="rId9">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3937d203302_0_235"/>
          <p:cNvSpPr/>
          <p:nvPr/>
        </p:nvSpPr>
        <p:spPr>
          <a:xfrm>
            <a:off x="163551" y="1367120"/>
            <a:ext cx="2847300" cy="3695400"/>
          </a:xfrm>
          <a:prstGeom prst="roundRect">
            <a:avLst>
              <a:gd fmla="val 4985" name="adj"/>
            </a:avLst>
          </a:prstGeom>
          <a:solidFill>
            <a:srgbClr val="F2F2F2"/>
          </a:solidFill>
          <a:ln cap="flat" cmpd="sng" w="25400">
            <a:solidFill>
              <a:srgbClr val="2525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6" name="Google Shape;346;g3937d203302_0_235"/>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Um exemplo de ETL</a:t>
            </a:r>
            <a:endParaRPr b="0">
              <a:latin typeface="Impact"/>
              <a:ea typeface="Impact"/>
              <a:cs typeface="Impact"/>
              <a:sym typeface="Impact"/>
            </a:endParaRPr>
          </a:p>
        </p:txBody>
      </p:sp>
      <p:pic>
        <p:nvPicPr>
          <p:cNvPr descr="Uma imagem contendo carrinho de carga&#10;&#10;Descrição gerada automaticamente" id="347" name="Google Shape;347;g3937d203302_0_235"/>
          <p:cNvPicPr preferRelativeResize="0"/>
          <p:nvPr/>
        </p:nvPicPr>
        <p:blipFill rotWithShape="1">
          <a:blip r:embed="rId3">
            <a:alphaModFix/>
          </a:blip>
          <a:srcRect b="0" l="0" r="0" t="0"/>
          <a:stretch/>
        </p:blipFill>
        <p:spPr>
          <a:xfrm>
            <a:off x="1817416" y="2674416"/>
            <a:ext cx="735515" cy="735515"/>
          </a:xfrm>
          <a:prstGeom prst="rect">
            <a:avLst/>
          </a:prstGeom>
          <a:noFill/>
          <a:ln>
            <a:noFill/>
          </a:ln>
        </p:spPr>
      </p:pic>
      <p:pic>
        <p:nvPicPr>
          <p:cNvPr descr="Ícone&#10;&#10;Descrição gerada automaticamente" id="348" name="Google Shape;348;g3937d203302_0_235"/>
          <p:cNvPicPr preferRelativeResize="0"/>
          <p:nvPr/>
        </p:nvPicPr>
        <p:blipFill rotWithShape="1">
          <a:blip r:embed="rId4">
            <a:alphaModFix/>
          </a:blip>
          <a:srcRect b="0" l="0" r="0" t="0"/>
          <a:stretch/>
        </p:blipFill>
        <p:spPr>
          <a:xfrm>
            <a:off x="587762" y="1854818"/>
            <a:ext cx="705315" cy="705315"/>
          </a:xfrm>
          <a:prstGeom prst="rect">
            <a:avLst/>
          </a:prstGeom>
          <a:noFill/>
          <a:ln>
            <a:noFill/>
          </a:ln>
        </p:spPr>
      </p:pic>
      <p:pic>
        <p:nvPicPr>
          <p:cNvPr descr="Forma&#10;&#10;Descrição gerada automaticamente com confiança baixa" id="349" name="Google Shape;349;g3937d203302_0_235"/>
          <p:cNvPicPr preferRelativeResize="0"/>
          <p:nvPr/>
        </p:nvPicPr>
        <p:blipFill rotWithShape="1">
          <a:blip r:embed="rId5">
            <a:alphaModFix/>
          </a:blip>
          <a:srcRect b="0" l="0" r="0" t="0"/>
          <a:stretch/>
        </p:blipFill>
        <p:spPr>
          <a:xfrm>
            <a:off x="689233" y="3985933"/>
            <a:ext cx="705779" cy="705779"/>
          </a:xfrm>
          <a:prstGeom prst="rect">
            <a:avLst/>
          </a:prstGeom>
          <a:noFill/>
          <a:ln>
            <a:noFill/>
          </a:ln>
        </p:spPr>
      </p:pic>
      <p:sp>
        <p:nvSpPr>
          <p:cNvPr id="350" name="Google Shape;350;g3937d203302_0_235"/>
          <p:cNvSpPr txBox="1"/>
          <p:nvPr/>
        </p:nvSpPr>
        <p:spPr>
          <a:xfrm>
            <a:off x="1433164" y="1945865"/>
            <a:ext cx="1363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Compras na loja física</a:t>
            </a:r>
            <a:endParaRPr b="0" i="0" sz="1400" u="none" cap="none" strike="noStrike">
              <a:solidFill>
                <a:srgbClr val="000000"/>
              </a:solidFill>
              <a:latin typeface="Arial"/>
              <a:ea typeface="Arial"/>
              <a:cs typeface="Arial"/>
              <a:sym typeface="Arial"/>
            </a:endParaRPr>
          </a:p>
        </p:txBody>
      </p:sp>
      <p:sp>
        <p:nvSpPr>
          <p:cNvPr id="351" name="Google Shape;351;g3937d203302_0_235"/>
          <p:cNvSpPr/>
          <p:nvPr/>
        </p:nvSpPr>
        <p:spPr>
          <a:xfrm>
            <a:off x="3221539" y="1367120"/>
            <a:ext cx="2772600" cy="3695400"/>
          </a:xfrm>
          <a:prstGeom prst="roundRect">
            <a:avLst>
              <a:gd fmla="val 4985" name="adj"/>
            </a:avLst>
          </a:prstGeom>
          <a:solidFill>
            <a:srgbClr val="F2F2F2"/>
          </a:solidFill>
          <a:ln cap="flat" cmpd="sng" w="25400">
            <a:solidFill>
              <a:srgbClr val="2525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2" name="Google Shape;352;g3937d203302_0_235"/>
          <p:cNvSpPr/>
          <p:nvPr/>
        </p:nvSpPr>
        <p:spPr>
          <a:xfrm>
            <a:off x="6207976" y="1367120"/>
            <a:ext cx="2772600" cy="3695400"/>
          </a:xfrm>
          <a:prstGeom prst="roundRect">
            <a:avLst>
              <a:gd fmla="val 4985" name="adj"/>
            </a:avLst>
          </a:prstGeom>
          <a:solidFill>
            <a:srgbClr val="F2F2F2"/>
          </a:solidFill>
          <a:ln cap="flat" cmpd="sng" w="25400">
            <a:solidFill>
              <a:srgbClr val="2525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3" name="Google Shape;353;g3937d203302_0_235"/>
          <p:cNvSpPr txBox="1"/>
          <p:nvPr/>
        </p:nvSpPr>
        <p:spPr>
          <a:xfrm>
            <a:off x="453716" y="2965255"/>
            <a:ext cx="1363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Pedidos em food trucks</a:t>
            </a:r>
            <a:endParaRPr b="0" i="0" sz="1400" u="none" cap="none" strike="noStrike">
              <a:solidFill>
                <a:srgbClr val="000000"/>
              </a:solidFill>
              <a:latin typeface="Arial"/>
              <a:ea typeface="Arial"/>
              <a:cs typeface="Arial"/>
              <a:sym typeface="Arial"/>
            </a:endParaRPr>
          </a:p>
        </p:txBody>
      </p:sp>
      <p:sp>
        <p:nvSpPr>
          <p:cNvPr id="354" name="Google Shape;354;g3937d203302_0_235"/>
          <p:cNvSpPr txBox="1"/>
          <p:nvPr/>
        </p:nvSpPr>
        <p:spPr>
          <a:xfrm>
            <a:off x="1433164" y="4014160"/>
            <a:ext cx="13638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Compras online</a:t>
            </a:r>
            <a:endParaRPr b="0" i="0" sz="1400" u="none" cap="none" strike="noStrike">
              <a:solidFill>
                <a:srgbClr val="000000"/>
              </a:solidFill>
              <a:latin typeface="Arial"/>
              <a:ea typeface="Arial"/>
              <a:cs typeface="Arial"/>
              <a:sym typeface="Arial"/>
            </a:endParaRPr>
          </a:p>
        </p:txBody>
      </p:sp>
      <p:sp>
        <p:nvSpPr>
          <p:cNvPr id="355" name="Google Shape;355;g3937d203302_0_235"/>
          <p:cNvSpPr/>
          <p:nvPr/>
        </p:nvSpPr>
        <p:spPr>
          <a:xfrm>
            <a:off x="2834035" y="2840259"/>
            <a:ext cx="735600" cy="581700"/>
          </a:xfrm>
          <a:prstGeom prst="rightArrow">
            <a:avLst>
              <a:gd fmla="val 50000" name="adj1"/>
              <a:gd fmla="val 50000" name="adj2"/>
            </a:avLst>
          </a:prstGeom>
          <a:solidFill>
            <a:schemeClr val="accent1"/>
          </a:solidFill>
          <a:ln cap="flat" cmpd="sng" w="25400">
            <a:solidFill>
              <a:srgbClr val="2525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6" name="Google Shape;356;g3937d203302_0_235"/>
          <p:cNvSpPr txBox="1"/>
          <p:nvPr/>
        </p:nvSpPr>
        <p:spPr>
          <a:xfrm>
            <a:off x="905340" y="1420591"/>
            <a:ext cx="13638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Extração</a:t>
            </a:r>
            <a:endParaRPr b="0" i="0" sz="1400" u="none" cap="none" strike="noStrike">
              <a:solidFill>
                <a:srgbClr val="000000"/>
              </a:solidFill>
              <a:latin typeface="Arial"/>
              <a:ea typeface="Arial"/>
              <a:cs typeface="Arial"/>
              <a:sym typeface="Arial"/>
            </a:endParaRPr>
          </a:p>
        </p:txBody>
      </p:sp>
      <p:sp>
        <p:nvSpPr>
          <p:cNvPr id="357" name="Google Shape;357;g3937d203302_0_235"/>
          <p:cNvSpPr txBox="1"/>
          <p:nvPr/>
        </p:nvSpPr>
        <p:spPr>
          <a:xfrm>
            <a:off x="3769112" y="1420591"/>
            <a:ext cx="1655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Transformação</a:t>
            </a:r>
            <a:endParaRPr b="0" i="0" sz="1400" u="none" cap="none" strike="noStrike">
              <a:solidFill>
                <a:srgbClr val="000000"/>
              </a:solidFill>
              <a:latin typeface="Arial"/>
              <a:ea typeface="Arial"/>
              <a:cs typeface="Arial"/>
              <a:sym typeface="Arial"/>
            </a:endParaRPr>
          </a:p>
        </p:txBody>
      </p:sp>
      <p:sp>
        <p:nvSpPr>
          <p:cNvPr id="358" name="Google Shape;358;g3937d203302_0_235"/>
          <p:cNvSpPr txBox="1"/>
          <p:nvPr/>
        </p:nvSpPr>
        <p:spPr>
          <a:xfrm>
            <a:off x="6794228" y="1420591"/>
            <a:ext cx="15999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Arial"/>
                <a:ea typeface="Arial"/>
                <a:cs typeface="Arial"/>
                <a:sym typeface="Arial"/>
              </a:rPr>
              <a:t>Carregamento</a:t>
            </a:r>
            <a:endParaRPr b="0" i="0" sz="1400" u="none" cap="none" strike="noStrike">
              <a:solidFill>
                <a:srgbClr val="000000"/>
              </a:solidFill>
              <a:latin typeface="Arial"/>
              <a:ea typeface="Arial"/>
              <a:cs typeface="Arial"/>
              <a:sym typeface="Arial"/>
            </a:endParaRPr>
          </a:p>
        </p:txBody>
      </p:sp>
      <p:pic>
        <p:nvPicPr>
          <p:cNvPr descr="Ícone&#10;&#10;Descrição gerada automaticamente" id="359" name="Google Shape;359;g3937d203302_0_235"/>
          <p:cNvPicPr preferRelativeResize="0"/>
          <p:nvPr/>
        </p:nvPicPr>
        <p:blipFill rotWithShape="1">
          <a:blip r:embed="rId6">
            <a:alphaModFix/>
          </a:blip>
          <a:srcRect b="0" l="0" r="0" t="0"/>
          <a:stretch/>
        </p:blipFill>
        <p:spPr>
          <a:xfrm>
            <a:off x="3532379" y="1988563"/>
            <a:ext cx="407718" cy="407718"/>
          </a:xfrm>
          <a:prstGeom prst="rect">
            <a:avLst/>
          </a:prstGeom>
          <a:noFill/>
          <a:ln>
            <a:noFill/>
          </a:ln>
        </p:spPr>
      </p:pic>
      <p:pic>
        <p:nvPicPr>
          <p:cNvPr descr="Ícone&#10;&#10;Descrição gerada automaticamente" id="360" name="Google Shape;360;g3937d203302_0_235"/>
          <p:cNvPicPr preferRelativeResize="0"/>
          <p:nvPr/>
        </p:nvPicPr>
        <p:blipFill rotWithShape="1">
          <a:blip r:embed="rId6">
            <a:alphaModFix/>
          </a:blip>
          <a:srcRect b="0" l="0" r="0" t="0"/>
          <a:stretch/>
        </p:blipFill>
        <p:spPr>
          <a:xfrm>
            <a:off x="3657616" y="2910409"/>
            <a:ext cx="407718" cy="407718"/>
          </a:xfrm>
          <a:prstGeom prst="rect">
            <a:avLst/>
          </a:prstGeom>
          <a:noFill/>
          <a:ln>
            <a:noFill/>
          </a:ln>
        </p:spPr>
      </p:pic>
      <p:pic>
        <p:nvPicPr>
          <p:cNvPr descr="Ícone&#10;&#10;Descrição gerada automaticamente" id="361" name="Google Shape;361;g3937d203302_0_235"/>
          <p:cNvPicPr preferRelativeResize="0"/>
          <p:nvPr/>
        </p:nvPicPr>
        <p:blipFill rotWithShape="1">
          <a:blip r:embed="rId6">
            <a:alphaModFix/>
          </a:blip>
          <a:srcRect b="0" l="0" r="0" t="0"/>
          <a:stretch/>
        </p:blipFill>
        <p:spPr>
          <a:xfrm>
            <a:off x="3532379" y="3985933"/>
            <a:ext cx="407718" cy="407718"/>
          </a:xfrm>
          <a:prstGeom prst="rect">
            <a:avLst/>
          </a:prstGeom>
          <a:noFill/>
          <a:ln>
            <a:noFill/>
          </a:ln>
        </p:spPr>
      </p:pic>
      <p:sp>
        <p:nvSpPr>
          <p:cNvPr id="362" name="Google Shape;362;g3937d203302_0_235"/>
          <p:cNvSpPr txBox="1"/>
          <p:nvPr/>
        </p:nvSpPr>
        <p:spPr>
          <a:xfrm>
            <a:off x="3915123" y="2038533"/>
            <a:ext cx="13638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Funcionários</a:t>
            </a:r>
            <a:endParaRPr b="0" i="0" sz="1400" u="none" cap="none" strike="noStrike">
              <a:solidFill>
                <a:srgbClr val="000000"/>
              </a:solidFill>
              <a:latin typeface="Arial"/>
              <a:ea typeface="Arial"/>
              <a:cs typeface="Arial"/>
              <a:sym typeface="Arial"/>
            </a:endParaRPr>
          </a:p>
        </p:txBody>
      </p:sp>
      <p:sp>
        <p:nvSpPr>
          <p:cNvPr id="363" name="Google Shape;363;g3937d203302_0_235"/>
          <p:cNvSpPr txBox="1"/>
          <p:nvPr/>
        </p:nvSpPr>
        <p:spPr>
          <a:xfrm>
            <a:off x="4023216" y="2960380"/>
            <a:ext cx="8505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Pedidos</a:t>
            </a:r>
            <a:endParaRPr b="0" i="0" sz="1400" u="none" cap="none" strike="noStrike">
              <a:solidFill>
                <a:srgbClr val="000000"/>
              </a:solidFill>
              <a:latin typeface="Arial"/>
              <a:ea typeface="Arial"/>
              <a:cs typeface="Arial"/>
              <a:sym typeface="Arial"/>
            </a:endParaRPr>
          </a:p>
        </p:txBody>
      </p:sp>
      <p:sp>
        <p:nvSpPr>
          <p:cNvPr id="364" name="Google Shape;364;g3937d203302_0_235"/>
          <p:cNvSpPr txBox="1"/>
          <p:nvPr/>
        </p:nvSpPr>
        <p:spPr>
          <a:xfrm>
            <a:off x="3798637" y="4035903"/>
            <a:ext cx="9294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Estoque</a:t>
            </a:r>
            <a:endParaRPr b="0" i="0" sz="1400" u="none" cap="none" strike="noStrike">
              <a:solidFill>
                <a:srgbClr val="000000"/>
              </a:solidFill>
              <a:latin typeface="Arial"/>
              <a:ea typeface="Arial"/>
              <a:cs typeface="Arial"/>
              <a:sym typeface="Arial"/>
            </a:endParaRPr>
          </a:p>
        </p:txBody>
      </p:sp>
      <p:cxnSp>
        <p:nvCxnSpPr>
          <p:cNvPr id="365" name="Google Shape;365;g3937d203302_0_235"/>
          <p:cNvCxnSpPr>
            <a:stCxn id="362" idx="2"/>
            <a:endCxn id="366" idx="0"/>
          </p:cNvCxnSpPr>
          <p:nvPr/>
        </p:nvCxnSpPr>
        <p:spPr>
          <a:xfrm flipH="1" rot="-5400000">
            <a:off x="4839873" y="2103483"/>
            <a:ext cx="450300" cy="936000"/>
          </a:xfrm>
          <a:prstGeom prst="curvedConnector3">
            <a:avLst>
              <a:gd fmla="val 49993" name="adj1"/>
            </a:avLst>
          </a:prstGeom>
          <a:noFill/>
          <a:ln cap="flat" cmpd="sng" w="76200">
            <a:solidFill>
              <a:srgbClr val="565656"/>
            </a:solidFill>
            <a:prstDash val="solid"/>
            <a:round/>
            <a:headEnd len="sm" w="sm" type="none"/>
            <a:tailEnd len="med" w="med" type="triangle"/>
          </a:ln>
        </p:spPr>
      </p:cxnSp>
      <p:cxnSp>
        <p:nvCxnSpPr>
          <p:cNvPr id="367" name="Google Shape;367;g3937d203302_0_235"/>
          <p:cNvCxnSpPr>
            <a:stCxn id="363" idx="3"/>
          </p:cNvCxnSpPr>
          <p:nvPr/>
        </p:nvCxnSpPr>
        <p:spPr>
          <a:xfrm>
            <a:off x="4873716" y="3114280"/>
            <a:ext cx="309300" cy="9600"/>
          </a:xfrm>
          <a:prstGeom prst="curvedConnector3">
            <a:avLst>
              <a:gd fmla="val 50000" name="adj1"/>
            </a:avLst>
          </a:prstGeom>
          <a:noFill/>
          <a:ln cap="flat" cmpd="sng" w="76200">
            <a:solidFill>
              <a:srgbClr val="565656"/>
            </a:solidFill>
            <a:prstDash val="solid"/>
            <a:round/>
            <a:headEnd len="sm" w="sm" type="none"/>
            <a:tailEnd len="med" w="med" type="triangle"/>
          </a:ln>
        </p:spPr>
      </p:cxnSp>
      <p:cxnSp>
        <p:nvCxnSpPr>
          <p:cNvPr id="368" name="Google Shape;368;g3937d203302_0_235"/>
          <p:cNvCxnSpPr>
            <a:endCxn id="366" idx="2"/>
          </p:cNvCxnSpPr>
          <p:nvPr/>
        </p:nvCxnSpPr>
        <p:spPr>
          <a:xfrm rot="-5400000">
            <a:off x="4700122" y="3476381"/>
            <a:ext cx="871800" cy="794100"/>
          </a:xfrm>
          <a:prstGeom prst="curvedConnector3">
            <a:avLst>
              <a:gd fmla="val 50008" name="adj1"/>
            </a:avLst>
          </a:prstGeom>
          <a:noFill/>
          <a:ln cap="flat" cmpd="sng" w="76200">
            <a:solidFill>
              <a:srgbClr val="565656"/>
            </a:solidFill>
            <a:prstDash val="solid"/>
            <a:round/>
            <a:headEnd len="sm" w="sm" type="none"/>
            <a:tailEnd len="med" w="med" type="triangle"/>
          </a:ln>
        </p:spPr>
      </p:cxnSp>
      <p:sp>
        <p:nvSpPr>
          <p:cNvPr id="369" name="Google Shape;369;g3937d203302_0_235"/>
          <p:cNvSpPr/>
          <p:nvPr/>
        </p:nvSpPr>
        <p:spPr>
          <a:xfrm>
            <a:off x="5827716" y="2823480"/>
            <a:ext cx="735600" cy="581700"/>
          </a:xfrm>
          <a:prstGeom prst="rightArrow">
            <a:avLst>
              <a:gd fmla="val 50000" name="adj1"/>
              <a:gd fmla="val 50000" name="adj2"/>
            </a:avLst>
          </a:prstGeom>
          <a:solidFill>
            <a:schemeClr val="accent1"/>
          </a:solidFill>
          <a:ln cap="flat" cmpd="sng" w="25400">
            <a:solidFill>
              <a:srgbClr val="2525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Ícone&#10;&#10;Descrição gerada automaticamente" id="370" name="Google Shape;370;g3937d203302_0_235"/>
          <p:cNvPicPr preferRelativeResize="0"/>
          <p:nvPr/>
        </p:nvPicPr>
        <p:blipFill rotWithShape="1">
          <a:blip r:embed="rId7">
            <a:alphaModFix/>
          </a:blip>
          <a:srcRect b="0" l="0" r="0" t="0"/>
          <a:stretch/>
        </p:blipFill>
        <p:spPr>
          <a:xfrm>
            <a:off x="6673950" y="2188954"/>
            <a:ext cx="2000837" cy="2000837"/>
          </a:xfrm>
          <a:prstGeom prst="rect">
            <a:avLst/>
          </a:prstGeom>
          <a:noFill/>
          <a:ln>
            <a:noFill/>
          </a:ln>
        </p:spPr>
      </p:pic>
      <p:pic>
        <p:nvPicPr>
          <p:cNvPr descr="Data Cleaning as a Service — INDICA" id="366" name="Google Shape;366;g3937d203302_0_235"/>
          <p:cNvPicPr preferRelativeResize="0"/>
          <p:nvPr/>
        </p:nvPicPr>
        <p:blipFill rotWithShape="1">
          <a:blip r:embed="rId8">
            <a:alphaModFix/>
          </a:blip>
          <a:srcRect b="0" l="0" r="0" t="0"/>
          <a:stretch/>
        </p:blipFill>
        <p:spPr>
          <a:xfrm>
            <a:off x="5212582" y="2796551"/>
            <a:ext cx="640980" cy="640980"/>
          </a:xfrm>
          <a:prstGeom prst="rect">
            <a:avLst/>
          </a:prstGeom>
          <a:noFill/>
          <a:ln>
            <a:noFill/>
          </a:ln>
        </p:spPr>
      </p:pic>
      <p:sp>
        <p:nvSpPr>
          <p:cNvPr id="371" name="Google Shape;371;g3937d203302_0_235"/>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372" name="Google Shape;372;g3937d203302_0_235" title="SENAI_São_Paulo_logo.png"/>
          <p:cNvPicPr preferRelativeResize="0"/>
          <p:nvPr/>
        </p:nvPicPr>
        <p:blipFill rotWithShape="1">
          <a:blip r:embed="rId9">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937d203302_0_266"/>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Material complementar</a:t>
            </a:r>
            <a:endParaRPr b="0">
              <a:latin typeface="Impact"/>
              <a:ea typeface="Impact"/>
              <a:cs typeface="Impact"/>
              <a:sym typeface="Impact"/>
            </a:endParaRPr>
          </a:p>
        </p:txBody>
      </p:sp>
      <p:sp>
        <p:nvSpPr>
          <p:cNvPr id="378" name="Google Shape;378;g3937d203302_0_266"/>
          <p:cNvSpPr txBox="1"/>
          <p:nvPr>
            <p:ph idx="1" type="body"/>
          </p:nvPr>
        </p:nvSpPr>
        <p:spPr>
          <a:xfrm>
            <a:off x="454387" y="2127040"/>
            <a:ext cx="3165900" cy="2746200"/>
          </a:xfrm>
          <a:prstGeom prst="rect">
            <a:avLst/>
          </a:prstGeom>
          <a:noFill/>
          <a:ln>
            <a:noFill/>
          </a:ln>
        </p:spPr>
        <p:txBody>
          <a:bodyPr anchorCtr="0" anchor="t" bIns="91425" lIns="91425" spcFirstLastPara="1" rIns="91425" wrap="square" tIns="91425">
            <a:normAutofit/>
          </a:bodyPr>
          <a:lstStyle/>
          <a:p>
            <a:pPr indent="0" lvl="0" marL="146050" rtl="0" algn="l">
              <a:lnSpc>
                <a:spcPct val="115000"/>
              </a:lnSpc>
              <a:spcBef>
                <a:spcPts val="0"/>
              </a:spcBef>
              <a:spcAft>
                <a:spcPts val="0"/>
              </a:spcAft>
              <a:buSzPts val="1300"/>
              <a:buNone/>
            </a:pPr>
            <a:r>
              <a:rPr b="0" i="0" lang="pt-BR" sz="2000">
                <a:solidFill>
                  <a:schemeClr val="dk2"/>
                </a:solidFill>
                <a:latin typeface="Roboto"/>
                <a:ea typeface="Roboto"/>
                <a:cs typeface="Roboto"/>
                <a:sym typeface="Roboto"/>
              </a:rPr>
              <a:t>Veja nos materiais complementares:</a:t>
            </a:r>
            <a:endParaRPr/>
          </a:p>
          <a:p>
            <a:pPr indent="0" lvl="0" marL="146050" rtl="0" algn="l">
              <a:lnSpc>
                <a:spcPct val="115000"/>
              </a:lnSpc>
              <a:spcBef>
                <a:spcPts val="0"/>
              </a:spcBef>
              <a:spcAft>
                <a:spcPts val="0"/>
              </a:spcAft>
              <a:buSzPts val="1300"/>
              <a:buNone/>
            </a:pPr>
            <a:r>
              <a:t/>
            </a:r>
            <a:endParaRPr sz="2000">
              <a:solidFill>
                <a:schemeClr val="dk2"/>
              </a:solidFill>
              <a:latin typeface="Roboto"/>
              <a:ea typeface="Roboto"/>
              <a:cs typeface="Roboto"/>
              <a:sym typeface="Roboto"/>
            </a:endParaRPr>
          </a:p>
          <a:p>
            <a:pPr indent="0" lvl="0" marL="146050" rtl="0" algn="l">
              <a:lnSpc>
                <a:spcPct val="115000"/>
              </a:lnSpc>
              <a:spcBef>
                <a:spcPts val="0"/>
              </a:spcBef>
              <a:spcAft>
                <a:spcPts val="0"/>
              </a:spcAft>
              <a:buSzPts val="1300"/>
              <a:buNone/>
            </a:pPr>
            <a:r>
              <a:rPr b="1" lang="pt-BR" sz="2000">
                <a:solidFill>
                  <a:schemeClr val="dk2"/>
                </a:solidFill>
                <a:latin typeface="Roboto"/>
                <a:ea typeface="Roboto"/>
                <a:cs typeface="Roboto"/>
                <a:sym typeface="Roboto"/>
              </a:rPr>
              <a:t>ETL </a:t>
            </a:r>
            <a:r>
              <a:rPr b="1" lang="pt-BR" sz="1600">
                <a:solidFill>
                  <a:schemeClr val="dk2"/>
                </a:solidFill>
                <a:latin typeface="Roboto"/>
                <a:ea typeface="Roboto"/>
                <a:cs typeface="Roboto"/>
                <a:sym typeface="Roboto"/>
              </a:rPr>
              <a:t>(extract, transform, load)</a:t>
            </a:r>
            <a:endParaRPr/>
          </a:p>
          <a:p>
            <a:pPr indent="-228600" lvl="0" marL="457200" rtl="0" algn="l">
              <a:lnSpc>
                <a:spcPct val="115000"/>
              </a:lnSpc>
              <a:spcBef>
                <a:spcPts val="0"/>
              </a:spcBef>
              <a:spcAft>
                <a:spcPts val="0"/>
              </a:spcAft>
              <a:buSzPts val="1300"/>
              <a:buFont typeface="Arial"/>
              <a:buNone/>
            </a:pPr>
            <a:r>
              <a:t/>
            </a:r>
            <a:endParaRPr b="0" i="0" sz="2000">
              <a:solidFill>
                <a:schemeClr val="dk2"/>
              </a:solidFill>
              <a:latin typeface="Roboto"/>
              <a:ea typeface="Roboto"/>
              <a:cs typeface="Roboto"/>
              <a:sym typeface="Roboto"/>
            </a:endParaRPr>
          </a:p>
        </p:txBody>
      </p:sp>
      <p:pic>
        <p:nvPicPr>
          <p:cNvPr id="379" name="Google Shape;379;g3937d203302_0_266" title="[POWER BI] EXTRAIR, TRANSFORMAR E CARREGAR OS DADOS - Power Query Editor"/>
          <p:cNvPicPr preferRelativeResize="0"/>
          <p:nvPr/>
        </p:nvPicPr>
        <p:blipFill rotWithShape="1">
          <a:blip r:embed="rId3">
            <a:alphaModFix/>
          </a:blip>
          <a:srcRect b="0" l="0" r="0" t="0"/>
          <a:stretch/>
        </p:blipFill>
        <p:spPr>
          <a:xfrm>
            <a:off x="3620429" y="1504795"/>
            <a:ext cx="5202663" cy="2939505"/>
          </a:xfrm>
          <a:prstGeom prst="rect">
            <a:avLst/>
          </a:prstGeom>
          <a:noFill/>
          <a:ln>
            <a:noFill/>
          </a:ln>
        </p:spPr>
      </p:pic>
      <p:sp>
        <p:nvSpPr>
          <p:cNvPr id="380" name="Google Shape;380;g3937d203302_0_266"/>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381" name="Google Shape;381;g3937d203302_0_266"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3937d203302_0_274"/>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Data Warehouse</a:t>
            </a:r>
            <a:endParaRPr b="0">
              <a:latin typeface="Impact"/>
              <a:ea typeface="Impact"/>
              <a:cs typeface="Impact"/>
              <a:sym typeface="Impact"/>
            </a:endParaRPr>
          </a:p>
        </p:txBody>
      </p:sp>
      <p:sp>
        <p:nvSpPr>
          <p:cNvPr id="387" name="Google Shape;387;g3937d203302_0_274"/>
          <p:cNvSpPr txBox="1"/>
          <p:nvPr>
            <p:ph idx="1" type="body"/>
          </p:nvPr>
        </p:nvSpPr>
        <p:spPr>
          <a:xfrm>
            <a:off x="394009" y="1686661"/>
            <a:ext cx="3263700" cy="27036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just">
              <a:lnSpc>
                <a:spcPct val="200000"/>
              </a:lnSpc>
              <a:spcBef>
                <a:spcPts val="0"/>
              </a:spcBef>
              <a:spcAft>
                <a:spcPts val="0"/>
              </a:spcAft>
              <a:buSzPct val="64998"/>
              <a:buNone/>
            </a:pPr>
            <a:r>
              <a:rPr b="1" lang="pt-BR" sz="2000">
                <a:solidFill>
                  <a:srgbClr val="374151"/>
                </a:solidFill>
                <a:latin typeface="Calibri"/>
                <a:ea typeface="Calibri"/>
                <a:cs typeface="Calibri"/>
                <a:sym typeface="Calibri"/>
              </a:rPr>
              <a:t>O que é?</a:t>
            </a:r>
            <a:endParaRPr/>
          </a:p>
          <a:p>
            <a:pPr indent="0" lvl="0" marL="0" rtl="0" algn="l">
              <a:lnSpc>
                <a:spcPct val="100000"/>
              </a:lnSpc>
              <a:spcBef>
                <a:spcPts val="0"/>
              </a:spcBef>
              <a:spcAft>
                <a:spcPts val="0"/>
              </a:spcAft>
              <a:buSzPct val="81250"/>
              <a:buNone/>
            </a:pPr>
            <a:r>
              <a:rPr lang="pt-BR" sz="1600">
                <a:solidFill>
                  <a:srgbClr val="374151"/>
                </a:solidFill>
                <a:latin typeface="Calibri"/>
                <a:ea typeface="Calibri"/>
                <a:cs typeface="Calibri"/>
                <a:sym typeface="Calibri"/>
              </a:rPr>
              <a:t>É como uma grande biblioteca onde todas as informações importantes de uma empresa são guardadas em um só lugar. Ele reúne dados de diferentes fontes e os organiza de uma forma que seja fácil de entender e usar para tomar decisões importantes.</a:t>
            </a:r>
            <a:endParaRPr/>
          </a:p>
          <a:p>
            <a:pPr indent="0" lvl="0" marL="0" rtl="0" algn="just">
              <a:lnSpc>
                <a:spcPct val="200000"/>
              </a:lnSpc>
              <a:spcBef>
                <a:spcPts val="0"/>
              </a:spcBef>
              <a:spcAft>
                <a:spcPts val="0"/>
              </a:spcAft>
              <a:buSzPct val="81250"/>
              <a:buNone/>
            </a:pPr>
            <a:r>
              <a:t/>
            </a:r>
            <a:endParaRPr sz="1600">
              <a:solidFill>
                <a:srgbClr val="374151"/>
              </a:solidFill>
              <a:latin typeface="Calibri"/>
              <a:ea typeface="Calibri"/>
              <a:cs typeface="Calibri"/>
              <a:sym typeface="Calibri"/>
            </a:endParaRPr>
          </a:p>
          <a:p>
            <a:pPr indent="0" lvl="0" marL="457200" rtl="0" algn="l">
              <a:lnSpc>
                <a:spcPct val="200000"/>
              </a:lnSpc>
              <a:spcBef>
                <a:spcPts val="0"/>
              </a:spcBef>
              <a:spcAft>
                <a:spcPts val="0"/>
              </a:spcAft>
              <a:buSzPct val="81250"/>
              <a:buNone/>
            </a:pPr>
            <a:r>
              <a:t/>
            </a:r>
            <a:endParaRPr sz="1600">
              <a:solidFill>
                <a:srgbClr val="374151"/>
              </a:solidFill>
              <a:latin typeface="Calibri"/>
              <a:ea typeface="Calibri"/>
              <a:cs typeface="Calibri"/>
              <a:sym typeface="Calibri"/>
            </a:endParaRPr>
          </a:p>
        </p:txBody>
      </p:sp>
      <p:pic>
        <p:nvPicPr>
          <p:cNvPr id="388" name="Google Shape;388;g3937d203302_0_274" title="How Big Is Google Data Center"/>
          <p:cNvPicPr preferRelativeResize="0"/>
          <p:nvPr/>
        </p:nvPicPr>
        <p:blipFill rotWithShape="1">
          <a:blip r:embed="rId3">
            <a:alphaModFix/>
          </a:blip>
          <a:srcRect b="0" l="0" r="0" t="0"/>
          <a:stretch/>
        </p:blipFill>
        <p:spPr>
          <a:xfrm>
            <a:off x="3785219" y="1126437"/>
            <a:ext cx="5116150" cy="2890625"/>
          </a:xfrm>
          <a:prstGeom prst="rect">
            <a:avLst/>
          </a:prstGeom>
          <a:noFill/>
          <a:ln>
            <a:noFill/>
          </a:ln>
        </p:spPr>
      </p:pic>
      <p:sp>
        <p:nvSpPr>
          <p:cNvPr id="389" name="Google Shape;389;g3937d203302_0_274"/>
          <p:cNvSpPr txBox="1"/>
          <p:nvPr/>
        </p:nvSpPr>
        <p:spPr>
          <a:xfrm>
            <a:off x="3657599" y="4004688"/>
            <a:ext cx="5243700" cy="965100"/>
          </a:xfrm>
          <a:prstGeom prst="rect">
            <a:avLst/>
          </a:prstGeom>
          <a:noFill/>
          <a:ln>
            <a:noFill/>
          </a:ln>
        </p:spPr>
        <p:txBody>
          <a:bodyPr anchorCtr="0" anchor="t" bIns="91425" lIns="91425" spcFirstLastPara="1" rIns="91425" wrap="square" tIns="91425">
            <a:normAutofit/>
          </a:bodyPr>
          <a:lstStyle/>
          <a:p>
            <a:pPr indent="0" lvl="0" marL="0" marR="0" rtl="0" algn="just">
              <a:lnSpc>
                <a:spcPct val="200000"/>
              </a:lnSpc>
              <a:spcBef>
                <a:spcPts val="0"/>
              </a:spcBef>
              <a:spcAft>
                <a:spcPts val="0"/>
              </a:spcAft>
              <a:buClr>
                <a:schemeClr val="accent1"/>
              </a:buClr>
              <a:buSzPts val="1857"/>
              <a:buFont typeface="Lato"/>
              <a:buNone/>
            </a:pPr>
            <a:r>
              <a:rPr b="1" i="0" lang="pt-BR" sz="2000" u="sng" cap="none" strike="noStrike">
                <a:solidFill>
                  <a:srgbClr val="FF0000"/>
                </a:solidFill>
                <a:latin typeface="Calibri"/>
                <a:ea typeface="Calibri"/>
                <a:cs typeface="Calibri"/>
                <a:sym typeface="Calibri"/>
                <a:hlinkClick r:id="rId4">
                  <a:extLst>
                    <a:ext uri="{A12FA001-AC4F-418D-AE19-62706E023703}">
                      <ahyp:hlinkClr val="tx"/>
                    </a:ext>
                  </a:extLst>
                </a:hlinkClick>
              </a:rPr>
              <a:t>https://youtu.be/swlKPGOmW4s</a:t>
            </a:r>
            <a:endParaRPr b="0" i="0" sz="1600" u="none" cap="none" strike="noStrike">
              <a:solidFill>
                <a:srgbClr val="FF0000"/>
              </a:solidFill>
              <a:latin typeface="Calibri"/>
              <a:ea typeface="Calibri"/>
              <a:cs typeface="Calibri"/>
              <a:sym typeface="Calibri"/>
            </a:endParaRPr>
          </a:p>
        </p:txBody>
      </p:sp>
      <p:sp>
        <p:nvSpPr>
          <p:cNvPr id="390" name="Google Shape;390;g3937d203302_0_274"/>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391" name="Google Shape;391;g3937d203302_0_274" title="SENAI_São_Paulo_logo.png"/>
          <p:cNvPicPr preferRelativeResize="0"/>
          <p:nvPr/>
        </p:nvPicPr>
        <p:blipFill rotWithShape="1">
          <a:blip r:embed="rId5">
            <a:alphaModFix/>
          </a:blip>
          <a:srcRect b="0" l="0" r="0" t="0"/>
          <a:stretch/>
        </p:blipFill>
        <p:spPr>
          <a:xfrm>
            <a:off x="7629275" y="63340"/>
            <a:ext cx="1439427" cy="3689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
                                        <p:tgtEl>
                                          <p:spTgt spid="3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937d203302_0_283"/>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Material complementar!</a:t>
            </a:r>
            <a:endParaRPr b="0">
              <a:latin typeface="Impact"/>
              <a:ea typeface="Impact"/>
              <a:cs typeface="Impact"/>
              <a:sym typeface="Impact"/>
            </a:endParaRPr>
          </a:p>
        </p:txBody>
      </p:sp>
      <p:sp>
        <p:nvSpPr>
          <p:cNvPr id="397" name="Google Shape;397;g3937d203302_0_283"/>
          <p:cNvSpPr txBox="1"/>
          <p:nvPr>
            <p:ph idx="1" type="body"/>
          </p:nvPr>
        </p:nvSpPr>
        <p:spPr>
          <a:xfrm>
            <a:off x="454387" y="2127040"/>
            <a:ext cx="2697600" cy="2746200"/>
          </a:xfrm>
          <a:prstGeom prst="rect">
            <a:avLst/>
          </a:prstGeom>
          <a:noFill/>
          <a:ln>
            <a:noFill/>
          </a:ln>
        </p:spPr>
        <p:txBody>
          <a:bodyPr anchorCtr="0" anchor="t" bIns="91425" lIns="91425" spcFirstLastPara="1" rIns="91425" wrap="square" tIns="91425">
            <a:normAutofit/>
          </a:bodyPr>
          <a:lstStyle/>
          <a:p>
            <a:pPr indent="0" lvl="0" marL="146050" rtl="0" algn="l">
              <a:lnSpc>
                <a:spcPct val="115000"/>
              </a:lnSpc>
              <a:spcBef>
                <a:spcPts val="0"/>
              </a:spcBef>
              <a:spcAft>
                <a:spcPts val="0"/>
              </a:spcAft>
              <a:buSzPts val="1300"/>
              <a:buNone/>
            </a:pPr>
            <a:r>
              <a:rPr b="0" i="0" lang="pt-BR" sz="2000">
                <a:solidFill>
                  <a:schemeClr val="dk2"/>
                </a:solidFill>
                <a:latin typeface="Roboto"/>
                <a:ea typeface="Roboto"/>
                <a:cs typeface="Roboto"/>
                <a:sym typeface="Roboto"/>
              </a:rPr>
              <a:t>Veja nos materiais complementares:</a:t>
            </a:r>
            <a:endParaRPr/>
          </a:p>
          <a:p>
            <a:pPr indent="0" lvl="0" marL="146050" rtl="0" algn="l">
              <a:lnSpc>
                <a:spcPct val="115000"/>
              </a:lnSpc>
              <a:spcBef>
                <a:spcPts val="0"/>
              </a:spcBef>
              <a:spcAft>
                <a:spcPts val="0"/>
              </a:spcAft>
              <a:buSzPts val="1300"/>
              <a:buNone/>
            </a:pPr>
            <a:r>
              <a:t/>
            </a:r>
            <a:endParaRPr sz="2000">
              <a:solidFill>
                <a:schemeClr val="dk2"/>
              </a:solidFill>
              <a:latin typeface="Roboto"/>
              <a:ea typeface="Roboto"/>
              <a:cs typeface="Roboto"/>
              <a:sym typeface="Roboto"/>
            </a:endParaRPr>
          </a:p>
          <a:p>
            <a:pPr indent="0" lvl="0" marL="146050" rtl="0" algn="l">
              <a:lnSpc>
                <a:spcPct val="115000"/>
              </a:lnSpc>
              <a:spcBef>
                <a:spcPts val="0"/>
              </a:spcBef>
              <a:spcAft>
                <a:spcPts val="0"/>
              </a:spcAft>
              <a:buSzPts val="1300"/>
              <a:buNone/>
            </a:pPr>
            <a:r>
              <a:rPr b="1" lang="pt-BR" sz="2000">
                <a:solidFill>
                  <a:schemeClr val="dk2"/>
                </a:solidFill>
                <a:latin typeface="Roboto"/>
                <a:ea typeface="Roboto"/>
                <a:cs typeface="Roboto"/>
                <a:sym typeface="Roboto"/>
              </a:rPr>
              <a:t>Data Warehouse</a:t>
            </a:r>
            <a:endParaRPr/>
          </a:p>
          <a:p>
            <a:pPr indent="-228600" lvl="0" marL="457200" rtl="0" algn="l">
              <a:lnSpc>
                <a:spcPct val="115000"/>
              </a:lnSpc>
              <a:spcBef>
                <a:spcPts val="0"/>
              </a:spcBef>
              <a:spcAft>
                <a:spcPts val="0"/>
              </a:spcAft>
              <a:buSzPts val="1300"/>
              <a:buFont typeface="Arial"/>
              <a:buNone/>
            </a:pPr>
            <a:r>
              <a:t/>
            </a:r>
            <a:endParaRPr b="0" i="0" sz="2000">
              <a:solidFill>
                <a:schemeClr val="dk2"/>
              </a:solidFill>
              <a:latin typeface="Roboto"/>
              <a:ea typeface="Roboto"/>
              <a:cs typeface="Roboto"/>
              <a:sym typeface="Roboto"/>
            </a:endParaRPr>
          </a:p>
        </p:txBody>
      </p:sp>
      <p:pic>
        <p:nvPicPr>
          <p:cNvPr id="398" name="Google Shape;398;g3937d203302_0_283" title="Data Warehouse / Data Lake / Data Lakehouse // Dicionário do Programador"/>
          <p:cNvPicPr preferRelativeResize="0"/>
          <p:nvPr/>
        </p:nvPicPr>
        <p:blipFill rotWithShape="1">
          <a:blip r:embed="rId3">
            <a:alphaModFix/>
          </a:blip>
          <a:srcRect b="0" l="0" r="0" t="0"/>
          <a:stretch/>
        </p:blipFill>
        <p:spPr>
          <a:xfrm>
            <a:off x="3327402" y="1203553"/>
            <a:ext cx="5329044" cy="3010910"/>
          </a:xfrm>
          <a:prstGeom prst="rect">
            <a:avLst/>
          </a:prstGeom>
          <a:noFill/>
          <a:ln>
            <a:noFill/>
          </a:ln>
        </p:spPr>
      </p:pic>
      <p:sp>
        <p:nvSpPr>
          <p:cNvPr id="399" name="Google Shape;399;g3937d203302_0_283"/>
          <p:cNvSpPr txBox="1"/>
          <p:nvPr/>
        </p:nvSpPr>
        <p:spPr>
          <a:xfrm>
            <a:off x="3241288" y="4214463"/>
            <a:ext cx="5448300" cy="828600"/>
          </a:xfrm>
          <a:prstGeom prst="rect">
            <a:avLst/>
          </a:prstGeom>
          <a:noFill/>
          <a:ln>
            <a:noFill/>
          </a:ln>
        </p:spPr>
        <p:txBody>
          <a:bodyPr anchorCtr="0" anchor="t" bIns="91425" lIns="91425" spcFirstLastPara="1" rIns="91425" wrap="square" tIns="91425">
            <a:normAutofit/>
          </a:bodyPr>
          <a:lstStyle/>
          <a:p>
            <a:pPr indent="0" lvl="0" marL="0" marR="0" rtl="0" algn="just">
              <a:lnSpc>
                <a:spcPct val="200000"/>
              </a:lnSpc>
              <a:spcBef>
                <a:spcPts val="0"/>
              </a:spcBef>
              <a:spcAft>
                <a:spcPts val="0"/>
              </a:spcAft>
              <a:buClr>
                <a:schemeClr val="accent1"/>
              </a:buClr>
              <a:buSzPts val="2364"/>
              <a:buFont typeface="Lato"/>
              <a:buNone/>
            </a:pPr>
            <a:r>
              <a:rPr b="1" i="0" lang="pt-BR" sz="2000" u="sng" cap="none" strike="noStrike">
                <a:solidFill>
                  <a:srgbClr val="FF0000"/>
                </a:solidFill>
                <a:latin typeface="Calibri"/>
                <a:ea typeface="Calibri"/>
                <a:cs typeface="Calibri"/>
                <a:sym typeface="Calibri"/>
                <a:hlinkClick r:id="rId4">
                  <a:extLst>
                    <a:ext uri="{A12FA001-AC4F-418D-AE19-62706E023703}">
                      <ahyp:hlinkClr val="tx"/>
                    </a:ext>
                  </a:extLst>
                </a:hlinkClick>
              </a:rPr>
              <a:t>https://youtu.be/V07Pk4de-5M</a:t>
            </a:r>
            <a:endParaRPr b="1" i="0" sz="2000" u="none" cap="none" strike="noStrike">
              <a:solidFill>
                <a:srgbClr val="FF0000"/>
              </a:solidFill>
              <a:latin typeface="Calibri"/>
              <a:ea typeface="Calibri"/>
              <a:cs typeface="Calibri"/>
              <a:sym typeface="Calibri"/>
            </a:endParaRPr>
          </a:p>
        </p:txBody>
      </p:sp>
      <p:sp>
        <p:nvSpPr>
          <p:cNvPr id="400" name="Google Shape;400;g3937d203302_0_283"/>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401" name="Google Shape;401;g3937d203302_0_283" title="SENAI_São_Paulo_logo.png"/>
          <p:cNvPicPr preferRelativeResize="0"/>
          <p:nvPr/>
        </p:nvPicPr>
        <p:blipFill rotWithShape="1">
          <a:blip r:embed="rId5">
            <a:alphaModFix/>
          </a:blip>
          <a:srcRect b="0" l="0" r="0" t="0"/>
          <a:stretch/>
        </p:blipFill>
        <p:spPr>
          <a:xfrm>
            <a:off x="7629275" y="63340"/>
            <a:ext cx="1439427" cy="3689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
                                        <p:tgtEl>
                                          <p:spTgt spid="3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g3937d203302_0_292"/>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Material complementar!</a:t>
            </a:r>
            <a:endParaRPr b="0">
              <a:latin typeface="Impact"/>
              <a:ea typeface="Impact"/>
              <a:cs typeface="Impact"/>
              <a:sym typeface="Impact"/>
            </a:endParaRPr>
          </a:p>
        </p:txBody>
      </p:sp>
      <p:sp>
        <p:nvSpPr>
          <p:cNvPr id="407" name="Google Shape;407;g3937d203302_0_292"/>
          <p:cNvSpPr txBox="1"/>
          <p:nvPr>
            <p:ph idx="1" type="body"/>
          </p:nvPr>
        </p:nvSpPr>
        <p:spPr>
          <a:xfrm>
            <a:off x="454387" y="2127040"/>
            <a:ext cx="2697600" cy="2746200"/>
          </a:xfrm>
          <a:prstGeom prst="rect">
            <a:avLst/>
          </a:prstGeom>
          <a:noFill/>
          <a:ln>
            <a:noFill/>
          </a:ln>
        </p:spPr>
        <p:txBody>
          <a:bodyPr anchorCtr="0" anchor="t" bIns="91425" lIns="91425" spcFirstLastPara="1" rIns="91425" wrap="square" tIns="91425">
            <a:normAutofit/>
          </a:bodyPr>
          <a:lstStyle/>
          <a:p>
            <a:pPr indent="0" lvl="0" marL="146050" rtl="0" algn="l">
              <a:lnSpc>
                <a:spcPct val="115000"/>
              </a:lnSpc>
              <a:spcBef>
                <a:spcPts val="0"/>
              </a:spcBef>
              <a:spcAft>
                <a:spcPts val="0"/>
              </a:spcAft>
              <a:buSzPts val="1300"/>
              <a:buNone/>
            </a:pPr>
            <a:r>
              <a:rPr b="0" i="0" lang="pt-BR" sz="2000">
                <a:solidFill>
                  <a:schemeClr val="dk2"/>
                </a:solidFill>
                <a:latin typeface="Roboto"/>
                <a:ea typeface="Roboto"/>
                <a:cs typeface="Roboto"/>
                <a:sym typeface="Roboto"/>
              </a:rPr>
              <a:t>Veja nos materiais complementares:</a:t>
            </a:r>
            <a:endParaRPr/>
          </a:p>
          <a:p>
            <a:pPr indent="0" lvl="0" marL="146050" rtl="0" algn="l">
              <a:lnSpc>
                <a:spcPct val="115000"/>
              </a:lnSpc>
              <a:spcBef>
                <a:spcPts val="0"/>
              </a:spcBef>
              <a:spcAft>
                <a:spcPts val="0"/>
              </a:spcAft>
              <a:buSzPts val="1300"/>
              <a:buNone/>
            </a:pPr>
            <a:r>
              <a:t/>
            </a:r>
            <a:endParaRPr sz="2000">
              <a:solidFill>
                <a:schemeClr val="dk2"/>
              </a:solidFill>
              <a:latin typeface="Roboto"/>
              <a:ea typeface="Roboto"/>
              <a:cs typeface="Roboto"/>
              <a:sym typeface="Roboto"/>
            </a:endParaRPr>
          </a:p>
          <a:p>
            <a:pPr indent="0" lvl="0" marL="146050" rtl="0" algn="l">
              <a:lnSpc>
                <a:spcPct val="115000"/>
              </a:lnSpc>
              <a:spcBef>
                <a:spcPts val="0"/>
              </a:spcBef>
              <a:spcAft>
                <a:spcPts val="0"/>
              </a:spcAft>
              <a:buSzPts val="1300"/>
              <a:buNone/>
            </a:pPr>
            <a:r>
              <a:rPr b="1" lang="pt-BR" sz="2000">
                <a:solidFill>
                  <a:schemeClr val="dk2"/>
                </a:solidFill>
                <a:latin typeface="Roboto"/>
                <a:ea typeface="Roboto"/>
                <a:cs typeface="Roboto"/>
                <a:sym typeface="Roboto"/>
              </a:rPr>
              <a:t>Big Data</a:t>
            </a:r>
            <a:endParaRPr/>
          </a:p>
          <a:p>
            <a:pPr indent="-228600" lvl="0" marL="457200" rtl="0" algn="l">
              <a:lnSpc>
                <a:spcPct val="115000"/>
              </a:lnSpc>
              <a:spcBef>
                <a:spcPts val="0"/>
              </a:spcBef>
              <a:spcAft>
                <a:spcPts val="0"/>
              </a:spcAft>
              <a:buSzPts val="1300"/>
              <a:buFont typeface="Arial"/>
              <a:buNone/>
            </a:pPr>
            <a:r>
              <a:t/>
            </a:r>
            <a:endParaRPr b="0" i="0" sz="2000">
              <a:solidFill>
                <a:schemeClr val="dk2"/>
              </a:solidFill>
              <a:latin typeface="Roboto"/>
              <a:ea typeface="Roboto"/>
              <a:cs typeface="Roboto"/>
              <a:sym typeface="Roboto"/>
            </a:endParaRPr>
          </a:p>
        </p:txBody>
      </p:sp>
      <p:pic>
        <p:nvPicPr>
          <p:cNvPr id="408" name="Google Shape;408;g3937d203302_0_292" title="Big Data // Dicionário do Programador"/>
          <p:cNvPicPr preferRelativeResize="0"/>
          <p:nvPr/>
        </p:nvPicPr>
        <p:blipFill rotWithShape="1">
          <a:blip r:embed="rId3">
            <a:alphaModFix/>
          </a:blip>
          <a:srcRect b="0" l="0" r="0" t="0"/>
          <a:stretch/>
        </p:blipFill>
        <p:spPr>
          <a:xfrm>
            <a:off x="5497784" y="787743"/>
            <a:ext cx="2556987" cy="1444697"/>
          </a:xfrm>
          <a:prstGeom prst="rect">
            <a:avLst/>
          </a:prstGeom>
          <a:noFill/>
          <a:ln>
            <a:noFill/>
          </a:ln>
        </p:spPr>
      </p:pic>
      <p:pic>
        <p:nvPicPr>
          <p:cNvPr id="409" name="Google Shape;409;g3937d203302_0_292" title="O QUE INTERNET SABE sobre VOCÊ (e você NEM IMAGINA)"/>
          <p:cNvPicPr preferRelativeResize="0"/>
          <p:nvPr/>
        </p:nvPicPr>
        <p:blipFill rotWithShape="1">
          <a:blip r:embed="rId4">
            <a:alphaModFix/>
          </a:blip>
          <a:srcRect b="0" l="0" r="0" t="0"/>
          <a:stretch/>
        </p:blipFill>
        <p:spPr>
          <a:xfrm>
            <a:off x="5514771" y="3069792"/>
            <a:ext cx="2540000" cy="1435100"/>
          </a:xfrm>
          <a:prstGeom prst="rect">
            <a:avLst/>
          </a:prstGeom>
          <a:noFill/>
          <a:ln>
            <a:noFill/>
          </a:ln>
        </p:spPr>
      </p:pic>
      <p:sp>
        <p:nvSpPr>
          <p:cNvPr id="410" name="Google Shape;410;g3937d203302_0_292"/>
          <p:cNvSpPr txBox="1"/>
          <p:nvPr/>
        </p:nvSpPr>
        <p:spPr>
          <a:xfrm>
            <a:off x="5262555" y="4504892"/>
            <a:ext cx="2697600" cy="736800"/>
          </a:xfrm>
          <a:prstGeom prst="rect">
            <a:avLst/>
          </a:prstGeom>
          <a:noFill/>
          <a:ln>
            <a:noFill/>
          </a:ln>
        </p:spPr>
        <p:txBody>
          <a:bodyPr anchorCtr="0" anchor="t" bIns="91425" lIns="91425" spcFirstLastPara="1" rIns="91425" wrap="square" tIns="91425">
            <a:normAutofit/>
          </a:bodyPr>
          <a:lstStyle/>
          <a:p>
            <a:pPr indent="0" lvl="0" marL="146050" marR="0" rtl="0" algn="l">
              <a:lnSpc>
                <a:spcPct val="115000"/>
              </a:lnSpc>
              <a:spcBef>
                <a:spcPts val="0"/>
              </a:spcBef>
              <a:spcAft>
                <a:spcPts val="0"/>
              </a:spcAft>
              <a:buClr>
                <a:schemeClr val="accent1"/>
              </a:buClr>
              <a:buSzPts val="1300"/>
              <a:buFont typeface="Lato"/>
              <a:buNone/>
            </a:pPr>
            <a:r>
              <a:rPr b="0" i="0" lang="pt-BR" sz="1400" u="sng" cap="none" strike="noStrike">
                <a:solidFill>
                  <a:schemeClr val="dk2"/>
                </a:solidFill>
                <a:latin typeface="Roboto"/>
                <a:ea typeface="Roboto"/>
                <a:cs typeface="Roboto"/>
                <a:sym typeface="Roboto"/>
                <a:hlinkClick r:id="rId5">
                  <a:extLst>
                    <a:ext uri="{A12FA001-AC4F-418D-AE19-62706E023703}">
                      <ahyp:hlinkClr val="tx"/>
                    </a:ext>
                  </a:extLst>
                </a:hlinkClick>
              </a:rPr>
              <a:t>https://youtu.be/VjgtiyTGzHk</a:t>
            </a:r>
            <a:endParaRPr b="0" i="0" sz="1400" u="none" cap="none" strike="noStrike">
              <a:solidFill>
                <a:schemeClr val="dk2"/>
              </a:solidFill>
              <a:latin typeface="Roboto"/>
              <a:ea typeface="Roboto"/>
              <a:cs typeface="Roboto"/>
              <a:sym typeface="Roboto"/>
            </a:endParaRPr>
          </a:p>
        </p:txBody>
      </p:sp>
      <p:sp>
        <p:nvSpPr>
          <p:cNvPr id="411" name="Google Shape;411;g3937d203302_0_292"/>
          <p:cNvSpPr txBox="1"/>
          <p:nvPr/>
        </p:nvSpPr>
        <p:spPr>
          <a:xfrm>
            <a:off x="5262555" y="2241741"/>
            <a:ext cx="2697600" cy="736800"/>
          </a:xfrm>
          <a:prstGeom prst="rect">
            <a:avLst/>
          </a:prstGeom>
          <a:noFill/>
          <a:ln>
            <a:noFill/>
          </a:ln>
        </p:spPr>
        <p:txBody>
          <a:bodyPr anchorCtr="0" anchor="t" bIns="91425" lIns="91425" spcFirstLastPara="1" rIns="91425" wrap="square" tIns="91425">
            <a:normAutofit/>
          </a:bodyPr>
          <a:lstStyle/>
          <a:p>
            <a:pPr indent="0" lvl="0" marL="146050" marR="0" rtl="0" algn="l">
              <a:lnSpc>
                <a:spcPct val="115000"/>
              </a:lnSpc>
              <a:spcBef>
                <a:spcPts val="0"/>
              </a:spcBef>
              <a:spcAft>
                <a:spcPts val="0"/>
              </a:spcAft>
              <a:buClr>
                <a:schemeClr val="accent1"/>
              </a:buClr>
              <a:buSzPts val="1300"/>
              <a:buFont typeface="Lato"/>
              <a:buNone/>
            </a:pPr>
            <a:r>
              <a:rPr b="0" i="0" lang="pt-BR" sz="1400" u="sng" cap="none" strike="noStrike">
                <a:solidFill>
                  <a:schemeClr val="dk2"/>
                </a:solidFill>
                <a:latin typeface="Roboto"/>
                <a:ea typeface="Roboto"/>
                <a:cs typeface="Roboto"/>
                <a:sym typeface="Roboto"/>
                <a:hlinkClick r:id="rId6">
                  <a:extLst>
                    <a:ext uri="{A12FA001-AC4F-418D-AE19-62706E023703}">
                      <ahyp:hlinkClr val="tx"/>
                    </a:ext>
                  </a:extLst>
                </a:hlinkClick>
              </a:rPr>
              <a:t>https://youtu.be/IpfE8B9H9cI</a:t>
            </a:r>
            <a:endParaRPr b="0" i="0" sz="1400" u="none" cap="none" strike="noStrike">
              <a:solidFill>
                <a:schemeClr val="dk2"/>
              </a:solidFill>
              <a:latin typeface="Roboto"/>
              <a:ea typeface="Roboto"/>
              <a:cs typeface="Roboto"/>
              <a:sym typeface="Roboto"/>
            </a:endParaRPr>
          </a:p>
        </p:txBody>
      </p:sp>
      <p:sp>
        <p:nvSpPr>
          <p:cNvPr id="412" name="Google Shape;412;g3937d203302_0_292"/>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1 - Introdução</a:t>
            </a:r>
            <a:endParaRPr b="0" sz="2400">
              <a:latin typeface="Impact"/>
              <a:ea typeface="Impact"/>
              <a:cs typeface="Impact"/>
              <a:sym typeface="Impact"/>
            </a:endParaRPr>
          </a:p>
        </p:txBody>
      </p:sp>
      <p:pic>
        <p:nvPicPr>
          <p:cNvPr id="413" name="Google Shape;413;g3937d203302_0_292" title="SENAI_São_Paulo_logo.png"/>
          <p:cNvPicPr preferRelativeResize="0"/>
          <p:nvPr/>
        </p:nvPicPr>
        <p:blipFill rotWithShape="1">
          <a:blip r:embed="rId7">
            <a:alphaModFix/>
          </a:blip>
          <a:srcRect b="0" l="0" r="0" t="0"/>
          <a:stretch/>
        </p:blipFill>
        <p:spPr>
          <a:xfrm>
            <a:off x="7629275" y="63340"/>
            <a:ext cx="1439427" cy="3689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1"/>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1"/>
                                        <p:tgtEl>
                                          <p:spTgt spid="4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3937d203302_0_303"/>
          <p:cNvSpPr txBox="1"/>
          <p:nvPr>
            <p:ph type="title"/>
          </p:nvPr>
        </p:nvSpPr>
        <p:spPr>
          <a:xfrm>
            <a:off x="729450" y="571725"/>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Módulo 2 - Fontes de dados</a:t>
            </a:r>
            <a:endParaRPr b="0">
              <a:latin typeface="Impact"/>
              <a:ea typeface="Impact"/>
              <a:cs typeface="Impact"/>
              <a:sym typeface="Impact"/>
            </a:endParaRPr>
          </a:p>
        </p:txBody>
      </p:sp>
      <p:sp>
        <p:nvSpPr>
          <p:cNvPr id="419" name="Google Shape;419;g3937d203302_0_303"/>
          <p:cNvSpPr txBox="1"/>
          <p:nvPr/>
        </p:nvSpPr>
        <p:spPr>
          <a:xfrm>
            <a:off x="544050" y="1646825"/>
            <a:ext cx="4958400" cy="2591100"/>
          </a:xfrm>
          <a:prstGeom prst="rect">
            <a:avLst/>
          </a:prstGeom>
          <a:noFill/>
          <a:ln>
            <a:noFill/>
          </a:ln>
        </p:spPr>
        <p:txBody>
          <a:bodyPr anchorCtr="0" anchor="t" bIns="91425" lIns="91425" spcFirstLastPara="1" rIns="91425" wrap="square" tIns="91425">
            <a:normAutofit/>
          </a:bodyPr>
          <a:lstStyle/>
          <a:p>
            <a:pPr indent="0" lvl="0" marL="0" marR="0" rtl="0" algn="just">
              <a:lnSpc>
                <a:spcPct val="200000"/>
              </a:lnSpc>
              <a:spcBef>
                <a:spcPts val="0"/>
              </a:spcBef>
              <a:spcAft>
                <a:spcPts val="0"/>
              </a:spcAft>
              <a:buClr>
                <a:schemeClr val="accent1"/>
              </a:buClr>
              <a:buSzPts val="1300"/>
              <a:buFont typeface="Lato"/>
              <a:buNone/>
            </a:pPr>
            <a:r>
              <a:rPr b="1" i="0" lang="pt-BR" sz="1900" u="none" cap="none" strike="noStrike">
                <a:solidFill>
                  <a:srgbClr val="FF0000"/>
                </a:solidFill>
                <a:highlight>
                  <a:schemeClr val="lt1"/>
                </a:highlight>
                <a:latin typeface="Calibri"/>
                <a:ea typeface="Calibri"/>
                <a:cs typeface="Calibri"/>
                <a:sym typeface="Calibri"/>
              </a:rPr>
              <a:t>Cronograma</a:t>
            </a:r>
            <a:endParaRPr b="0" i="0" sz="1400" u="none" cap="none" strike="noStrike">
              <a:solidFill>
                <a:srgbClr val="000000"/>
              </a:solidFill>
              <a:latin typeface="Arial"/>
              <a:ea typeface="Arial"/>
              <a:cs typeface="Arial"/>
              <a:sym typeface="Arial"/>
            </a:endParaRPr>
          </a:p>
          <a:p>
            <a:pPr indent="-342900" lvl="0" marL="495300" marR="0" rtl="0" algn="just">
              <a:lnSpc>
                <a:spcPct val="200000"/>
              </a:lnSpc>
              <a:spcBef>
                <a:spcPts val="0"/>
              </a:spcBef>
              <a:spcAft>
                <a:spcPts val="0"/>
              </a:spcAft>
              <a:buClr>
                <a:srgbClr val="374151"/>
              </a:buClr>
              <a:buSzPts val="1200"/>
              <a:buFont typeface="Arial"/>
              <a:buAutoNum type="arabicPeriod"/>
            </a:pPr>
            <a:r>
              <a:rPr b="1" i="0" lang="pt-BR" sz="1600" u="none" cap="none" strike="noStrike">
                <a:solidFill>
                  <a:srgbClr val="374151"/>
                </a:solidFill>
                <a:highlight>
                  <a:schemeClr val="lt1"/>
                </a:highlight>
                <a:latin typeface="Calibri"/>
                <a:ea typeface="Calibri"/>
                <a:cs typeface="Calibri"/>
                <a:sym typeface="Calibri"/>
              </a:rPr>
              <a:t>Como obter dados de diversas fontes?</a:t>
            </a:r>
            <a:endParaRPr b="0" i="0" sz="1400" u="none" cap="none" strike="noStrike">
              <a:solidFill>
                <a:srgbClr val="000000"/>
              </a:solidFill>
              <a:latin typeface="Arial"/>
              <a:ea typeface="Arial"/>
              <a:cs typeface="Arial"/>
              <a:sym typeface="Arial"/>
            </a:endParaRPr>
          </a:p>
          <a:p>
            <a:pPr indent="-342900" lvl="1" marL="952500" marR="0" rtl="0" algn="just">
              <a:lnSpc>
                <a:spcPct val="200000"/>
              </a:lnSpc>
              <a:spcBef>
                <a:spcPts val="0"/>
              </a:spcBef>
              <a:spcAft>
                <a:spcPts val="0"/>
              </a:spcAft>
              <a:buClr>
                <a:srgbClr val="374151"/>
              </a:buClr>
              <a:buSzPts val="1200"/>
              <a:buFont typeface="Lato"/>
              <a:buChar char="○"/>
            </a:pPr>
            <a:r>
              <a:rPr b="1" i="0" lang="pt-BR" sz="1400" u="none" cap="none" strike="noStrike">
                <a:solidFill>
                  <a:srgbClr val="374151"/>
                </a:solidFill>
                <a:highlight>
                  <a:schemeClr val="lt1"/>
                </a:highlight>
                <a:latin typeface="Calibri"/>
                <a:ea typeface="Calibri"/>
                <a:cs typeface="Calibri"/>
                <a:sym typeface="Calibri"/>
              </a:rPr>
              <a:t>CSV, Excel, JSON, XML, PDF, ACCDB, Google Sheets</a:t>
            </a:r>
            <a:endParaRPr b="0" i="0" sz="1400" u="none" cap="none" strike="noStrike">
              <a:solidFill>
                <a:srgbClr val="000000"/>
              </a:solidFill>
              <a:latin typeface="Arial"/>
              <a:ea typeface="Arial"/>
              <a:cs typeface="Arial"/>
              <a:sym typeface="Arial"/>
            </a:endParaRPr>
          </a:p>
          <a:p>
            <a:pPr indent="-342900" lvl="0" marL="495300" marR="0" rtl="0" algn="just">
              <a:lnSpc>
                <a:spcPct val="200000"/>
              </a:lnSpc>
              <a:spcBef>
                <a:spcPts val="0"/>
              </a:spcBef>
              <a:spcAft>
                <a:spcPts val="0"/>
              </a:spcAft>
              <a:buClr>
                <a:srgbClr val="374151"/>
              </a:buClr>
              <a:buSzPts val="1200"/>
              <a:buFont typeface="Arial"/>
              <a:buAutoNum type="arabicPeriod"/>
            </a:pPr>
            <a:r>
              <a:rPr b="1" i="0" lang="pt-BR" sz="1600" u="none" cap="none" strike="noStrike">
                <a:solidFill>
                  <a:srgbClr val="374151"/>
                </a:solidFill>
                <a:highlight>
                  <a:schemeClr val="lt1"/>
                </a:highlight>
                <a:latin typeface="Calibri"/>
                <a:ea typeface="Calibri"/>
                <a:cs typeface="Calibri"/>
                <a:sym typeface="Calibri"/>
              </a:rPr>
              <a:t>Como criar visualizações (dashboards)?</a:t>
            </a:r>
            <a:endParaRPr b="0" i="0" sz="1400" u="none" cap="none" strike="noStrike">
              <a:solidFill>
                <a:srgbClr val="000000"/>
              </a:solidFill>
              <a:latin typeface="Arial"/>
              <a:ea typeface="Arial"/>
              <a:cs typeface="Arial"/>
              <a:sym typeface="Arial"/>
            </a:endParaRPr>
          </a:p>
          <a:p>
            <a:pPr indent="-342900" lvl="1" marL="952500" marR="0" rtl="0" algn="just">
              <a:lnSpc>
                <a:spcPct val="200000"/>
              </a:lnSpc>
              <a:spcBef>
                <a:spcPts val="0"/>
              </a:spcBef>
              <a:spcAft>
                <a:spcPts val="0"/>
              </a:spcAft>
              <a:buClr>
                <a:srgbClr val="374151"/>
              </a:buClr>
              <a:buSzPts val="1200"/>
              <a:buFont typeface="Lato"/>
              <a:buChar char="○"/>
            </a:pPr>
            <a:r>
              <a:rPr b="1" i="0" lang="pt-BR" sz="1400" u="none" cap="none" strike="noStrike">
                <a:solidFill>
                  <a:srgbClr val="374151"/>
                </a:solidFill>
                <a:highlight>
                  <a:schemeClr val="lt1"/>
                </a:highlight>
                <a:latin typeface="Calibri"/>
                <a:ea typeface="Calibri"/>
                <a:cs typeface="Calibri"/>
                <a:sym typeface="Calibri"/>
              </a:rPr>
              <a:t>Geração com Power BI Desktop</a:t>
            </a:r>
            <a:endParaRPr b="0" i="0" sz="1400" u="none" cap="none" strike="noStrike">
              <a:solidFill>
                <a:srgbClr val="000000"/>
              </a:solidFill>
              <a:latin typeface="Arial"/>
              <a:ea typeface="Arial"/>
              <a:cs typeface="Arial"/>
              <a:sym typeface="Arial"/>
            </a:endParaRPr>
          </a:p>
        </p:txBody>
      </p:sp>
      <p:pic>
        <p:nvPicPr>
          <p:cNvPr descr="Interface gráfica do usuário, Aplicativo&#10;&#10;Descrição gerada automaticamente" id="420" name="Google Shape;420;g3937d203302_0_303"/>
          <p:cNvPicPr preferRelativeResize="0"/>
          <p:nvPr/>
        </p:nvPicPr>
        <p:blipFill rotWithShape="1">
          <a:blip r:embed="rId3">
            <a:alphaModFix/>
          </a:blip>
          <a:srcRect b="0" l="0" r="0" t="0"/>
          <a:stretch/>
        </p:blipFill>
        <p:spPr>
          <a:xfrm>
            <a:off x="5343236" y="2062642"/>
            <a:ext cx="2989537" cy="1759635"/>
          </a:xfrm>
          <a:prstGeom prst="rect">
            <a:avLst/>
          </a:prstGeom>
          <a:noFill/>
          <a:ln>
            <a:noFill/>
          </a:ln>
        </p:spPr>
      </p:pic>
      <p:pic>
        <p:nvPicPr>
          <p:cNvPr id="421" name="Google Shape;421;g3937d203302_0_303"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3937d203302_0_310"/>
          <p:cNvSpPr txBox="1"/>
          <p:nvPr>
            <p:ph type="title"/>
          </p:nvPr>
        </p:nvSpPr>
        <p:spPr>
          <a:xfrm>
            <a:off x="1905071" y="2029057"/>
            <a:ext cx="5334000" cy="18738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b="0" lang="pt-BR" sz="4000">
                <a:latin typeface="Impact"/>
                <a:ea typeface="Impact"/>
                <a:cs typeface="Impact"/>
                <a:sym typeface="Impact"/>
              </a:rPr>
              <a:t>Qual a importância de se conectar em múltiplas fontes?</a:t>
            </a:r>
            <a:endParaRPr b="0" sz="4000">
              <a:latin typeface="Impact"/>
              <a:ea typeface="Impact"/>
              <a:cs typeface="Impact"/>
              <a:sym typeface="Impact"/>
            </a:endParaRPr>
          </a:p>
        </p:txBody>
      </p:sp>
      <p:sp>
        <p:nvSpPr>
          <p:cNvPr id="427" name="Google Shape;427;g3937d203302_0_310"/>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428" name="Google Shape;428;g3937d203302_0_310"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3937d203302_0_316"/>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Razões para ter múltiplas fontes de dados</a:t>
            </a:r>
            <a:endParaRPr b="0">
              <a:latin typeface="Impact"/>
              <a:ea typeface="Impact"/>
              <a:cs typeface="Impact"/>
              <a:sym typeface="Impact"/>
            </a:endParaRPr>
          </a:p>
        </p:txBody>
      </p:sp>
      <p:sp>
        <p:nvSpPr>
          <p:cNvPr id="434" name="Google Shape;434;g3937d203302_0_316"/>
          <p:cNvSpPr txBox="1"/>
          <p:nvPr>
            <p:ph idx="1" type="body"/>
          </p:nvPr>
        </p:nvSpPr>
        <p:spPr>
          <a:xfrm>
            <a:off x="417215" y="1355570"/>
            <a:ext cx="5055900" cy="3547500"/>
          </a:xfrm>
          <a:prstGeom prst="rect">
            <a:avLst/>
          </a:prstGeom>
          <a:noFill/>
          <a:ln>
            <a:noFill/>
          </a:ln>
        </p:spPr>
        <p:txBody>
          <a:bodyPr anchorCtr="0" anchor="t" bIns="91425" lIns="91425" spcFirstLastPara="1" rIns="91425" wrap="square" tIns="91425">
            <a:normAutofit fontScale="92500" lnSpcReduction="10000"/>
          </a:bodyPr>
          <a:lstStyle/>
          <a:p>
            <a:pPr indent="-305234" lvl="0" marL="457200" rtl="0" algn="l">
              <a:lnSpc>
                <a:spcPct val="200000"/>
              </a:lnSpc>
              <a:spcBef>
                <a:spcPts val="0"/>
              </a:spcBef>
              <a:spcAft>
                <a:spcPts val="0"/>
              </a:spcAft>
              <a:buClr>
                <a:srgbClr val="374151"/>
              </a:buClr>
              <a:buSzPct val="99792"/>
              <a:buFont typeface="Arial"/>
              <a:buChar char="●"/>
            </a:pPr>
            <a:r>
              <a:rPr b="1" lang="pt-BR">
                <a:solidFill>
                  <a:schemeClr val="dk2"/>
                </a:solidFill>
              </a:rPr>
              <a:t>Enriquece a análise de dados</a:t>
            </a:r>
            <a:r>
              <a:rPr lang="pt-BR">
                <a:solidFill>
                  <a:schemeClr val="dk2"/>
                </a:solidFill>
              </a:rPr>
              <a:t>, proporcionando insights mais abrangentes e precisos.</a:t>
            </a:r>
            <a:endParaRPr/>
          </a:p>
          <a:p>
            <a:pPr indent="-305234" lvl="0" marL="457200" rtl="0" algn="l">
              <a:lnSpc>
                <a:spcPct val="200000"/>
              </a:lnSpc>
              <a:spcBef>
                <a:spcPts val="0"/>
              </a:spcBef>
              <a:spcAft>
                <a:spcPts val="0"/>
              </a:spcAft>
              <a:buClr>
                <a:srgbClr val="374151"/>
              </a:buClr>
              <a:buSzPct val="99792"/>
              <a:buFont typeface="Arial"/>
              <a:buChar char="●"/>
            </a:pPr>
            <a:r>
              <a:rPr b="1" lang="pt-BR">
                <a:solidFill>
                  <a:schemeClr val="dk2"/>
                </a:solidFill>
              </a:rPr>
              <a:t>Reduz a dependência de uma única fonte</a:t>
            </a:r>
            <a:r>
              <a:rPr lang="pt-BR">
                <a:solidFill>
                  <a:schemeClr val="dk2"/>
                </a:solidFill>
              </a:rPr>
              <a:t>, aumentando a confiabilidade e robustez das informações.</a:t>
            </a:r>
            <a:endParaRPr/>
          </a:p>
          <a:p>
            <a:pPr indent="-305234" lvl="0" marL="457200" rtl="0" algn="l">
              <a:lnSpc>
                <a:spcPct val="200000"/>
              </a:lnSpc>
              <a:spcBef>
                <a:spcPts val="0"/>
              </a:spcBef>
              <a:spcAft>
                <a:spcPts val="0"/>
              </a:spcAft>
              <a:buClr>
                <a:srgbClr val="374151"/>
              </a:buClr>
              <a:buSzPct val="99792"/>
              <a:buFont typeface="Arial"/>
              <a:buChar char="●"/>
            </a:pPr>
            <a:r>
              <a:rPr b="1" lang="pt-BR">
                <a:solidFill>
                  <a:schemeClr val="dk2"/>
                </a:solidFill>
              </a:rPr>
              <a:t>Possibilita uma visão mais completa e holística do cenário</a:t>
            </a:r>
            <a:r>
              <a:rPr lang="pt-BR">
                <a:solidFill>
                  <a:schemeClr val="dk2"/>
                </a:solidFill>
              </a:rPr>
              <a:t>, impulsionando a tomada de decisões informadas.</a:t>
            </a:r>
            <a:endParaRPr/>
          </a:p>
          <a:p>
            <a:pPr indent="-305234" lvl="0" marL="457200" rtl="0" algn="l">
              <a:lnSpc>
                <a:spcPct val="200000"/>
              </a:lnSpc>
              <a:spcBef>
                <a:spcPts val="0"/>
              </a:spcBef>
              <a:spcAft>
                <a:spcPts val="0"/>
              </a:spcAft>
              <a:buClr>
                <a:srgbClr val="374151"/>
              </a:buClr>
              <a:buSzPct val="99792"/>
              <a:buFont typeface="Arial"/>
              <a:buChar char="●"/>
            </a:pPr>
            <a:r>
              <a:rPr b="1" lang="pt-BR">
                <a:solidFill>
                  <a:schemeClr val="dk2"/>
                </a:solidFill>
              </a:rPr>
              <a:t>Facilita a detecção de padrões</a:t>
            </a:r>
            <a:r>
              <a:rPr lang="pt-BR">
                <a:solidFill>
                  <a:schemeClr val="dk2"/>
                </a:solidFill>
              </a:rPr>
              <a:t> e tendências ocultas em conjuntos de dados diversificados.</a:t>
            </a:r>
            <a:endParaRPr/>
          </a:p>
          <a:p>
            <a:pPr indent="-305234" lvl="0" marL="457200" rtl="0" algn="l">
              <a:lnSpc>
                <a:spcPct val="200000"/>
              </a:lnSpc>
              <a:spcBef>
                <a:spcPts val="0"/>
              </a:spcBef>
              <a:spcAft>
                <a:spcPts val="0"/>
              </a:spcAft>
              <a:buClr>
                <a:srgbClr val="374151"/>
              </a:buClr>
              <a:buSzPct val="99792"/>
              <a:buFont typeface="Arial"/>
              <a:buChar char="●"/>
            </a:pPr>
            <a:r>
              <a:rPr b="1" lang="pt-BR">
                <a:solidFill>
                  <a:schemeClr val="dk2"/>
                </a:solidFill>
              </a:rPr>
              <a:t>Promove a inovação ao fomentar a descoberta</a:t>
            </a:r>
            <a:r>
              <a:rPr lang="pt-BR">
                <a:solidFill>
                  <a:schemeClr val="dk2"/>
                </a:solidFill>
              </a:rPr>
              <a:t> de correlações inesperadas entre diferentes fontes de informação.</a:t>
            </a:r>
            <a:endParaRPr/>
          </a:p>
        </p:txBody>
      </p:sp>
      <p:pic>
        <p:nvPicPr>
          <p:cNvPr id="435" name="Google Shape;435;g3937d203302_0_316"/>
          <p:cNvPicPr preferRelativeResize="0"/>
          <p:nvPr/>
        </p:nvPicPr>
        <p:blipFill rotWithShape="1">
          <a:blip r:embed="rId3">
            <a:alphaModFix/>
          </a:blip>
          <a:srcRect b="0" l="0" r="0" t="0"/>
          <a:stretch/>
        </p:blipFill>
        <p:spPr>
          <a:xfrm>
            <a:off x="5480610" y="1742962"/>
            <a:ext cx="3246175" cy="2411717"/>
          </a:xfrm>
          <a:prstGeom prst="rect">
            <a:avLst/>
          </a:prstGeom>
          <a:noFill/>
          <a:ln>
            <a:noFill/>
          </a:ln>
        </p:spPr>
      </p:pic>
      <p:sp>
        <p:nvSpPr>
          <p:cNvPr id="436" name="Google Shape;436;g3937d203302_0_316"/>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437" name="Google Shape;437;g3937d203302_0_316"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3937d203302_0_324"/>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Exemplos de fontes de dados o Power BI se conecta</a:t>
            </a:r>
            <a:endParaRPr b="0">
              <a:latin typeface="Impact"/>
              <a:ea typeface="Impact"/>
              <a:cs typeface="Impact"/>
              <a:sym typeface="Impact"/>
            </a:endParaRPr>
          </a:p>
        </p:txBody>
      </p:sp>
      <p:sp>
        <p:nvSpPr>
          <p:cNvPr id="443" name="Google Shape;443;g3937d203302_0_324"/>
          <p:cNvSpPr txBox="1"/>
          <p:nvPr>
            <p:ph idx="1" type="body"/>
          </p:nvPr>
        </p:nvSpPr>
        <p:spPr>
          <a:xfrm>
            <a:off x="417215" y="1355570"/>
            <a:ext cx="5055900" cy="3547500"/>
          </a:xfrm>
          <a:prstGeom prst="rect">
            <a:avLst/>
          </a:prstGeom>
          <a:noFill/>
          <a:ln>
            <a:noFill/>
          </a:ln>
        </p:spPr>
        <p:txBody>
          <a:bodyPr anchorCtr="0" anchor="t" bIns="91425" lIns="91425" spcFirstLastPara="1" rIns="91425" wrap="square" tIns="91425">
            <a:normAutofit/>
          </a:bodyPr>
          <a:lstStyle/>
          <a:p>
            <a:pPr indent="-304800" lvl="0" marL="457200" rtl="0" algn="l">
              <a:lnSpc>
                <a:spcPct val="120000"/>
              </a:lnSpc>
              <a:spcBef>
                <a:spcPts val="0"/>
              </a:spcBef>
              <a:spcAft>
                <a:spcPts val="0"/>
              </a:spcAft>
              <a:buClr>
                <a:srgbClr val="374151"/>
              </a:buClr>
              <a:buSzPts val="1200"/>
              <a:buFont typeface="Arial"/>
              <a:buChar char="●"/>
            </a:pPr>
            <a:r>
              <a:rPr b="1" lang="pt-BR" sz="1800">
                <a:solidFill>
                  <a:schemeClr val="dk2"/>
                </a:solidFill>
                <a:latin typeface="Calibri"/>
                <a:ea typeface="Calibri"/>
                <a:cs typeface="Calibri"/>
                <a:sym typeface="Calibri"/>
              </a:rPr>
              <a:t>Banco de Dados Relacionais </a:t>
            </a:r>
            <a:r>
              <a:rPr lang="pt-BR" sz="1800">
                <a:solidFill>
                  <a:schemeClr val="dk2"/>
                </a:solidFill>
                <a:latin typeface="Calibri"/>
                <a:ea typeface="Calibri"/>
                <a:cs typeface="Calibri"/>
                <a:sym typeface="Calibri"/>
              </a:rPr>
              <a:t>(SQL Server, Oracle, MySQL, PostgreSQL)</a:t>
            </a:r>
            <a:endParaRPr sz="1800">
              <a:solidFill>
                <a:schemeClr val="dk2"/>
              </a:solidFill>
              <a:latin typeface="Calibri"/>
              <a:ea typeface="Calibri"/>
              <a:cs typeface="Calibri"/>
              <a:sym typeface="Calibri"/>
            </a:endParaRPr>
          </a:p>
          <a:p>
            <a:pPr indent="-304800" lvl="0" marL="457200" rtl="0" algn="l">
              <a:lnSpc>
                <a:spcPct val="120000"/>
              </a:lnSpc>
              <a:spcBef>
                <a:spcPts val="0"/>
              </a:spcBef>
              <a:spcAft>
                <a:spcPts val="0"/>
              </a:spcAft>
              <a:buClr>
                <a:srgbClr val="374151"/>
              </a:buClr>
              <a:buSzPts val="1200"/>
              <a:buFont typeface="Arial"/>
              <a:buChar char="●"/>
            </a:pPr>
            <a:r>
              <a:rPr b="1" lang="pt-BR" sz="1800">
                <a:solidFill>
                  <a:schemeClr val="dk2"/>
                </a:solidFill>
                <a:latin typeface="Calibri"/>
                <a:ea typeface="Calibri"/>
                <a:cs typeface="Calibri"/>
                <a:sym typeface="Calibri"/>
              </a:rPr>
              <a:t>Banco de Dados na Nuvem </a:t>
            </a:r>
            <a:r>
              <a:rPr lang="pt-BR" sz="1800">
                <a:solidFill>
                  <a:schemeClr val="dk2"/>
                </a:solidFill>
                <a:latin typeface="Calibri"/>
                <a:ea typeface="Calibri"/>
                <a:cs typeface="Calibri"/>
                <a:sym typeface="Calibri"/>
              </a:rPr>
              <a:t>(Azure SQL, Amazon Redshift, Google BigQuery)</a:t>
            </a:r>
            <a:endParaRPr sz="1800">
              <a:solidFill>
                <a:schemeClr val="dk2"/>
              </a:solidFill>
              <a:latin typeface="Calibri"/>
              <a:ea typeface="Calibri"/>
              <a:cs typeface="Calibri"/>
              <a:sym typeface="Calibri"/>
            </a:endParaRPr>
          </a:p>
          <a:p>
            <a:pPr indent="-304800" lvl="0" marL="457200" rtl="0" algn="l">
              <a:lnSpc>
                <a:spcPct val="120000"/>
              </a:lnSpc>
              <a:spcBef>
                <a:spcPts val="0"/>
              </a:spcBef>
              <a:spcAft>
                <a:spcPts val="0"/>
              </a:spcAft>
              <a:buClr>
                <a:srgbClr val="374151"/>
              </a:buClr>
              <a:buSzPts val="1200"/>
              <a:buFont typeface="Arial"/>
              <a:buChar char="●"/>
            </a:pPr>
            <a:r>
              <a:rPr b="1" lang="pt-BR" sz="1800">
                <a:solidFill>
                  <a:schemeClr val="dk2"/>
                </a:solidFill>
                <a:latin typeface="Calibri"/>
                <a:ea typeface="Calibri"/>
                <a:cs typeface="Calibri"/>
                <a:sym typeface="Calibri"/>
              </a:rPr>
              <a:t>Arquivos</a:t>
            </a:r>
            <a:r>
              <a:rPr lang="pt-BR" sz="1800">
                <a:solidFill>
                  <a:schemeClr val="dk2"/>
                </a:solidFill>
                <a:latin typeface="Calibri"/>
                <a:ea typeface="Calibri"/>
                <a:cs typeface="Calibri"/>
                <a:sym typeface="Calibri"/>
              </a:rPr>
              <a:t>: Excel, CSV, XML, JSON, …</a:t>
            </a:r>
            <a:endParaRPr sz="1800">
              <a:solidFill>
                <a:schemeClr val="dk2"/>
              </a:solidFill>
              <a:latin typeface="Calibri"/>
              <a:ea typeface="Calibri"/>
              <a:cs typeface="Calibri"/>
              <a:sym typeface="Calibri"/>
            </a:endParaRPr>
          </a:p>
          <a:p>
            <a:pPr indent="-304800" lvl="0" marL="457200" rtl="0" algn="l">
              <a:lnSpc>
                <a:spcPct val="120000"/>
              </a:lnSpc>
              <a:spcBef>
                <a:spcPts val="0"/>
              </a:spcBef>
              <a:spcAft>
                <a:spcPts val="0"/>
              </a:spcAft>
              <a:buClr>
                <a:srgbClr val="374151"/>
              </a:buClr>
              <a:buSzPts val="1200"/>
              <a:buFont typeface="Arial"/>
              <a:buChar char="●"/>
            </a:pPr>
            <a:r>
              <a:rPr b="1" lang="pt-BR" sz="1800">
                <a:solidFill>
                  <a:schemeClr val="dk2"/>
                </a:solidFill>
                <a:latin typeface="Calibri"/>
                <a:ea typeface="Calibri"/>
                <a:cs typeface="Calibri"/>
                <a:sym typeface="Calibri"/>
              </a:rPr>
              <a:t>Arquivos em Nuvem</a:t>
            </a:r>
            <a:r>
              <a:rPr lang="pt-BR" sz="1800">
                <a:solidFill>
                  <a:schemeClr val="dk2"/>
                </a:solidFill>
                <a:latin typeface="Calibri"/>
                <a:ea typeface="Calibri"/>
                <a:cs typeface="Calibri"/>
                <a:sym typeface="Calibri"/>
              </a:rPr>
              <a:t>: Azure Blob Storage, Amazon S3, Google Drive</a:t>
            </a:r>
            <a:endParaRPr sz="1800">
              <a:solidFill>
                <a:schemeClr val="dk2"/>
              </a:solidFill>
              <a:latin typeface="Calibri"/>
              <a:ea typeface="Calibri"/>
              <a:cs typeface="Calibri"/>
              <a:sym typeface="Calibri"/>
            </a:endParaRPr>
          </a:p>
          <a:p>
            <a:pPr indent="-304800" lvl="0" marL="457200" rtl="0" algn="l">
              <a:lnSpc>
                <a:spcPct val="120000"/>
              </a:lnSpc>
              <a:spcBef>
                <a:spcPts val="0"/>
              </a:spcBef>
              <a:spcAft>
                <a:spcPts val="0"/>
              </a:spcAft>
              <a:buClr>
                <a:srgbClr val="374151"/>
              </a:buClr>
              <a:buSzPts val="1200"/>
              <a:buFont typeface="Arial"/>
              <a:buChar char="●"/>
            </a:pPr>
            <a:r>
              <a:rPr b="1" lang="pt-BR" sz="1800">
                <a:solidFill>
                  <a:schemeClr val="dk2"/>
                </a:solidFill>
                <a:latin typeface="Calibri"/>
                <a:ea typeface="Calibri"/>
                <a:cs typeface="Calibri"/>
                <a:sym typeface="Calibri"/>
              </a:rPr>
              <a:t>APIs REST</a:t>
            </a:r>
            <a:endParaRPr b="1" sz="1800">
              <a:solidFill>
                <a:schemeClr val="dk2"/>
              </a:solidFill>
              <a:latin typeface="Calibri"/>
              <a:ea typeface="Calibri"/>
              <a:cs typeface="Calibri"/>
              <a:sym typeface="Calibri"/>
            </a:endParaRPr>
          </a:p>
          <a:p>
            <a:pPr indent="0" lvl="0" marL="457200" rtl="0" algn="l">
              <a:lnSpc>
                <a:spcPct val="120000"/>
              </a:lnSpc>
              <a:spcBef>
                <a:spcPts val="0"/>
              </a:spcBef>
              <a:spcAft>
                <a:spcPts val="0"/>
              </a:spcAft>
              <a:buSzPts val="1300"/>
              <a:buNone/>
            </a:pPr>
            <a:r>
              <a:t/>
            </a:r>
            <a:endParaRPr sz="1800">
              <a:solidFill>
                <a:schemeClr val="dk2"/>
              </a:solidFill>
              <a:latin typeface="Calibri"/>
              <a:ea typeface="Calibri"/>
              <a:cs typeface="Calibri"/>
              <a:sym typeface="Calibri"/>
            </a:endParaRPr>
          </a:p>
        </p:txBody>
      </p:sp>
      <p:sp>
        <p:nvSpPr>
          <p:cNvPr id="444" name="Google Shape;444;g3937d203302_0_324"/>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445" name="Google Shape;445;g3937d203302_0_324"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pic>
        <p:nvPicPr>
          <p:cNvPr id="446" name="Google Shape;446;g3937d203302_0_324"/>
          <p:cNvPicPr preferRelativeResize="0"/>
          <p:nvPr/>
        </p:nvPicPr>
        <p:blipFill rotWithShape="1">
          <a:blip r:embed="rId4">
            <a:alphaModFix/>
          </a:blip>
          <a:srcRect b="0" l="0" r="0" t="0"/>
          <a:stretch/>
        </p:blipFill>
        <p:spPr>
          <a:xfrm>
            <a:off x="4957077" y="1034200"/>
            <a:ext cx="4069750" cy="3968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3937d203302_0_332"/>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Tipos de fontes de dados</a:t>
            </a:r>
            <a:endParaRPr b="0">
              <a:latin typeface="Impact"/>
              <a:ea typeface="Impact"/>
              <a:cs typeface="Impact"/>
              <a:sym typeface="Impact"/>
            </a:endParaRPr>
          </a:p>
        </p:txBody>
      </p:sp>
      <p:sp>
        <p:nvSpPr>
          <p:cNvPr id="452" name="Google Shape;452;g3937d203302_0_332"/>
          <p:cNvSpPr txBox="1"/>
          <p:nvPr>
            <p:ph idx="1" type="body"/>
          </p:nvPr>
        </p:nvSpPr>
        <p:spPr>
          <a:xfrm>
            <a:off x="402811" y="1489385"/>
            <a:ext cx="5842200" cy="3547500"/>
          </a:xfrm>
          <a:prstGeom prst="rect">
            <a:avLst/>
          </a:prstGeom>
          <a:noFill/>
          <a:ln>
            <a:noFill/>
          </a:ln>
        </p:spPr>
        <p:txBody>
          <a:bodyPr anchorCtr="0" anchor="t" bIns="91425" lIns="91425" spcFirstLastPara="1" rIns="91425" wrap="square" tIns="91425">
            <a:normAutofit lnSpcReduction="20000"/>
          </a:bodyPr>
          <a:lstStyle/>
          <a:p>
            <a:pPr indent="-310978" lvl="0" marL="457200" rtl="0" algn="l">
              <a:lnSpc>
                <a:spcPct val="100000"/>
              </a:lnSpc>
              <a:spcBef>
                <a:spcPts val="0"/>
              </a:spcBef>
              <a:spcAft>
                <a:spcPts val="0"/>
              </a:spcAft>
              <a:buClr>
                <a:srgbClr val="374151"/>
              </a:buClr>
              <a:buSzPts val="1297"/>
              <a:buFont typeface="Arial"/>
              <a:buChar char="●"/>
            </a:pPr>
            <a:r>
              <a:rPr b="1" lang="pt-BR" sz="1600">
                <a:solidFill>
                  <a:schemeClr val="dk2"/>
                </a:solidFill>
                <a:latin typeface="Calibri"/>
                <a:ea typeface="Calibri"/>
                <a:cs typeface="Calibri"/>
                <a:sym typeface="Calibri"/>
              </a:rPr>
              <a:t>Dados estruturados</a:t>
            </a:r>
            <a:r>
              <a:rPr lang="pt-BR" sz="1600">
                <a:solidFill>
                  <a:schemeClr val="dk2"/>
                </a:solidFill>
                <a:latin typeface="Calibri"/>
                <a:ea typeface="Calibri"/>
                <a:cs typeface="Calibri"/>
                <a:sym typeface="Calibri"/>
              </a:rPr>
              <a:t>: Esses são dados organizados em uma estrutura definida, como tabelas em bancos de dados relacionais. </a:t>
            </a:r>
            <a:endParaRPr/>
          </a:p>
          <a:p>
            <a:pPr indent="-310978" lvl="0" marL="457200" rtl="0" algn="l">
              <a:lnSpc>
                <a:spcPct val="100000"/>
              </a:lnSpc>
              <a:spcBef>
                <a:spcPts val="0"/>
              </a:spcBef>
              <a:spcAft>
                <a:spcPts val="0"/>
              </a:spcAft>
              <a:buClr>
                <a:srgbClr val="374151"/>
              </a:buClr>
              <a:buSzPts val="1297"/>
              <a:buFont typeface="Arial"/>
              <a:buChar char="●"/>
            </a:pPr>
            <a:r>
              <a:rPr b="1" lang="pt-BR" sz="1600">
                <a:solidFill>
                  <a:schemeClr val="dk2"/>
                </a:solidFill>
                <a:latin typeface="Calibri"/>
                <a:ea typeface="Calibri"/>
                <a:cs typeface="Calibri"/>
                <a:sym typeface="Calibri"/>
              </a:rPr>
              <a:t>Dados semi estruturados</a:t>
            </a:r>
            <a:r>
              <a:rPr lang="pt-BR" sz="1600">
                <a:solidFill>
                  <a:schemeClr val="dk2"/>
                </a:solidFill>
                <a:latin typeface="Calibri"/>
                <a:ea typeface="Calibri"/>
                <a:cs typeface="Calibri"/>
                <a:sym typeface="Calibri"/>
              </a:rPr>
              <a:t>: Esses dados têm alguma estrutura, mas não seguem um formato rígido (ex: arquivos de log, arquivos XML e JSON)</a:t>
            </a:r>
            <a:endParaRPr/>
          </a:p>
          <a:p>
            <a:pPr indent="-310978" lvl="0" marL="457200" rtl="0" algn="l">
              <a:lnSpc>
                <a:spcPct val="100000"/>
              </a:lnSpc>
              <a:spcBef>
                <a:spcPts val="0"/>
              </a:spcBef>
              <a:spcAft>
                <a:spcPts val="0"/>
              </a:spcAft>
              <a:buClr>
                <a:srgbClr val="374151"/>
              </a:buClr>
              <a:buSzPts val="1297"/>
              <a:buFont typeface="Arial"/>
              <a:buChar char="●"/>
            </a:pPr>
            <a:r>
              <a:rPr b="1" lang="pt-BR" sz="1600">
                <a:solidFill>
                  <a:schemeClr val="dk2"/>
                </a:solidFill>
                <a:latin typeface="Calibri"/>
                <a:ea typeface="Calibri"/>
                <a:cs typeface="Calibri"/>
                <a:sym typeface="Calibri"/>
              </a:rPr>
              <a:t>Dados em tempo real</a:t>
            </a:r>
            <a:r>
              <a:rPr lang="pt-BR" sz="1600">
                <a:solidFill>
                  <a:schemeClr val="dk2"/>
                </a:solidFill>
                <a:latin typeface="Calibri"/>
                <a:ea typeface="Calibri"/>
                <a:cs typeface="Calibri"/>
                <a:sym typeface="Calibri"/>
              </a:rPr>
              <a:t>: Esses são dados que são transmitidos e atualizados em tempo real, como dados de sensores, transações em tempo real e feeds de streaming.</a:t>
            </a:r>
            <a:endParaRPr/>
          </a:p>
          <a:p>
            <a:pPr indent="-310978" lvl="0" marL="457200" rtl="0" algn="l">
              <a:lnSpc>
                <a:spcPct val="100000"/>
              </a:lnSpc>
              <a:spcBef>
                <a:spcPts val="0"/>
              </a:spcBef>
              <a:spcAft>
                <a:spcPts val="0"/>
              </a:spcAft>
              <a:buClr>
                <a:srgbClr val="374151"/>
              </a:buClr>
              <a:buSzPts val="1297"/>
              <a:buFont typeface="Arial"/>
              <a:buChar char="●"/>
            </a:pPr>
            <a:r>
              <a:rPr b="1" lang="pt-BR" sz="1600">
                <a:solidFill>
                  <a:schemeClr val="dk2"/>
                </a:solidFill>
                <a:latin typeface="Calibri"/>
                <a:ea typeface="Calibri"/>
                <a:cs typeface="Calibri"/>
                <a:sym typeface="Calibri"/>
              </a:rPr>
              <a:t>Dados em nuvem</a:t>
            </a:r>
            <a:r>
              <a:rPr lang="pt-BR" sz="1600">
                <a:solidFill>
                  <a:schemeClr val="dk2"/>
                </a:solidFill>
                <a:latin typeface="Calibri"/>
                <a:ea typeface="Calibri"/>
                <a:cs typeface="Calibri"/>
                <a:sym typeface="Calibri"/>
              </a:rPr>
              <a:t>: O Power BI oferece conectividade com várias fontes de dados em nuvem, como serviços de armazenamento em nuvem, aplicativos SaaS (Software as a Service) e bancos de dados hospedados em nuvem. </a:t>
            </a:r>
            <a:endParaRPr/>
          </a:p>
          <a:p>
            <a:pPr indent="-310978" lvl="0" marL="457200" rtl="0" algn="l">
              <a:lnSpc>
                <a:spcPct val="100000"/>
              </a:lnSpc>
              <a:spcBef>
                <a:spcPts val="0"/>
              </a:spcBef>
              <a:spcAft>
                <a:spcPts val="0"/>
              </a:spcAft>
              <a:buClr>
                <a:srgbClr val="374151"/>
              </a:buClr>
              <a:buSzPts val="1297"/>
              <a:buFont typeface="Arial"/>
              <a:buChar char="●"/>
            </a:pPr>
            <a:r>
              <a:rPr b="1" lang="pt-BR" sz="1600">
                <a:solidFill>
                  <a:schemeClr val="dk2"/>
                </a:solidFill>
                <a:latin typeface="Calibri"/>
                <a:ea typeface="Calibri"/>
                <a:cs typeface="Calibri"/>
                <a:sym typeface="Calibri"/>
              </a:rPr>
              <a:t>Dados não estruturados</a:t>
            </a:r>
            <a:r>
              <a:rPr lang="pt-BR" sz="1600">
                <a:solidFill>
                  <a:schemeClr val="dk2"/>
                </a:solidFill>
                <a:latin typeface="Calibri"/>
                <a:ea typeface="Calibri"/>
                <a:cs typeface="Calibri"/>
                <a:sym typeface="Calibri"/>
              </a:rPr>
              <a:t>: São dados que não possuem uma estrutura definida. Isso inclui texto livre, documentos, e-mails, mídias sociais, áudio, vídeo e imagens. </a:t>
            </a:r>
            <a:endParaRPr/>
          </a:p>
        </p:txBody>
      </p:sp>
      <p:pic>
        <p:nvPicPr>
          <p:cNvPr descr="Forma&#10;&#10;Descrição gerada automaticamente com confiança baixa" id="453" name="Google Shape;453;g3937d203302_0_332"/>
          <p:cNvPicPr preferRelativeResize="0"/>
          <p:nvPr/>
        </p:nvPicPr>
        <p:blipFill rotWithShape="1">
          <a:blip r:embed="rId3">
            <a:alphaModFix/>
          </a:blip>
          <a:srcRect b="0" l="0" r="0" t="0"/>
          <a:stretch/>
        </p:blipFill>
        <p:spPr>
          <a:xfrm>
            <a:off x="6423566" y="1768564"/>
            <a:ext cx="1070053" cy="1070053"/>
          </a:xfrm>
          <a:prstGeom prst="rect">
            <a:avLst/>
          </a:prstGeom>
          <a:noFill/>
          <a:ln>
            <a:noFill/>
          </a:ln>
        </p:spPr>
      </p:pic>
      <p:pic>
        <p:nvPicPr>
          <p:cNvPr descr="Forma&#10;&#10;Descrição gerada automaticamente com confiança baixa" id="454" name="Google Shape;454;g3937d203302_0_332"/>
          <p:cNvPicPr preferRelativeResize="0"/>
          <p:nvPr/>
        </p:nvPicPr>
        <p:blipFill rotWithShape="1">
          <a:blip r:embed="rId4">
            <a:alphaModFix/>
          </a:blip>
          <a:srcRect b="0" l="0" r="0" t="0"/>
          <a:stretch/>
        </p:blipFill>
        <p:spPr>
          <a:xfrm>
            <a:off x="7635332" y="1768564"/>
            <a:ext cx="1070054" cy="1070054"/>
          </a:xfrm>
          <a:prstGeom prst="rect">
            <a:avLst/>
          </a:prstGeom>
          <a:noFill/>
          <a:ln>
            <a:noFill/>
          </a:ln>
        </p:spPr>
      </p:pic>
      <p:pic>
        <p:nvPicPr>
          <p:cNvPr descr="Ícone&#10;&#10;Descrição gerada automaticamente" id="455" name="Google Shape;455;g3937d203302_0_332"/>
          <p:cNvPicPr preferRelativeResize="0"/>
          <p:nvPr/>
        </p:nvPicPr>
        <p:blipFill rotWithShape="1">
          <a:blip r:embed="rId5">
            <a:alphaModFix/>
          </a:blip>
          <a:srcRect b="0" l="0" r="0" t="0"/>
          <a:stretch/>
        </p:blipFill>
        <p:spPr>
          <a:xfrm>
            <a:off x="6461202" y="3018262"/>
            <a:ext cx="1032417" cy="1032417"/>
          </a:xfrm>
          <a:prstGeom prst="rect">
            <a:avLst/>
          </a:prstGeom>
          <a:noFill/>
          <a:ln>
            <a:noFill/>
          </a:ln>
        </p:spPr>
      </p:pic>
      <p:pic>
        <p:nvPicPr>
          <p:cNvPr descr="Forma&#10;&#10;Descrição gerada automaticamente com confiança baixa" id="456" name="Google Shape;456;g3937d203302_0_332"/>
          <p:cNvPicPr preferRelativeResize="0"/>
          <p:nvPr/>
        </p:nvPicPr>
        <p:blipFill rotWithShape="1">
          <a:blip r:embed="rId6">
            <a:alphaModFix/>
          </a:blip>
          <a:srcRect b="0" l="0" r="0" t="0"/>
          <a:stretch/>
        </p:blipFill>
        <p:spPr>
          <a:xfrm>
            <a:off x="7456913" y="2821024"/>
            <a:ext cx="1426892" cy="1426892"/>
          </a:xfrm>
          <a:prstGeom prst="rect">
            <a:avLst/>
          </a:prstGeom>
          <a:noFill/>
          <a:ln>
            <a:noFill/>
          </a:ln>
        </p:spPr>
      </p:pic>
      <p:sp>
        <p:nvSpPr>
          <p:cNvPr id="457" name="Google Shape;457;g3937d203302_0_332"/>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458" name="Google Shape;458;g3937d203302_0_332" title="SENAI_São_Paulo_logo.png"/>
          <p:cNvPicPr preferRelativeResize="0"/>
          <p:nvPr/>
        </p:nvPicPr>
        <p:blipFill rotWithShape="1">
          <a:blip r:embed="rId7">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g3937d203302_0_343"/>
          <p:cNvSpPr txBox="1"/>
          <p:nvPr>
            <p:ph type="title"/>
          </p:nvPr>
        </p:nvSpPr>
        <p:spPr>
          <a:xfrm>
            <a:off x="985989" y="1954714"/>
            <a:ext cx="7172100" cy="26694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4444"/>
              <a:buNone/>
            </a:pPr>
            <a:r>
              <a:rPr b="0" lang="pt-BR" sz="4000">
                <a:latin typeface="Impact"/>
                <a:ea typeface="Impact"/>
                <a:cs typeface="Impact"/>
                <a:sym typeface="Impact"/>
              </a:rPr>
              <a:t>Onde os dados estão disponíveis na sua empresa/escola?</a:t>
            </a:r>
            <a:br>
              <a:rPr b="0" lang="pt-BR" sz="4000">
                <a:latin typeface="Impact"/>
                <a:ea typeface="Impact"/>
                <a:cs typeface="Impact"/>
                <a:sym typeface="Impact"/>
              </a:rPr>
            </a:br>
            <a:r>
              <a:rPr b="0" lang="pt-BR" sz="2400">
                <a:latin typeface="Impact"/>
                <a:ea typeface="Impact"/>
                <a:cs typeface="Impact"/>
                <a:sym typeface="Impact"/>
              </a:rPr>
              <a:t>(ambiente de trabalho)</a:t>
            </a:r>
            <a:endParaRPr b="0" sz="4000">
              <a:latin typeface="Impact"/>
              <a:ea typeface="Impact"/>
              <a:cs typeface="Impact"/>
              <a:sym typeface="Impact"/>
            </a:endParaRPr>
          </a:p>
        </p:txBody>
      </p:sp>
      <p:sp>
        <p:nvSpPr>
          <p:cNvPr id="464" name="Google Shape;464;g3937d203302_0_343"/>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465" name="Google Shape;465;g3937d203302_0_343"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3937d203302_0_349"/>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Aqui no SENAI...</a:t>
            </a:r>
            <a:endParaRPr b="0">
              <a:latin typeface="Impact"/>
              <a:ea typeface="Impact"/>
              <a:cs typeface="Impact"/>
              <a:sym typeface="Impact"/>
            </a:endParaRPr>
          </a:p>
        </p:txBody>
      </p:sp>
      <p:sp>
        <p:nvSpPr>
          <p:cNvPr id="471" name="Google Shape;471;g3937d203302_0_349"/>
          <p:cNvSpPr txBox="1"/>
          <p:nvPr>
            <p:ph idx="1" type="body"/>
          </p:nvPr>
        </p:nvSpPr>
        <p:spPr>
          <a:xfrm>
            <a:off x="402811" y="1489385"/>
            <a:ext cx="5842200" cy="3547500"/>
          </a:xfrm>
          <a:prstGeom prst="rect">
            <a:avLst/>
          </a:prstGeom>
          <a:noFill/>
          <a:ln>
            <a:noFill/>
          </a:ln>
        </p:spPr>
        <p:txBody>
          <a:bodyPr anchorCtr="0" anchor="t" bIns="91425" lIns="91425" spcFirstLastPara="1" rIns="91425" wrap="square" tIns="91425">
            <a:normAutofit/>
          </a:bodyPr>
          <a:lstStyle/>
          <a:p>
            <a:pPr indent="-304800" lvl="0" marL="457200" rtl="0" algn="l">
              <a:lnSpc>
                <a:spcPct val="150000"/>
              </a:lnSpc>
              <a:spcBef>
                <a:spcPts val="0"/>
              </a:spcBef>
              <a:spcAft>
                <a:spcPts val="0"/>
              </a:spcAft>
              <a:buClr>
                <a:srgbClr val="374151"/>
              </a:buClr>
              <a:buSzPts val="1200"/>
              <a:buFont typeface="Arial"/>
              <a:buChar char="●"/>
            </a:pPr>
            <a:r>
              <a:rPr lang="pt-BR" sz="2000">
                <a:solidFill>
                  <a:schemeClr val="dk2"/>
                </a:solidFill>
                <a:latin typeface="Calibri"/>
                <a:ea typeface="Calibri"/>
                <a:cs typeface="Calibri"/>
                <a:sym typeface="Calibri"/>
              </a:rPr>
              <a:t>Servidores próprios da Rede SENAI (São Carlos, São Paulo e Brasília)</a:t>
            </a:r>
            <a:endParaRPr/>
          </a:p>
          <a:p>
            <a:pPr indent="-304800" lvl="0" marL="457200" rtl="0" algn="l">
              <a:lnSpc>
                <a:spcPct val="150000"/>
              </a:lnSpc>
              <a:spcBef>
                <a:spcPts val="0"/>
              </a:spcBef>
              <a:spcAft>
                <a:spcPts val="0"/>
              </a:spcAft>
              <a:buClr>
                <a:srgbClr val="374151"/>
              </a:buClr>
              <a:buSzPts val="1200"/>
              <a:buFont typeface="Arial"/>
              <a:buChar char="●"/>
            </a:pPr>
            <a:r>
              <a:rPr lang="pt-BR" sz="2000">
                <a:solidFill>
                  <a:schemeClr val="dk2"/>
                </a:solidFill>
                <a:latin typeface="Calibri"/>
                <a:ea typeface="Calibri"/>
                <a:cs typeface="Calibri"/>
                <a:sym typeface="Calibri"/>
              </a:rPr>
              <a:t>Servidores na nuvem (Azure e Google)</a:t>
            </a:r>
            <a:endParaRPr/>
          </a:p>
          <a:p>
            <a:pPr indent="-304800" lvl="0" marL="457200" rtl="0" algn="l">
              <a:lnSpc>
                <a:spcPct val="150000"/>
              </a:lnSpc>
              <a:spcBef>
                <a:spcPts val="0"/>
              </a:spcBef>
              <a:spcAft>
                <a:spcPts val="0"/>
              </a:spcAft>
              <a:buClr>
                <a:srgbClr val="374151"/>
              </a:buClr>
              <a:buSzPts val="1200"/>
              <a:buFont typeface="Arial"/>
              <a:buChar char="●"/>
            </a:pPr>
            <a:r>
              <a:rPr lang="pt-BR" sz="2000">
                <a:solidFill>
                  <a:schemeClr val="dk2"/>
                </a:solidFill>
                <a:latin typeface="Calibri"/>
                <a:ea typeface="Calibri"/>
                <a:cs typeface="Calibri"/>
                <a:sym typeface="Calibri"/>
              </a:rPr>
              <a:t>Dados físicos (redundância em papel)</a:t>
            </a:r>
            <a:endParaRPr/>
          </a:p>
          <a:p>
            <a:pPr indent="-304800" lvl="0" marL="457200" rtl="0" algn="l">
              <a:lnSpc>
                <a:spcPct val="150000"/>
              </a:lnSpc>
              <a:spcBef>
                <a:spcPts val="0"/>
              </a:spcBef>
              <a:spcAft>
                <a:spcPts val="0"/>
              </a:spcAft>
              <a:buClr>
                <a:srgbClr val="374151"/>
              </a:buClr>
              <a:buSzPts val="1200"/>
              <a:buFont typeface="Arial"/>
              <a:buChar char="●"/>
            </a:pPr>
            <a:r>
              <a:rPr lang="pt-BR" sz="2000">
                <a:solidFill>
                  <a:schemeClr val="dk2"/>
                </a:solidFill>
                <a:latin typeface="Calibri"/>
                <a:ea typeface="Calibri"/>
                <a:cs typeface="Calibri"/>
                <a:sym typeface="Calibri"/>
              </a:rPr>
              <a:t>Serviços públicos (Classroom e Microsoft Teams)</a:t>
            </a:r>
            <a:endParaRPr/>
          </a:p>
          <a:p>
            <a:pPr indent="-228600" lvl="0" marL="457200" rtl="0" algn="l">
              <a:lnSpc>
                <a:spcPct val="100000"/>
              </a:lnSpc>
              <a:spcBef>
                <a:spcPts val="0"/>
              </a:spcBef>
              <a:spcAft>
                <a:spcPts val="0"/>
              </a:spcAft>
              <a:buClr>
                <a:srgbClr val="374151"/>
              </a:buClr>
              <a:buSzPts val="1200"/>
              <a:buFont typeface="Arial"/>
              <a:buNone/>
            </a:pPr>
            <a:r>
              <a:t/>
            </a:r>
            <a:endParaRPr b="1" sz="2000">
              <a:solidFill>
                <a:schemeClr val="dk2"/>
              </a:solidFill>
              <a:latin typeface="Calibri"/>
              <a:ea typeface="Calibri"/>
              <a:cs typeface="Calibri"/>
              <a:sym typeface="Calibri"/>
            </a:endParaRPr>
          </a:p>
        </p:txBody>
      </p:sp>
      <p:pic>
        <p:nvPicPr>
          <p:cNvPr descr="Tela de computador com jogo&#10;&#10;Descrição gerada automaticamente" id="472" name="Google Shape;472;g3937d203302_0_349"/>
          <p:cNvPicPr preferRelativeResize="0"/>
          <p:nvPr/>
        </p:nvPicPr>
        <p:blipFill rotWithShape="1">
          <a:blip r:embed="rId3">
            <a:alphaModFix/>
          </a:blip>
          <a:srcRect b="0" l="0" r="0" t="0"/>
          <a:stretch/>
        </p:blipFill>
        <p:spPr>
          <a:xfrm>
            <a:off x="6474293" y="1825959"/>
            <a:ext cx="1625397" cy="1625397"/>
          </a:xfrm>
          <a:prstGeom prst="rect">
            <a:avLst/>
          </a:prstGeom>
          <a:noFill/>
          <a:ln>
            <a:noFill/>
          </a:ln>
        </p:spPr>
      </p:pic>
      <p:sp>
        <p:nvSpPr>
          <p:cNvPr id="473" name="Google Shape;473;g3937d203302_0_349"/>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474" name="Google Shape;474;g3937d203302_0_349"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g3937d203302_0_357"/>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O que são os painéis ou dashboards?</a:t>
            </a:r>
            <a:endParaRPr b="0">
              <a:latin typeface="Impact"/>
              <a:ea typeface="Impact"/>
              <a:cs typeface="Impact"/>
              <a:sym typeface="Impact"/>
            </a:endParaRPr>
          </a:p>
        </p:txBody>
      </p:sp>
      <p:sp>
        <p:nvSpPr>
          <p:cNvPr id="480" name="Google Shape;480;g3937d203302_0_357"/>
          <p:cNvSpPr txBox="1"/>
          <p:nvPr>
            <p:ph idx="1" type="body"/>
          </p:nvPr>
        </p:nvSpPr>
        <p:spPr>
          <a:xfrm>
            <a:off x="729450" y="2056698"/>
            <a:ext cx="3649200" cy="19005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SzPts val="1300"/>
              <a:buNone/>
            </a:pPr>
            <a:r>
              <a:rPr lang="pt-BR" sz="1600">
                <a:solidFill>
                  <a:schemeClr val="dk2"/>
                </a:solidFill>
                <a:highlight>
                  <a:schemeClr val="lt1"/>
                </a:highlight>
                <a:latin typeface="Calibri"/>
                <a:ea typeface="Calibri"/>
                <a:cs typeface="Calibri"/>
                <a:sym typeface="Calibri"/>
              </a:rPr>
              <a:t>São espaços de trabalho interativos onde você pode visualizar e explorar dados de maneira visual. Eles são compostos por um conjunto de visualizações, como gráficos, tabelas, mapas e medidores, que apresentam informações importantes de forma clara e objetiva.</a:t>
            </a:r>
            <a:endParaRPr sz="1600">
              <a:solidFill>
                <a:schemeClr val="dk2"/>
              </a:solidFill>
              <a:highlight>
                <a:schemeClr val="lt1"/>
              </a:highlight>
              <a:latin typeface="Calibri"/>
              <a:ea typeface="Calibri"/>
              <a:cs typeface="Calibri"/>
              <a:sym typeface="Calibri"/>
            </a:endParaRPr>
          </a:p>
          <a:p>
            <a:pPr indent="0" lvl="0" marL="457200" rtl="0" algn="l">
              <a:lnSpc>
                <a:spcPct val="100000"/>
              </a:lnSpc>
              <a:spcBef>
                <a:spcPts val="0"/>
              </a:spcBef>
              <a:spcAft>
                <a:spcPts val="0"/>
              </a:spcAft>
              <a:buSzPts val="1300"/>
              <a:buNone/>
            </a:pPr>
            <a:r>
              <a:t/>
            </a:r>
            <a:endParaRPr sz="1600">
              <a:solidFill>
                <a:schemeClr val="dk2"/>
              </a:solidFill>
              <a:latin typeface="Calibri"/>
              <a:ea typeface="Calibri"/>
              <a:cs typeface="Calibri"/>
              <a:sym typeface="Calibri"/>
            </a:endParaRPr>
          </a:p>
        </p:txBody>
      </p:sp>
      <p:pic>
        <p:nvPicPr>
          <p:cNvPr id="481" name="Google Shape;481;g3937d203302_0_357"/>
          <p:cNvPicPr preferRelativeResize="0"/>
          <p:nvPr/>
        </p:nvPicPr>
        <p:blipFill rotWithShape="1">
          <a:blip r:embed="rId3">
            <a:alphaModFix/>
          </a:blip>
          <a:srcRect b="0" l="0" r="0" t="0"/>
          <a:stretch/>
        </p:blipFill>
        <p:spPr>
          <a:xfrm>
            <a:off x="4619320" y="1148083"/>
            <a:ext cx="3435451" cy="3717817"/>
          </a:xfrm>
          <a:prstGeom prst="rect">
            <a:avLst/>
          </a:prstGeom>
          <a:noFill/>
          <a:ln>
            <a:noFill/>
          </a:ln>
        </p:spPr>
      </p:pic>
      <p:sp>
        <p:nvSpPr>
          <p:cNvPr id="482" name="Google Shape;482;g3937d203302_0_357"/>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483" name="Google Shape;483;g3937d203302_0_357"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g3937d203302_0_365"/>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Quais são os principais elementos de um dashboard?</a:t>
            </a:r>
            <a:endParaRPr b="0">
              <a:latin typeface="Impact"/>
              <a:ea typeface="Impact"/>
              <a:cs typeface="Impact"/>
              <a:sym typeface="Impact"/>
            </a:endParaRPr>
          </a:p>
        </p:txBody>
      </p:sp>
      <p:sp>
        <p:nvSpPr>
          <p:cNvPr id="489" name="Google Shape;489;g3937d203302_0_365"/>
          <p:cNvSpPr txBox="1"/>
          <p:nvPr>
            <p:ph idx="1" type="body"/>
          </p:nvPr>
        </p:nvSpPr>
        <p:spPr>
          <a:xfrm>
            <a:off x="77900" y="1163250"/>
            <a:ext cx="1620000" cy="39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i="0" lang="pt-BR" sz="1600">
                <a:solidFill>
                  <a:srgbClr val="374151"/>
                </a:solidFill>
                <a:latin typeface="Calibri"/>
                <a:ea typeface="Calibri"/>
                <a:cs typeface="Calibri"/>
                <a:sym typeface="Calibri"/>
              </a:rPr>
              <a:t>Visualizações</a:t>
            </a:r>
            <a:r>
              <a:rPr b="0" i="0" lang="pt-BR" sz="1600">
                <a:solidFill>
                  <a:srgbClr val="374151"/>
                </a:solidFill>
                <a:latin typeface="Calibri"/>
                <a:ea typeface="Calibri"/>
                <a:cs typeface="Calibri"/>
                <a:sym typeface="Calibri"/>
              </a:rPr>
              <a:t>: Gráficos, tabelas, mapas, medidores e outras formas de representar os dados</a:t>
            </a:r>
            <a:r>
              <a:rPr lang="pt-BR" sz="1600">
                <a:solidFill>
                  <a:srgbClr val="374151"/>
                </a:solidFill>
                <a:latin typeface="Calibri"/>
                <a:ea typeface="Calibri"/>
                <a:cs typeface="Calibri"/>
                <a:sym typeface="Calibri"/>
              </a:rPr>
              <a:t>.</a:t>
            </a:r>
            <a:r>
              <a:rPr b="0" i="0" lang="pt-BR" sz="1600">
                <a:solidFill>
                  <a:srgbClr val="374151"/>
                </a:solidFill>
                <a:latin typeface="Calibri"/>
                <a:ea typeface="Calibri"/>
                <a:cs typeface="Calibri"/>
                <a:sym typeface="Calibri"/>
              </a:rPr>
              <a:t> </a:t>
            </a:r>
            <a:endParaRPr/>
          </a:p>
          <a:p>
            <a:pPr indent="0" lvl="0" marL="0" rtl="0" algn="l">
              <a:lnSpc>
                <a:spcPct val="115000"/>
              </a:lnSpc>
              <a:spcBef>
                <a:spcPts val="0"/>
              </a:spcBef>
              <a:spcAft>
                <a:spcPts val="0"/>
              </a:spcAft>
              <a:buSzPts val="1300"/>
              <a:buNone/>
            </a:pPr>
            <a:r>
              <a:t/>
            </a:r>
            <a:endParaRPr/>
          </a:p>
        </p:txBody>
      </p:sp>
      <p:sp>
        <p:nvSpPr>
          <p:cNvPr id="490" name="Google Shape;490;g3937d203302_0_365"/>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491" name="Google Shape;491;g3937d203302_0_365"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pic>
        <p:nvPicPr>
          <p:cNvPr id="492" name="Google Shape;492;g3937d203302_0_365"/>
          <p:cNvPicPr preferRelativeResize="0"/>
          <p:nvPr/>
        </p:nvPicPr>
        <p:blipFill rotWithShape="1">
          <a:blip r:embed="rId4">
            <a:alphaModFix/>
          </a:blip>
          <a:srcRect b="0" l="0" r="0" t="0"/>
          <a:stretch/>
        </p:blipFill>
        <p:spPr>
          <a:xfrm>
            <a:off x="1822575" y="1009200"/>
            <a:ext cx="7128676" cy="4054725"/>
          </a:xfrm>
          <a:prstGeom prst="rect">
            <a:avLst/>
          </a:prstGeom>
          <a:noFill/>
          <a:ln>
            <a:noFill/>
          </a:ln>
        </p:spPr>
      </p:pic>
      <p:sp>
        <p:nvSpPr>
          <p:cNvPr id="493" name="Google Shape;493;g3937d203302_0_365"/>
          <p:cNvSpPr/>
          <p:nvPr/>
        </p:nvSpPr>
        <p:spPr>
          <a:xfrm>
            <a:off x="7892988" y="1106925"/>
            <a:ext cx="912000" cy="369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pt-BR" sz="1400" u="none" cap="none" strike="noStrike">
                <a:solidFill>
                  <a:srgbClr val="FF0000"/>
                </a:solidFill>
                <a:latin typeface="Lato"/>
                <a:ea typeface="Lato"/>
                <a:cs typeface="Lato"/>
                <a:sym typeface="Lato"/>
              </a:rPr>
              <a:t>Tabela</a:t>
            </a:r>
            <a:endParaRPr b="1" i="0" sz="1400" u="none" cap="none" strike="noStrike">
              <a:solidFill>
                <a:srgbClr val="FF0000"/>
              </a:solidFill>
              <a:latin typeface="Lato"/>
              <a:ea typeface="Lato"/>
              <a:cs typeface="Lato"/>
              <a:sym typeface="Lato"/>
            </a:endParaRPr>
          </a:p>
        </p:txBody>
      </p:sp>
      <p:sp>
        <p:nvSpPr>
          <p:cNvPr id="494" name="Google Shape;494;g3937d203302_0_365"/>
          <p:cNvSpPr/>
          <p:nvPr/>
        </p:nvSpPr>
        <p:spPr>
          <a:xfrm>
            <a:off x="2900700" y="2624075"/>
            <a:ext cx="1174800" cy="40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pt-BR" sz="1400" u="none" cap="none" strike="noStrike">
                <a:solidFill>
                  <a:srgbClr val="FF0000"/>
                </a:solidFill>
                <a:latin typeface="Lato"/>
                <a:ea typeface="Lato"/>
                <a:cs typeface="Lato"/>
                <a:sym typeface="Lato"/>
              </a:rPr>
              <a:t>Gráfico de barras</a:t>
            </a:r>
            <a:endParaRPr b="1" i="0" sz="1400" u="none" cap="none" strike="noStrike">
              <a:solidFill>
                <a:srgbClr val="FF0000"/>
              </a:solidFill>
              <a:latin typeface="Lato"/>
              <a:ea typeface="Lato"/>
              <a:cs typeface="Lato"/>
              <a:sym typeface="Lato"/>
            </a:endParaRPr>
          </a:p>
        </p:txBody>
      </p:sp>
      <p:sp>
        <p:nvSpPr>
          <p:cNvPr id="495" name="Google Shape;495;g3937d203302_0_365"/>
          <p:cNvSpPr/>
          <p:nvPr/>
        </p:nvSpPr>
        <p:spPr>
          <a:xfrm>
            <a:off x="2900700" y="4615575"/>
            <a:ext cx="1174800" cy="40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pt-BR" sz="1400" u="none" cap="none" strike="noStrike">
                <a:solidFill>
                  <a:srgbClr val="FF0000"/>
                </a:solidFill>
                <a:latin typeface="Lato"/>
                <a:ea typeface="Lato"/>
                <a:cs typeface="Lato"/>
                <a:sym typeface="Lato"/>
              </a:rPr>
              <a:t>Indicador</a:t>
            </a:r>
            <a:endParaRPr b="1" i="0" sz="1400" u="none" cap="none" strike="noStrike">
              <a:solidFill>
                <a:srgbClr val="FF0000"/>
              </a:solidFill>
              <a:latin typeface="Lato"/>
              <a:ea typeface="Lato"/>
              <a:cs typeface="Lato"/>
              <a:sym typeface="Lato"/>
            </a:endParaRPr>
          </a:p>
        </p:txBody>
      </p:sp>
      <p:sp>
        <p:nvSpPr>
          <p:cNvPr id="496" name="Google Shape;496;g3937d203302_0_365"/>
          <p:cNvSpPr/>
          <p:nvPr/>
        </p:nvSpPr>
        <p:spPr>
          <a:xfrm>
            <a:off x="4134250" y="4615525"/>
            <a:ext cx="1345800" cy="40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pt-BR" sz="1400" u="none" cap="none" strike="noStrike">
                <a:solidFill>
                  <a:srgbClr val="FF0000"/>
                </a:solidFill>
                <a:latin typeface="Lato"/>
                <a:ea typeface="Lato"/>
                <a:cs typeface="Lato"/>
                <a:sym typeface="Lato"/>
              </a:rPr>
              <a:t>Cartão de linha múltipla</a:t>
            </a:r>
            <a:endParaRPr b="1" i="0" sz="1400" u="none" cap="none" strike="noStrike">
              <a:solidFill>
                <a:srgbClr val="FF0000"/>
              </a:solidFill>
              <a:latin typeface="Lato"/>
              <a:ea typeface="Lato"/>
              <a:cs typeface="Lato"/>
              <a:sym typeface="Lato"/>
            </a:endParaRPr>
          </a:p>
        </p:txBody>
      </p:sp>
      <p:sp>
        <p:nvSpPr>
          <p:cNvPr id="497" name="Google Shape;497;g3937d203302_0_365"/>
          <p:cNvSpPr/>
          <p:nvPr/>
        </p:nvSpPr>
        <p:spPr>
          <a:xfrm>
            <a:off x="7546200" y="4581030"/>
            <a:ext cx="1345800" cy="40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pt-BR" sz="1400" u="none" cap="none" strike="noStrike">
                <a:solidFill>
                  <a:srgbClr val="FF0000"/>
                </a:solidFill>
                <a:latin typeface="Lato"/>
                <a:ea typeface="Lato"/>
                <a:cs typeface="Lato"/>
                <a:sym typeface="Lato"/>
              </a:rPr>
              <a:t>Mapa</a:t>
            </a:r>
            <a:endParaRPr b="1" i="0" sz="1400" u="none" cap="none" strike="noStrike">
              <a:solidFill>
                <a:srgbClr val="FF0000"/>
              </a:solidFill>
              <a:latin typeface="Lato"/>
              <a:ea typeface="Lato"/>
              <a:cs typeface="Lato"/>
              <a:sym typeface="La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g3937d203302_0_378"/>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Quais são os principais elementos de um dashboard?</a:t>
            </a:r>
            <a:endParaRPr b="0">
              <a:latin typeface="Impact"/>
              <a:ea typeface="Impact"/>
              <a:cs typeface="Impact"/>
              <a:sym typeface="Impact"/>
            </a:endParaRPr>
          </a:p>
        </p:txBody>
      </p:sp>
      <p:sp>
        <p:nvSpPr>
          <p:cNvPr id="503" name="Google Shape;503;g3937d203302_0_378"/>
          <p:cNvSpPr txBox="1"/>
          <p:nvPr>
            <p:ph idx="1" type="body"/>
          </p:nvPr>
        </p:nvSpPr>
        <p:spPr>
          <a:xfrm>
            <a:off x="77900" y="1163250"/>
            <a:ext cx="1620000" cy="39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lang="pt-BR" sz="1600">
                <a:solidFill>
                  <a:srgbClr val="374151"/>
                </a:solidFill>
                <a:latin typeface="Calibri"/>
                <a:ea typeface="Calibri"/>
                <a:cs typeface="Calibri"/>
                <a:sym typeface="Calibri"/>
              </a:rPr>
              <a:t>Páginas</a:t>
            </a:r>
            <a:r>
              <a:rPr lang="pt-BR" sz="1600">
                <a:solidFill>
                  <a:srgbClr val="374151"/>
                </a:solidFill>
                <a:latin typeface="Calibri"/>
                <a:ea typeface="Calibri"/>
                <a:cs typeface="Calibri"/>
                <a:sym typeface="Calibri"/>
              </a:rPr>
              <a:t>: As páginas permitem organizar os dados de forma lógica e dividir o conteúdo em seções.</a:t>
            </a:r>
            <a:endParaRPr/>
          </a:p>
          <a:p>
            <a:pPr indent="0" lvl="0" marL="0" rtl="0" algn="l">
              <a:lnSpc>
                <a:spcPct val="115000"/>
              </a:lnSpc>
              <a:spcBef>
                <a:spcPts val="0"/>
              </a:spcBef>
              <a:spcAft>
                <a:spcPts val="0"/>
              </a:spcAft>
              <a:buSzPts val="1300"/>
              <a:buNone/>
            </a:pPr>
            <a:r>
              <a:t/>
            </a:r>
            <a:endParaRPr/>
          </a:p>
        </p:txBody>
      </p:sp>
      <p:sp>
        <p:nvSpPr>
          <p:cNvPr id="504" name="Google Shape;504;g3937d203302_0_378"/>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505" name="Google Shape;505;g3937d203302_0_378"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pic>
        <p:nvPicPr>
          <p:cNvPr id="506" name="Google Shape;506;g3937d203302_0_378"/>
          <p:cNvPicPr preferRelativeResize="0"/>
          <p:nvPr/>
        </p:nvPicPr>
        <p:blipFill rotWithShape="1">
          <a:blip r:embed="rId4">
            <a:alphaModFix/>
          </a:blip>
          <a:srcRect b="0" l="0" r="0" t="0"/>
          <a:stretch/>
        </p:blipFill>
        <p:spPr>
          <a:xfrm>
            <a:off x="1702013" y="1401375"/>
            <a:ext cx="5743575" cy="2952750"/>
          </a:xfrm>
          <a:prstGeom prst="rect">
            <a:avLst/>
          </a:prstGeom>
          <a:noFill/>
          <a:ln>
            <a:noFill/>
          </a:ln>
        </p:spPr>
      </p:pic>
      <p:sp>
        <p:nvSpPr>
          <p:cNvPr id="507" name="Google Shape;507;g3937d203302_0_378"/>
          <p:cNvSpPr/>
          <p:nvPr/>
        </p:nvSpPr>
        <p:spPr>
          <a:xfrm>
            <a:off x="4096850" y="2833400"/>
            <a:ext cx="1009290" cy="535185"/>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
        <p:nvSpPr>
          <p:cNvPr id="508" name="Google Shape;508;g3937d203302_0_378"/>
          <p:cNvSpPr/>
          <p:nvPr/>
        </p:nvSpPr>
        <p:spPr>
          <a:xfrm>
            <a:off x="5168800" y="2836280"/>
            <a:ext cx="1009290" cy="535185"/>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937d203302_0_388"/>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Quais são os principais elementos de um dashboard?</a:t>
            </a:r>
            <a:endParaRPr b="0">
              <a:latin typeface="Impact"/>
              <a:ea typeface="Impact"/>
              <a:cs typeface="Impact"/>
              <a:sym typeface="Impact"/>
            </a:endParaRPr>
          </a:p>
        </p:txBody>
      </p:sp>
      <p:sp>
        <p:nvSpPr>
          <p:cNvPr id="514" name="Google Shape;514;g3937d203302_0_388"/>
          <p:cNvSpPr txBox="1"/>
          <p:nvPr>
            <p:ph idx="1" type="body"/>
          </p:nvPr>
        </p:nvSpPr>
        <p:spPr>
          <a:xfrm>
            <a:off x="77900" y="1163250"/>
            <a:ext cx="1620000" cy="3900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SzPts val="1300"/>
              <a:buNone/>
            </a:pPr>
            <a:r>
              <a:rPr b="1" lang="pt-BR" sz="1600">
                <a:solidFill>
                  <a:srgbClr val="374151"/>
                </a:solidFill>
                <a:latin typeface="Calibri"/>
                <a:ea typeface="Calibri"/>
                <a:cs typeface="Calibri"/>
                <a:sym typeface="Calibri"/>
              </a:rPr>
              <a:t>Filtros</a:t>
            </a:r>
            <a:r>
              <a:rPr b="1" lang="pt-BR"/>
              <a:t>: </a:t>
            </a:r>
            <a:r>
              <a:rPr lang="pt-BR"/>
              <a:t>permitem ao usuário refinar os dados exibidos com base em categorias, datas e outras opções.</a:t>
            </a:r>
            <a:endParaRPr/>
          </a:p>
        </p:txBody>
      </p:sp>
      <p:sp>
        <p:nvSpPr>
          <p:cNvPr id="515" name="Google Shape;515;g3937d203302_0_388"/>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516" name="Google Shape;516;g3937d203302_0_388"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pic>
        <p:nvPicPr>
          <p:cNvPr id="517" name="Google Shape;517;g3937d203302_0_388"/>
          <p:cNvPicPr preferRelativeResize="0"/>
          <p:nvPr/>
        </p:nvPicPr>
        <p:blipFill rotWithShape="1">
          <a:blip r:embed="rId4">
            <a:alphaModFix/>
          </a:blip>
          <a:srcRect b="0" l="0" r="0" t="0"/>
          <a:stretch/>
        </p:blipFill>
        <p:spPr>
          <a:xfrm>
            <a:off x="1850300" y="1259325"/>
            <a:ext cx="6592987" cy="3731775"/>
          </a:xfrm>
          <a:prstGeom prst="rect">
            <a:avLst/>
          </a:prstGeom>
          <a:noFill/>
          <a:ln>
            <a:noFill/>
          </a:ln>
        </p:spPr>
      </p:pic>
      <p:sp>
        <p:nvSpPr>
          <p:cNvPr id="518" name="Google Shape;518;g3937d203302_0_388"/>
          <p:cNvSpPr/>
          <p:nvPr/>
        </p:nvSpPr>
        <p:spPr>
          <a:xfrm>
            <a:off x="6818125" y="1246325"/>
            <a:ext cx="1054125" cy="368988"/>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
        <p:nvSpPr>
          <p:cNvPr id="519" name="Google Shape;519;g3937d203302_0_388"/>
          <p:cNvSpPr/>
          <p:nvPr/>
        </p:nvSpPr>
        <p:spPr>
          <a:xfrm>
            <a:off x="6862950" y="4395894"/>
            <a:ext cx="1619979" cy="209329"/>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
        <p:nvSpPr>
          <p:cNvPr id="520" name="Google Shape;520;g3937d203302_0_388"/>
          <p:cNvSpPr/>
          <p:nvPr/>
        </p:nvSpPr>
        <p:spPr>
          <a:xfrm>
            <a:off x="4306174" y="2467050"/>
            <a:ext cx="2399821" cy="2524039"/>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g3937d203302_0_399"/>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pt-BR">
                <a:latin typeface="Arial"/>
                <a:ea typeface="Arial"/>
                <a:cs typeface="Arial"/>
                <a:sym typeface="Arial"/>
              </a:rPr>
              <a:t>Exemplos de Dashboards</a:t>
            </a:r>
            <a:endParaRPr>
              <a:latin typeface="Arial"/>
              <a:ea typeface="Arial"/>
              <a:cs typeface="Arial"/>
              <a:sym typeface="Arial"/>
            </a:endParaRPr>
          </a:p>
        </p:txBody>
      </p:sp>
      <p:pic>
        <p:nvPicPr>
          <p:cNvPr id="526" name="Google Shape;526;g3937d203302_0_399"/>
          <p:cNvPicPr preferRelativeResize="0"/>
          <p:nvPr/>
        </p:nvPicPr>
        <p:blipFill rotWithShape="1">
          <a:blip r:embed="rId3">
            <a:alphaModFix/>
          </a:blip>
          <a:srcRect b="0" l="0" r="0" t="0"/>
          <a:stretch/>
        </p:blipFill>
        <p:spPr>
          <a:xfrm>
            <a:off x="1286107" y="1381386"/>
            <a:ext cx="6424148" cy="3605535"/>
          </a:xfrm>
          <a:prstGeom prst="rect">
            <a:avLst/>
          </a:prstGeom>
          <a:noFill/>
          <a:ln>
            <a:noFill/>
          </a:ln>
        </p:spPr>
      </p:pic>
      <p:sp>
        <p:nvSpPr>
          <p:cNvPr id="527" name="Google Shape;527;g3937d203302_0_399"/>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528" name="Google Shape;528;g3937d203302_0_399"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937d203302_0_406"/>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Quais são os principais elementos de um dashboard?</a:t>
            </a:r>
            <a:endParaRPr b="0">
              <a:latin typeface="Impact"/>
              <a:ea typeface="Impact"/>
              <a:cs typeface="Impact"/>
              <a:sym typeface="Impact"/>
            </a:endParaRPr>
          </a:p>
        </p:txBody>
      </p:sp>
      <p:sp>
        <p:nvSpPr>
          <p:cNvPr id="534" name="Google Shape;534;g3937d203302_0_406"/>
          <p:cNvSpPr txBox="1"/>
          <p:nvPr>
            <p:ph idx="1" type="body"/>
          </p:nvPr>
        </p:nvSpPr>
        <p:spPr>
          <a:xfrm>
            <a:off x="77900" y="1163250"/>
            <a:ext cx="1620000" cy="39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lang="pt-BR" sz="1600">
                <a:solidFill>
                  <a:srgbClr val="374151"/>
                </a:solidFill>
                <a:latin typeface="Calibri"/>
                <a:ea typeface="Calibri"/>
                <a:cs typeface="Calibri"/>
                <a:sym typeface="Calibri"/>
              </a:rPr>
              <a:t>Cartão</a:t>
            </a:r>
            <a:r>
              <a:rPr lang="pt-BR" sz="1600">
                <a:solidFill>
                  <a:srgbClr val="374151"/>
                </a:solidFill>
                <a:latin typeface="Calibri"/>
                <a:ea typeface="Calibri"/>
                <a:cs typeface="Calibri"/>
                <a:sym typeface="Calibri"/>
              </a:rPr>
              <a:t>: visualização que mostra um único valor ou métrica importante. Pode ser usado para exibir totais, contagens, médias, entre outros.</a:t>
            </a:r>
            <a:endParaRPr/>
          </a:p>
          <a:p>
            <a:pPr indent="0" lvl="0" marL="0" marR="0" rtl="0" algn="l">
              <a:lnSpc>
                <a:spcPct val="115000"/>
              </a:lnSpc>
              <a:spcBef>
                <a:spcPts val="0"/>
              </a:spcBef>
              <a:spcAft>
                <a:spcPts val="0"/>
              </a:spcAft>
              <a:buSzPts val="1300"/>
              <a:buNone/>
            </a:pPr>
            <a:r>
              <a:t/>
            </a:r>
            <a:endParaRPr b="1" sz="1600">
              <a:solidFill>
                <a:srgbClr val="374151"/>
              </a:solidFill>
              <a:latin typeface="Calibri"/>
              <a:ea typeface="Calibri"/>
              <a:cs typeface="Calibri"/>
              <a:sym typeface="Calibri"/>
            </a:endParaRPr>
          </a:p>
        </p:txBody>
      </p:sp>
      <p:sp>
        <p:nvSpPr>
          <p:cNvPr id="535" name="Google Shape;535;g3937d203302_0_406"/>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536" name="Google Shape;536;g3937d203302_0_406"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pic>
        <p:nvPicPr>
          <p:cNvPr id="537" name="Google Shape;537;g3937d203302_0_406"/>
          <p:cNvPicPr preferRelativeResize="0"/>
          <p:nvPr/>
        </p:nvPicPr>
        <p:blipFill rotWithShape="1">
          <a:blip r:embed="rId4">
            <a:alphaModFix/>
          </a:blip>
          <a:srcRect b="0" l="0" r="0" t="0"/>
          <a:stretch/>
        </p:blipFill>
        <p:spPr>
          <a:xfrm>
            <a:off x="1850300" y="1259325"/>
            <a:ext cx="7141300" cy="3246693"/>
          </a:xfrm>
          <a:prstGeom prst="rect">
            <a:avLst/>
          </a:prstGeom>
          <a:noFill/>
          <a:ln>
            <a:noFill/>
          </a:ln>
        </p:spPr>
      </p:pic>
      <p:sp>
        <p:nvSpPr>
          <p:cNvPr id="538" name="Google Shape;538;g3937d203302_0_406"/>
          <p:cNvSpPr/>
          <p:nvPr/>
        </p:nvSpPr>
        <p:spPr>
          <a:xfrm>
            <a:off x="8634779" y="2959499"/>
            <a:ext cx="269153" cy="293127"/>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
        <p:nvSpPr>
          <p:cNvPr id="539" name="Google Shape;539;g3937d203302_0_406"/>
          <p:cNvSpPr/>
          <p:nvPr/>
        </p:nvSpPr>
        <p:spPr>
          <a:xfrm>
            <a:off x="7142455" y="3261419"/>
            <a:ext cx="269153" cy="293127"/>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
        <p:nvSpPr>
          <p:cNvPr id="540" name="Google Shape;540;g3937d203302_0_406"/>
          <p:cNvSpPr/>
          <p:nvPr/>
        </p:nvSpPr>
        <p:spPr>
          <a:xfrm>
            <a:off x="7444376" y="3256823"/>
            <a:ext cx="269153" cy="293127"/>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g3937d203302_0_417"/>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Quais são os principais elementos de um dashboard?</a:t>
            </a:r>
            <a:endParaRPr b="0">
              <a:latin typeface="Impact"/>
              <a:ea typeface="Impact"/>
              <a:cs typeface="Impact"/>
              <a:sym typeface="Impact"/>
            </a:endParaRPr>
          </a:p>
        </p:txBody>
      </p:sp>
      <p:sp>
        <p:nvSpPr>
          <p:cNvPr id="546" name="Google Shape;546;g3937d203302_0_417"/>
          <p:cNvSpPr txBox="1"/>
          <p:nvPr>
            <p:ph idx="1" type="body"/>
          </p:nvPr>
        </p:nvSpPr>
        <p:spPr>
          <a:xfrm>
            <a:off x="77900" y="1163250"/>
            <a:ext cx="1620000" cy="39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lang="pt-BR" sz="1600">
                <a:solidFill>
                  <a:srgbClr val="374151"/>
                </a:solidFill>
                <a:latin typeface="Calibri"/>
                <a:ea typeface="Calibri"/>
                <a:cs typeface="Calibri"/>
                <a:sym typeface="Calibri"/>
              </a:rPr>
              <a:t>Tabelas e Matrizes</a:t>
            </a:r>
            <a:r>
              <a:rPr lang="pt-BR" sz="1600">
                <a:solidFill>
                  <a:srgbClr val="374151"/>
                </a:solidFill>
                <a:latin typeface="Calibri"/>
                <a:ea typeface="Calibri"/>
                <a:cs typeface="Calibri"/>
                <a:sym typeface="Calibri"/>
              </a:rPr>
              <a:t>: Permitem mostrar os dados em formato de tabela, onde os usuários podem visualizar e interagir com os detalhes.</a:t>
            </a:r>
            <a:endParaRPr b="1" sz="1600">
              <a:solidFill>
                <a:srgbClr val="374151"/>
              </a:solidFill>
              <a:latin typeface="Calibri"/>
              <a:ea typeface="Calibri"/>
              <a:cs typeface="Calibri"/>
              <a:sym typeface="Calibri"/>
            </a:endParaRPr>
          </a:p>
        </p:txBody>
      </p:sp>
      <p:sp>
        <p:nvSpPr>
          <p:cNvPr id="547" name="Google Shape;547;g3937d203302_0_417"/>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548" name="Google Shape;548;g3937d203302_0_417"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pic>
        <p:nvPicPr>
          <p:cNvPr id="549" name="Google Shape;549;g3937d203302_0_417"/>
          <p:cNvPicPr preferRelativeResize="0"/>
          <p:nvPr/>
        </p:nvPicPr>
        <p:blipFill rotWithShape="1">
          <a:blip r:embed="rId4">
            <a:alphaModFix/>
          </a:blip>
          <a:srcRect b="0" l="0" r="0" t="0"/>
          <a:stretch/>
        </p:blipFill>
        <p:spPr>
          <a:xfrm>
            <a:off x="1850300" y="1259325"/>
            <a:ext cx="6456052" cy="3731775"/>
          </a:xfrm>
          <a:prstGeom prst="rect">
            <a:avLst/>
          </a:prstGeom>
          <a:noFill/>
          <a:ln>
            <a:noFill/>
          </a:ln>
        </p:spPr>
      </p:pic>
      <p:sp>
        <p:nvSpPr>
          <p:cNvPr id="550" name="Google Shape;550;g3937d203302_0_417"/>
          <p:cNvSpPr/>
          <p:nvPr/>
        </p:nvSpPr>
        <p:spPr>
          <a:xfrm>
            <a:off x="7550775" y="3551100"/>
            <a:ext cx="299020" cy="291564"/>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
        <p:nvSpPr>
          <p:cNvPr id="551" name="Google Shape;551;g3937d203302_0_417"/>
          <p:cNvSpPr/>
          <p:nvPr/>
        </p:nvSpPr>
        <p:spPr>
          <a:xfrm>
            <a:off x="7890075" y="3546503"/>
            <a:ext cx="299020" cy="291564"/>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g3937d203302_0_427"/>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Quais são os principais elementos de um dashboard?</a:t>
            </a:r>
            <a:endParaRPr b="0">
              <a:latin typeface="Impact"/>
              <a:ea typeface="Impact"/>
              <a:cs typeface="Impact"/>
              <a:sym typeface="Impact"/>
            </a:endParaRPr>
          </a:p>
        </p:txBody>
      </p:sp>
      <p:sp>
        <p:nvSpPr>
          <p:cNvPr id="557" name="Google Shape;557;g3937d203302_0_427"/>
          <p:cNvSpPr txBox="1"/>
          <p:nvPr>
            <p:ph idx="1" type="body"/>
          </p:nvPr>
        </p:nvSpPr>
        <p:spPr>
          <a:xfrm>
            <a:off x="77900" y="1163250"/>
            <a:ext cx="1620000" cy="39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lang="pt-BR" sz="1600">
                <a:solidFill>
                  <a:srgbClr val="374151"/>
                </a:solidFill>
                <a:latin typeface="Calibri"/>
                <a:ea typeface="Calibri"/>
                <a:cs typeface="Calibri"/>
                <a:sym typeface="Calibri"/>
              </a:rPr>
              <a:t>Indicadores de desempenho (KPIs)</a:t>
            </a:r>
            <a:r>
              <a:rPr lang="pt-BR" sz="1600">
                <a:solidFill>
                  <a:srgbClr val="374151"/>
                </a:solidFill>
                <a:latin typeface="Calibri"/>
                <a:ea typeface="Calibri"/>
                <a:cs typeface="Calibri"/>
                <a:sym typeface="Calibri"/>
              </a:rPr>
              <a:t>: São elementos que mostram o desempenho ou status de uma métrica específica, geralmente com uma indicação visual de sucesso, alerta ou falha.</a:t>
            </a:r>
            <a:endParaRPr b="1" sz="1600">
              <a:solidFill>
                <a:srgbClr val="374151"/>
              </a:solidFill>
              <a:latin typeface="Calibri"/>
              <a:ea typeface="Calibri"/>
              <a:cs typeface="Calibri"/>
              <a:sym typeface="Calibri"/>
            </a:endParaRPr>
          </a:p>
        </p:txBody>
      </p:sp>
      <p:sp>
        <p:nvSpPr>
          <p:cNvPr id="558" name="Google Shape;558;g3937d203302_0_427"/>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559" name="Google Shape;559;g3937d203302_0_427"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pic>
        <p:nvPicPr>
          <p:cNvPr id="560" name="Google Shape;560;g3937d203302_0_427"/>
          <p:cNvPicPr preferRelativeResize="0"/>
          <p:nvPr/>
        </p:nvPicPr>
        <p:blipFill rotWithShape="1">
          <a:blip r:embed="rId4">
            <a:alphaModFix/>
          </a:blip>
          <a:srcRect b="0" l="0" r="0" t="0"/>
          <a:stretch/>
        </p:blipFill>
        <p:spPr>
          <a:xfrm>
            <a:off x="1850300" y="1259325"/>
            <a:ext cx="7141301" cy="3508417"/>
          </a:xfrm>
          <a:prstGeom prst="rect">
            <a:avLst/>
          </a:prstGeom>
          <a:noFill/>
          <a:ln>
            <a:noFill/>
          </a:ln>
        </p:spPr>
      </p:pic>
      <p:sp>
        <p:nvSpPr>
          <p:cNvPr id="561" name="Google Shape;561;g3937d203302_0_427"/>
          <p:cNvSpPr/>
          <p:nvPr/>
        </p:nvSpPr>
        <p:spPr>
          <a:xfrm>
            <a:off x="7640487" y="3424008"/>
            <a:ext cx="299020" cy="291564"/>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g3937d203302_0_436"/>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pt-BR">
                <a:latin typeface="Arial"/>
                <a:ea typeface="Arial"/>
                <a:cs typeface="Arial"/>
                <a:sym typeface="Arial"/>
              </a:rPr>
              <a:t>Exemplos de Dashboards</a:t>
            </a:r>
            <a:endParaRPr>
              <a:latin typeface="Arial"/>
              <a:ea typeface="Arial"/>
              <a:cs typeface="Arial"/>
              <a:sym typeface="Arial"/>
            </a:endParaRPr>
          </a:p>
        </p:txBody>
      </p:sp>
      <p:pic>
        <p:nvPicPr>
          <p:cNvPr id="567" name="Google Shape;567;g3937d203302_0_436"/>
          <p:cNvPicPr preferRelativeResize="0"/>
          <p:nvPr/>
        </p:nvPicPr>
        <p:blipFill rotWithShape="1">
          <a:blip r:embed="rId3">
            <a:alphaModFix/>
          </a:blip>
          <a:srcRect b="0" l="0" r="0" t="0"/>
          <a:stretch/>
        </p:blipFill>
        <p:spPr>
          <a:xfrm>
            <a:off x="1245219" y="1300765"/>
            <a:ext cx="6653560" cy="3729935"/>
          </a:xfrm>
          <a:prstGeom prst="rect">
            <a:avLst/>
          </a:prstGeom>
          <a:noFill/>
          <a:ln>
            <a:noFill/>
          </a:ln>
        </p:spPr>
      </p:pic>
      <p:sp>
        <p:nvSpPr>
          <p:cNvPr id="568" name="Google Shape;568;g3937d203302_0_436"/>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569" name="Google Shape;569;g3937d203302_0_436"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pic>
        <p:nvPicPr>
          <p:cNvPr id="574" name="Google Shape;574;g3937d203302_0_443"/>
          <p:cNvPicPr preferRelativeResize="0"/>
          <p:nvPr/>
        </p:nvPicPr>
        <p:blipFill rotWithShape="1">
          <a:blip r:embed="rId3">
            <a:alphaModFix/>
          </a:blip>
          <a:srcRect b="0" l="0" r="0" t="0"/>
          <a:stretch/>
        </p:blipFill>
        <p:spPr>
          <a:xfrm>
            <a:off x="2632433" y="1106925"/>
            <a:ext cx="5498516" cy="3956925"/>
          </a:xfrm>
          <a:prstGeom prst="rect">
            <a:avLst/>
          </a:prstGeom>
          <a:noFill/>
          <a:ln>
            <a:noFill/>
          </a:ln>
        </p:spPr>
      </p:pic>
      <p:sp>
        <p:nvSpPr>
          <p:cNvPr id="575" name="Google Shape;575;g3937d203302_0_443"/>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Quais são os principais elementos de um dashboard?</a:t>
            </a:r>
            <a:endParaRPr b="0">
              <a:latin typeface="Impact"/>
              <a:ea typeface="Impact"/>
              <a:cs typeface="Impact"/>
              <a:sym typeface="Impact"/>
            </a:endParaRPr>
          </a:p>
        </p:txBody>
      </p:sp>
      <p:sp>
        <p:nvSpPr>
          <p:cNvPr id="576" name="Google Shape;576;g3937d203302_0_443"/>
          <p:cNvSpPr txBox="1"/>
          <p:nvPr>
            <p:ph idx="1" type="body"/>
          </p:nvPr>
        </p:nvSpPr>
        <p:spPr>
          <a:xfrm>
            <a:off x="77900" y="1163250"/>
            <a:ext cx="1620000" cy="39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lang="pt-BR" sz="1600">
                <a:solidFill>
                  <a:srgbClr val="374151"/>
                </a:solidFill>
                <a:latin typeface="Calibri"/>
                <a:ea typeface="Calibri"/>
                <a:cs typeface="Calibri"/>
                <a:sym typeface="Calibri"/>
              </a:rPr>
              <a:t>Navegação</a:t>
            </a:r>
            <a:r>
              <a:rPr lang="pt-BR" sz="1600">
                <a:solidFill>
                  <a:srgbClr val="374151"/>
                </a:solidFill>
                <a:latin typeface="Calibri"/>
                <a:ea typeface="Calibri"/>
                <a:cs typeface="Calibri"/>
                <a:sym typeface="Calibri"/>
              </a:rPr>
              <a:t>: Permite aos usuários navegar entre diferentes páginas ou seções do dashboard para obter insights adicionais.</a:t>
            </a:r>
            <a:endParaRPr b="1" sz="1600">
              <a:solidFill>
                <a:srgbClr val="374151"/>
              </a:solidFill>
              <a:latin typeface="Calibri"/>
              <a:ea typeface="Calibri"/>
              <a:cs typeface="Calibri"/>
              <a:sym typeface="Calibri"/>
            </a:endParaRPr>
          </a:p>
        </p:txBody>
      </p:sp>
      <p:sp>
        <p:nvSpPr>
          <p:cNvPr id="577" name="Google Shape;577;g3937d203302_0_443"/>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578" name="Google Shape;578;g3937d203302_0_443"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
        <p:nvSpPr>
          <p:cNvPr id="579" name="Google Shape;579;g3937d203302_0_443"/>
          <p:cNvSpPr/>
          <p:nvPr/>
        </p:nvSpPr>
        <p:spPr>
          <a:xfrm>
            <a:off x="5741550" y="1345675"/>
            <a:ext cx="314059" cy="535185"/>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
        <p:nvSpPr>
          <p:cNvPr id="580" name="Google Shape;580;g3937d203302_0_443"/>
          <p:cNvSpPr/>
          <p:nvPr/>
        </p:nvSpPr>
        <p:spPr>
          <a:xfrm>
            <a:off x="5736956" y="1904826"/>
            <a:ext cx="1499809" cy="210892"/>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
        <p:nvSpPr>
          <p:cNvPr id="581" name="Google Shape;581;g3937d203302_0_443"/>
          <p:cNvSpPr/>
          <p:nvPr/>
        </p:nvSpPr>
        <p:spPr>
          <a:xfrm>
            <a:off x="5739835" y="2131986"/>
            <a:ext cx="1499809" cy="210892"/>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
        <p:nvSpPr>
          <p:cNvPr id="582" name="Google Shape;582;g3937d203302_0_443"/>
          <p:cNvSpPr/>
          <p:nvPr/>
        </p:nvSpPr>
        <p:spPr>
          <a:xfrm>
            <a:off x="5735252" y="4160875"/>
            <a:ext cx="1830453" cy="210892"/>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pic>
        <p:nvPicPr>
          <p:cNvPr id="583" name="Google Shape;583;g3937d203302_0_443"/>
          <p:cNvPicPr preferRelativeResize="0"/>
          <p:nvPr/>
        </p:nvPicPr>
        <p:blipFill rotWithShape="1">
          <a:blip r:embed="rId5">
            <a:alphaModFix/>
          </a:blip>
          <a:srcRect b="0" l="0" r="0" t="0"/>
          <a:stretch/>
        </p:blipFill>
        <p:spPr>
          <a:xfrm>
            <a:off x="7595625" y="4108543"/>
            <a:ext cx="1098578" cy="535200"/>
          </a:xfrm>
          <a:prstGeom prst="rect">
            <a:avLst/>
          </a:prstGeom>
          <a:noFill/>
          <a:ln>
            <a:noFill/>
          </a:ln>
        </p:spPr>
      </p:pic>
      <p:sp>
        <p:nvSpPr>
          <p:cNvPr id="584" name="Google Shape;584;g3937d203302_0_443"/>
          <p:cNvSpPr/>
          <p:nvPr/>
        </p:nvSpPr>
        <p:spPr>
          <a:xfrm>
            <a:off x="7629279" y="4160875"/>
            <a:ext cx="975628" cy="210892"/>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pic>
        <p:nvPicPr>
          <p:cNvPr id="589" name="Google Shape;589;g3937d203302_0_457"/>
          <p:cNvPicPr preferRelativeResize="0"/>
          <p:nvPr/>
        </p:nvPicPr>
        <p:blipFill rotWithShape="1">
          <a:blip r:embed="rId3">
            <a:alphaModFix/>
          </a:blip>
          <a:srcRect b="0" l="0" r="0" t="0"/>
          <a:stretch/>
        </p:blipFill>
        <p:spPr>
          <a:xfrm>
            <a:off x="1753125" y="2216275"/>
            <a:ext cx="7141302" cy="2320170"/>
          </a:xfrm>
          <a:prstGeom prst="rect">
            <a:avLst/>
          </a:prstGeom>
          <a:noFill/>
          <a:ln>
            <a:noFill/>
          </a:ln>
        </p:spPr>
      </p:pic>
      <p:sp>
        <p:nvSpPr>
          <p:cNvPr id="590" name="Google Shape;590;g3937d203302_0_457"/>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Quais são os principais elementos de um dashboard?</a:t>
            </a:r>
            <a:endParaRPr b="0">
              <a:latin typeface="Impact"/>
              <a:ea typeface="Impact"/>
              <a:cs typeface="Impact"/>
              <a:sym typeface="Impact"/>
            </a:endParaRPr>
          </a:p>
        </p:txBody>
      </p:sp>
      <p:sp>
        <p:nvSpPr>
          <p:cNvPr id="591" name="Google Shape;591;g3937d203302_0_457"/>
          <p:cNvSpPr txBox="1"/>
          <p:nvPr>
            <p:ph idx="1" type="body"/>
          </p:nvPr>
        </p:nvSpPr>
        <p:spPr>
          <a:xfrm>
            <a:off x="77900" y="1163250"/>
            <a:ext cx="1620000" cy="390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300"/>
              <a:buNone/>
            </a:pPr>
            <a:r>
              <a:rPr b="1" lang="pt-BR" sz="1600">
                <a:solidFill>
                  <a:srgbClr val="374151"/>
                </a:solidFill>
                <a:latin typeface="Calibri"/>
                <a:ea typeface="Calibri"/>
                <a:cs typeface="Calibri"/>
                <a:sym typeface="Calibri"/>
              </a:rPr>
              <a:t>Links e ações</a:t>
            </a:r>
            <a:r>
              <a:rPr lang="pt-BR" sz="1600">
                <a:solidFill>
                  <a:srgbClr val="374151"/>
                </a:solidFill>
                <a:latin typeface="Calibri"/>
                <a:ea typeface="Calibri"/>
                <a:cs typeface="Calibri"/>
                <a:sym typeface="Calibri"/>
              </a:rPr>
              <a:t>: É possível adicionar links a outras páginas, sites ou documentos relevantes, além de definir ações para serem executadas quando certos elementos são clicados.</a:t>
            </a:r>
            <a:endParaRPr b="1" sz="1600">
              <a:solidFill>
                <a:srgbClr val="374151"/>
              </a:solidFill>
              <a:latin typeface="Calibri"/>
              <a:ea typeface="Calibri"/>
              <a:cs typeface="Calibri"/>
              <a:sym typeface="Calibri"/>
            </a:endParaRPr>
          </a:p>
        </p:txBody>
      </p:sp>
      <p:sp>
        <p:nvSpPr>
          <p:cNvPr id="592" name="Google Shape;592;g3937d203302_0_457"/>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593" name="Google Shape;593;g3937d203302_0_457"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
        <p:nvSpPr>
          <p:cNvPr id="594" name="Google Shape;594;g3937d203302_0_457"/>
          <p:cNvSpPr/>
          <p:nvPr/>
        </p:nvSpPr>
        <p:spPr>
          <a:xfrm>
            <a:off x="5962075" y="2482050"/>
            <a:ext cx="1252301" cy="1009270"/>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
        <p:nvSpPr>
          <p:cNvPr id="595" name="Google Shape;595;g3937d203302_0_457"/>
          <p:cNvSpPr/>
          <p:nvPr/>
        </p:nvSpPr>
        <p:spPr>
          <a:xfrm>
            <a:off x="7752625" y="3159700"/>
            <a:ext cx="1098960" cy="368988"/>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
        <p:nvSpPr>
          <p:cNvPr id="596" name="Google Shape;596;g3937d203302_0_457"/>
          <p:cNvSpPr/>
          <p:nvPr/>
        </p:nvSpPr>
        <p:spPr>
          <a:xfrm>
            <a:off x="7752625" y="4167450"/>
            <a:ext cx="1098960" cy="368988"/>
          </a:xfrm>
          <a:custGeom>
            <a:rect b="b" l="l" r="r" t="t"/>
            <a:pathLst>
              <a:path extrusionOk="0" h="16447" w="28110">
                <a:moveTo>
                  <a:pt x="0" y="299"/>
                </a:moveTo>
                <a:lnTo>
                  <a:pt x="0" y="16447"/>
                </a:lnTo>
                <a:lnTo>
                  <a:pt x="28110" y="16447"/>
                </a:lnTo>
                <a:lnTo>
                  <a:pt x="28110" y="0"/>
                </a:lnTo>
                <a:close/>
              </a:path>
            </a:pathLst>
          </a:custGeom>
          <a:noFill/>
          <a:ln cap="flat" cmpd="sng" w="38100">
            <a:solidFill>
              <a:srgbClr val="FF0000"/>
            </a:solidFill>
            <a:prstDash val="solid"/>
            <a:round/>
            <a:headEnd len="sm" w="sm" type="none"/>
            <a:tailEnd len="sm" w="sm" type="none"/>
          </a:ln>
        </p:spPr>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3937d203302_0_468"/>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Quais são os principais elementos de um dashboard?</a:t>
            </a:r>
            <a:endParaRPr b="0">
              <a:latin typeface="Impact"/>
              <a:ea typeface="Impact"/>
              <a:cs typeface="Impact"/>
              <a:sym typeface="Impact"/>
            </a:endParaRPr>
          </a:p>
        </p:txBody>
      </p:sp>
      <p:sp>
        <p:nvSpPr>
          <p:cNvPr id="602" name="Google Shape;602;g3937d203302_0_468"/>
          <p:cNvSpPr txBox="1"/>
          <p:nvPr>
            <p:ph idx="1" type="body"/>
          </p:nvPr>
        </p:nvSpPr>
        <p:spPr>
          <a:xfrm>
            <a:off x="387479" y="1521498"/>
            <a:ext cx="8310600" cy="29763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b="1" i="0" lang="pt-BR" sz="2000">
                <a:solidFill>
                  <a:srgbClr val="374151"/>
                </a:solidFill>
                <a:latin typeface="Calibri"/>
                <a:ea typeface="Calibri"/>
                <a:cs typeface="Calibri"/>
                <a:sym typeface="Calibri"/>
              </a:rPr>
              <a:t>Texto descritivo</a:t>
            </a:r>
            <a:r>
              <a:rPr b="0" i="0" lang="pt-BR" sz="2000">
                <a:solidFill>
                  <a:srgbClr val="374151"/>
                </a:solidFill>
                <a:latin typeface="Calibri"/>
                <a:ea typeface="Calibri"/>
                <a:cs typeface="Calibri"/>
                <a:sym typeface="Calibri"/>
              </a:rPr>
              <a:t>: Você pode adicionar texto explicativo, títulos e subtítulos para orientar os usuários e fornecer informações contextuais.</a:t>
            </a:r>
            <a:endParaRPr/>
          </a:p>
          <a:p>
            <a:pPr indent="-311150" lvl="0" marL="457200" rtl="0" algn="l">
              <a:lnSpc>
                <a:spcPct val="115000"/>
              </a:lnSpc>
              <a:spcBef>
                <a:spcPts val="0"/>
              </a:spcBef>
              <a:spcAft>
                <a:spcPts val="0"/>
              </a:spcAft>
              <a:buSzPts val="1300"/>
              <a:buChar char="●"/>
            </a:pPr>
            <a:r>
              <a:rPr b="1" i="0" lang="pt-BR" sz="2000">
                <a:solidFill>
                  <a:srgbClr val="374151"/>
                </a:solidFill>
                <a:latin typeface="Calibri"/>
                <a:ea typeface="Calibri"/>
                <a:cs typeface="Calibri"/>
                <a:sym typeface="Calibri"/>
              </a:rPr>
              <a:t>Background (Fundo)</a:t>
            </a:r>
            <a:r>
              <a:rPr b="0" i="0" lang="pt-BR" sz="2000">
                <a:solidFill>
                  <a:srgbClr val="374151"/>
                </a:solidFill>
                <a:latin typeface="Calibri"/>
                <a:ea typeface="Calibri"/>
                <a:cs typeface="Calibri"/>
                <a:sym typeface="Calibri"/>
              </a:rPr>
              <a:t>: A aparência do dashboard pode ser personalizada com cores de fundo ou imagens para torná-lo mais atraente e aderente à identidade da empresa.</a:t>
            </a:r>
            <a:endParaRPr/>
          </a:p>
          <a:p>
            <a:pPr indent="-311150" lvl="0" marL="457200" rtl="0" algn="l">
              <a:lnSpc>
                <a:spcPct val="115000"/>
              </a:lnSpc>
              <a:spcBef>
                <a:spcPts val="0"/>
              </a:spcBef>
              <a:spcAft>
                <a:spcPts val="0"/>
              </a:spcAft>
              <a:buSzPts val="1300"/>
              <a:buChar char="●"/>
            </a:pPr>
            <a:r>
              <a:rPr b="1" i="0" lang="pt-BR" sz="2000">
                <a:solidFill>
                  <a:srgbClr val="374151"/>
                </a:solidFill>
                <a:latin typeface="Calibri"/>
                <a:ea typeface="Calibri"/>
                <a:cs typeface="Calibri"/>
                <a:sym typeface="Calibri"/>
              </a:rPr>
              <a:t>Imagens e Logos</a:t>
            </a:r>
            <a:r>
              <a:rPr b="0" i="0" lang="pt-BR" sz="2000">
                <a:solidFill>
                  <a:srgbClr val="374151"/>
                </a:solidFill>
                <a:latin typeface="Calibri"/>
                <a:ea typeface="Calibri"/>
                <a:cs typeface="Calibri"/>
                <a:sym typeface="Calibri"/>
              </a:rPr>
              <a:t>: Elementos visuais que podem ser usados para melhorar o design e a identidade visual do dashboard.</a:t>
            </a:r>
            <a:endParaRPr/>
          </a:p>
          <a:p>
            <a:pPr indent="0" lvl="0" marL="146050" rtl="0" algn="l">
              <a:lnSpc>
                <a:spcPct val="115000"/>
              </a:lnSpc>
              <a:spcBef>
                <a:spcPts val="0"/>
              </a:spcBef>
              <a:spcAft>
                <a:spcPts val="0"/>
              </a:spcAft>
              <a:buSzPts val="1300"/>
              <a:buNone/>
            </a:pPr>
            <a:r>
              <a:t/>
            </a:r>
            <a:endParaRPr b="0" i="0" sz="2000">
              <a:solidFill>
                <a:srgbClr val="374151"/>
              </a:solidFill>
              <a:latin typeface="Calibri"/>
              <a:ea typeface="Calibri"/>
              <a:cs typeface="Calibri"/>
              <a:sym typeface="Calibri"/>
            </a:endParaRPr>
          </a:p>
        </p:txBody>
      </p:sp>
      <p:sp>
        <p:nvSpPr>
          <p:cNvPr id="603" name="Google Shape;603;g3937d203302_0_468"/>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604" name="Google Shape;604;g3937d203302_0_468"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g3937d203302_0_475"/>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pt-BR">
                <a:latin typeface="Arial"/>
                <a:ea typeface="Arial"/>
                <a:cs typeface="Arial"/>
                <a:sym typeface="Arial"/>
              </a:rPr>
              <a:t>Exemplos de Dashboards</a:t>
            </a:r>
            <a:endParaRPr>
              <a:latin typeface="Arial"/>
              <a:ea typeface="Arial"/>
              <a:cs typeface="Arial"/>
              <a:sym typeface="Arial"/>
            </a:endParaRPr>
          </a:p>
        </p:txBody>
      </p:sp>
      <p:pic>
        <p:nvPicPr>
          <p:cNvPr descr="Interface gráfica do usuário, Aplicativo&#10;&#10;Descrição gerada automaticamente" id="610" name="Google Shape;610;g3937d203302_0_475"/>
          <p:cNvPicPr preferRelativeResize="0"/>
          <p:nvPr/>
        </p:nvPicPr>
        <p:blipFill rotWithShape="1">
          <a:blip r:embed="rId3">
            <a:alphaModFix/>
          </a:blip>
          <a:srcRect b="0" l="0" r="0" t="0"/>
          <a:stretch/>
        </p:blipFill>
        <p:spPr>
          <a:xfrm>
            <a:off x="1797084" y="1324736"/>
            <a:ext cx="5549830" cy="3775363"/>
          </a:xfrm>
          <a:prstGeom prst="rect">
            <a:avLst/>
          </a:prstGeom>
          <a:noFill/>
          <a:ln>
            <a:noFill/>
          </a:ln>
        </p:spPr>
      </p:pic>
      <p:sp>
        <p:nvSpPr>
          <p:cNvPr id="611" name="Google Shape;611;g3937d203302_0_475"/>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612" name="Google Shape;612;g3937d203302_0_475"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pic>
        <p:nvPicPr>
          <p:cNvPr id="617" name="Google Shape;617;g3937d203302_0_482"/>
          <p:cNvPicPr preferRelativeResize="0"/>
          <p:nvPr/>
        </p:nvPicPr>
        <p:blipFill rotWithShape="1">
          <a:blip r:embed="rId3">
            <a:alphaModFix/>
          </a:blip>
          <a:srcRect b="9780" l="15837" r="17729" t="21296"/>
          <a:stretch/>
        </p:blipFill>
        <p:spPr>
          <a:xfrm>
            <a:off x="1279577" y="1280851"/>
            <a:ext cx="6848672" cy="3819249"/>
          </a:xfrm>
          <a:prstGeom prst="rect">
            <a:avLst/>
          </a:prstGeom>
          <a:noFill/>
          <a:ln>
            <a:noFill/>
          </a:ln>
        </p:spPr>
      </p:pic>
      <p:sp>
        <p:nvSpPr>
          <p:cNvPr id="618" name="Google Shape;618;g3937d203302_0_482"/>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pt-BR">
                <a:latin typeface="Arial"/>
                <a:ea typeface="Arial"/>
                <a:cs typeface="Arial"/>
                <a:sym typeface="Arial"/>
              </a:rPr>
              <a:t>Exemplos de Dashboards</a:t>
            </a:r>
            <a:endParaRPr>
              <a:latin typeface="Arial"/>
              <a:ea typeface="Arial"/>
              <a:cs typeface="Arial"/>
              <a:sym typeface="Arial"/>
            </a:endParaRPr>
          </a:p>
        </p:txBody>
      </p:sp>
      <p:sp>
        <p:nvSpPr>
          <p:cNvPr id="619" name="Google Shape;619;g3937d203302_0_482"/>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620" name="Google Shape;620;g3937d203302_0_482"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g3937d203302_0_489"/>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pt-BR">
                <a:latin typeface="Arial"/>
                <a:ea typeface="Arial"/>
                <a:cs typeface="Arial"/>
                <a:sym typeface="Arial"/>
              </a:rPr>
              <a:t>Demonstração!</a:t>
            </a:r>
            <a:endParaRPr>
              <a:latin typeface="Arial"/>
              <a:ea typeface="Arial"/>
              <a:cs typeface="Arial"/>
              <a:sym typeface="Arial"/>
            </a:endParaRPr>
          </a:p>
        </p:txBody>
      </p:sp>
      <p:sp>
        <p:nvSpPr>
          <p:cNvPr id="626" name="Google Shape;626;g3937d203302_0_489"/>
          <p:cNvSpPr txBox="1"/>
          <p:nvPr>
            <p:ph idx="1" type="body"/>
          </p:nvPr>
        </p:nvSpPr>
        <p:spPr>
          <a:xfrm>
            <a:off x="729450" y="1318400"/>
            <a:ext cx="5055900" cy="3547500"/>
          </a:xfrm>
          <a:prstGeom prst="rect">
            <a:avLst/>
          </a:prstGeom>
          <a:noFill/>
          <a:ln>
            <a:noFill/>
          </a:ln>
        </p:spPr>
        <p:txBody>
          <a:bodyPr anchorCtr="0" anchor="t" bIns="91425" lIns="91425" spcFirstLastPara="1" rIns="91425" wrap="square" tIns="91425">
            <a:normAutofit/>
          </a:bodyPr>
          <a:lstStyle/>
          <a:p>
            <a:pPr indent="0" lvl="0" marL="457200" rtl="0" algn="l">
              <a:lnSpc>
                <a:spcPct val="200000"/>
              </a:lnSpc>
              <a:spcBef>
                <a:spcPts val="0"/>
              </a:spcBef>
              <a:spcAft>
                <a:spcPts val="0"/>
              </a:spcAft>
              <a:buSzPts val="1300"/>
              <a:buNone/>
            </a:pPr>
            <a:r>
              <a:t/>
            </a:r>
            <a:endParaRPr sz="1200">
              <a:solidFill>
                <a:srgbClr val="374151"/>
              </a:solidFill>
              <a:latin typeface="Arial"/>
              <a:ea typeface="Arial"/>
              <a:cs typeface="Arial"/>
              <a:sym typeface="Arial"/>
            </a:endParaRPr>
          </a:p>
          <a:p>
            <a:pPr indent="0" lvl="0" marL="457200" rtl="0" algn="l">
              <a:lnSpc>
                <a:spcPct val="200000"/>
              </a:lnSpc>
              <a:spcBef>
                <a:spcPts val="0"/>
              </a:spcBef>
              <a:spcAft>
                <a:spcPts val="0"/>
              </a:spcAft>
              <a:buSzPts val="1300"/>
              <a:buNone/>
            </a:pPr>
            <a:r>
              <a:t/>
            </a:r>
            <a:endParaRPr sz="1200">
              <a:solidFill>
                <a:srgbClr val="374151"/>
              </a:solidFill>
              <a:latin typeface="Arial"/>
              <a:ea typeface="Arial"/>
              <a:cs typeface="Arial"/>
              <a:sym typeface="Arial"/>
            </a:endParaRPr>
          </a:p>
        </p:txBody>
      </p:sp>
      <p:sp>
        <p:nvSpPr>
          <p:cNvPr id="627" name="Google Shape;627;g3937d203302_0_489"/>
          <p:cNvSpPr txBox="1"/>
          <p:nvPr/>
        </p:nvSpPr>
        <p:spPr>
          <a:xfrm>
            <a:off x="417214" y="1355570"/>
            <a:ext cx="7997400" cy="3547500"/>
          </a:xfrm>
          <a:prstGeom prst="rect">
            <a:avLst/>
          </a:prstGeom>
          <a:noFill/>
          <a:ln>
            <a:noFill/>
          </a:ln>
        </p:spPr>
        <p:txBody>
          <a:bodyPr anchorCtr="0" anchor="t" bIns="91425" lIns="91425" spcFirstLastPara="1" rIns="91425" wrap="square" tIns="91425">
            <a:normAutofit fontScale="62500" lnSpcReduction="10000"/>
          </a:bodyPr>
          <a:lstStyle/>
          <a:p>
            <a:pPr indent="-276905" lvl="0" marL="742950" marR="0" rtl="0" algn="l">
              <a:lnSpc>
                <a:spcPct val="200000"/>
              </a:lnSpc>
              <a:spcBef>
                <a:spcPts val="0"/>
              </a:spcBef>
              <a:spcAft>
                <a:spcPts val="0"/>
              </a:spcAft>
              <a:buClr>
                <a:schemeClr val="accent1"/>
              </a:buClr>
              <a:buSzPct val="92857"/>
              <a:buFont typeface="Lato"/>
              <a:buChar char="●"/>
            </a:pPr>
            <a:r>
              <a:rPr b="0" i="0" lang="pt-BR" sz="2000" u="none" cap="none" strike="noStrike">
                <a:solidFill>
                  <a:schemeClr val="dk2"/>
                </a:solidFill>
                <a:latin typeface="Calibri"/>
                <a:ea typeface="Calibri"/>
                <a:cs typeface="Calibri"/>
                <a:sym typeface="Calibri"/>
              </a:rPr>
              <a:t>Conectando-se a arquivos (CSV, Access) </a:t>
            </a:r>
            <a:endParaRPr b="0" i="0" sz="1400" u="none" cap="none" strike="noStrike">
              <a:solidFill>
                <a:srgbClr val="000000"/>
              </a:solidFill>
              <a:latin typeface="Arial"/>
              <a:ea typeface="Arial"/>
              <a:cs typeface="Arial"/>
              <a:sym typeface="Arial"/>
            </a:endParaRPr>
          </a:p>
          <a:p>
            <a:pPr indent="-276905" lvl="0" marL="742950" marR="0" rtl="0" algn="l">
              <a:lnSpc>
                <a:spcPct val="200000"/>
              </a:lnSpc>
              <a:spcBef>
                <a:spcPts val="0"/>
              </a:spcBef>
              <a:spcAft>
                <a:spcPts val="0"/>
              </a:spcAft>
              <a:buClr>
                <a:schemeClr val="accent1"/>
              </a:buClr>
              <a:buSzPct val="92857"/>
              <a:buFont typeface="Lato"/>
              <a:buChar char="●"/>
            </a:pPr>
            <a:r>
              <a:rPr b="0" i="0" lang="pt-BR" sz="2000" u="none" cap="none" strike="noStrike">
                <a:solidFill>
                  <a:schemeClr val="dk2"/>
                </a:solidFill>
                <a:latin typeface="Calibri"/>
                <a:ea typeface="Calibri"/>
                <a:cs typeface="Calibri"/>
                <a:sym typeface="Calibri"/>
              </a:rPr>
              <a:t>Criando meus próprios dados (</a:t>
            </a:r>
            <a:r>
              <a:rPr b="1" i="0" lang="pt-BR" sz="2000" u="none" cap="none" strike="noStrike">
                <a:solidFill>
                  <a:schemeClr val="dk2"/>
                </a:solidFill>
                <a:latin typeface="Calibri"/>
                <a:ea typeface="Calibri"/>
                <a:cs typeface="Calibri"/>
                <a:sym typeface="Calibri"/>
              </a:rPr>
              <a:t>ChatGPT</a:t>
            </a:r>
            <a:r>
              <a:rPr b="0" i="0" lang="pt-BR" sz="2000" u="none" cap="none" strike="noStrike">
                <a:solidFill>
                  <a:schemeClr val="dk2"/>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278264" lvl="1" marL="1200150" marR="0" rtl="0" algn="l">
              <a:lnSpc>
                <a:spcPct val="200000"/>
              </a:lnSpc>
              <a:spcBef>
                <a:spcPts val="0"/>
              </a:spcBef>
              <a:spcAft>
                <a:spcPts val="0"/>
              </a:spcAft>
              <a:buClr>
                <a:schemeClr val="accent1"/>
              </a:buClr>
              <a:buSzPct val="87301"/>
              <a:buFont typeface="Lato"/>
              <a:buChar char="○"/>
            </a:pPr>
            <a:r>
              <a:rPr b="0" i="0" lang="pt-BR" sz="1800" u="sng" cap="none" strike="noStrike">
                <a:solidFill>
                  <a:schemeClr val="dk2"/>
                </a:solidFill>
                <a:latin typeface="Calibri"/>
                <a:ea typeface="Calibri"/>
                <a:cs typeface="Calibri"/>
                <a:sym typeface="Calibri"/>
                <a:hlinkClick r:id="rId3">
                  <a:extLst>
                    <a:ext uri="{A12FA001-AC4F-418D-AE19-62706E023703}">
                      <ahyp:hlinkClr val="tx"/>
                    </a:ext>
                  </a:extLst>
                </a:hlinkClick>
              </a:rPr>
              <a:t>ChatGPT</a:t>
            </a:r>
            <a:endParaRPr b="0" i="0" sz="1800" u="none" cap="none" strike="noStrike">
              <a:solidFill>
                <a:schemeClr val="dk2"/>
              </a:solidFill>
              <a:latin typeface="Calibri"/>
              <a:ea typeface="Calibri"/>
              <a:cs typeface="Calibri"/>
              <a:sym typeface="Calibri"/>
            </a:endParaRPr>
          </a:p>
          <a:p>
            <a:pPr indent="-276905" lvl="0" marL="742950" marR="0" rtl="0" algn="l">
              <a:lnSpc>
                <a:spcPct val="200000"/>
              </a:lnSpc>
              <a:spcBef>
                <a:spcPts val="0"/>
              </a:spcBef>
              <a:spcAft>
                <a:spcPts val="0"/>
              </a:spcAft>
              <a:buClr>
                <a:schemeClr val="accent1"/>
              </a:buClr>
              <a:buSzPct val="92857"/>
              <a:buFont typeface="Lato"/>
              <a:buChar char="●"/>
            </a:pPr>
            <a:r>
              <a:rPr b="0" i="0" lang="pt-BR" sz="2000" u="none" cap="none" strike="noStrike">
                <a:solidFill>
                  <a:schemeClr val="dk2"/>
                </a:solidFill>
                <a:latin typeface="Calibri"/>
                <a:ea typeface="Calibri"/>
                <a:cs typeface="Calibri"/>
                <a:sym typeface="Calibri"/>
              </a:rPr>
              <a:t>Extraindo dados do IBGE</a:t>
            </a:r>
            <a:endParaRPr b="0" i="0" sz="1400" u="none" cap="none" strike="noStrike">
              <a:solidFill>
                <a:srgbClr val="000000"/>
              </a:solidFill>
              <a:latin typeface="Arial"/>
              <a:ea typeface="Arial"/>
              <a:cs typeface="Arial"/>
              <a:sym typeface="Arial"/>
            </a:endParaRPr>
          </a:p>
          <a:p>
            <a:pPr indent="-278264" lvl="1" marL="1200150" marR="0" rtl="0" algn="l">
              <a:lnSpc>
                <a:spcPct val="200000"/>
              </a:lnSpc>
              <a:spcBef>
                <a:spcPts val="0"/>
              </a:spcBef>
              <a:spcAft>
                <a:spcPts val="0"/>
              </a:spcAft>
              <a:buClr>
                <a:schemeClr val="accent1"/>
              </a:buClr>
              <a:buSzPct val="87301"/>
              <a:buFont typeface="Lato"/>
              <a:buChar char="○"/>
            </a:pPr>
            <a:r>
              <a:rPr b="0" i="0" lang="pt-BR" sz="1800" u="sng" cap="none" strike="noStrike">
                <a:solidFill>
                  <a:schemeClr val="dk2"/>
                </a:solidFill>
                <a:latin typeface="Calibri"/>
                <a:ea typeface="Calibri"/>
                <a:cs typeface="Calibri"/>
                <a:sym typeface="Calibri"/>
                <a:hlinkClick r:id="rId4">
                  <a:extLst>
                    <a:ext uri="{A12FA001-AC4F-418D-AE19-62706E023703}">
                      <ahyp:hlinkClr val="tx"/>
                    </a:ext>
                  </a:extLst>
                </a:hlinkClick>
              </a:rPr>
              <a:t>IBGE</a:t>
            </a:r>
            <a:r>
              <a:rPr b="0" i="0" lang="pt-BR" sz="1800" u="none" cap="none" strike="noStrike">
                <a:solidFill>
                  <a:schemeClr val="dk2"/>
                </a:solidFill>
                <a:latin typeface="Calibri"/>
                <a:ea typeface="Calibri"/>
                <a:cs typeface="Calibri"/>
                <a:sym typeface="Calibri"/>
              </a:rPr>
              <a:t> DOCs</a:t>
            </a:r>
            <a:endParaRPr b="0" i="0" sz="1400" u="none" cap="none" strike="noStrike">
              <a:solidFill>
                <a:srgbClr val="000000"/>
              </a:solidFill>
              <a:latin typeface="Arial"/>
              <a:ea typeface="Arial"/>
              <a:cs typeface="Arial"/>
              <a:sym typeface="Arial"/>
            </a:endParaRPr>
          </a:p>
          <a:p>
            <a:pPr indent="-278264" lvl="1" marL="1200150" marR="0" rtl="0" algn="l">
              <a:lnSpc>
                <a:spcPct val="200000"/>
              </a:lnSpc>
              <a:spcBef>
                <a:spcPts val="0"/>
              </a:spcBef>
              <a:spcAft>
                <a:spcPts val="0"/>
              </a:spcAft>
              <a:buClr>
                <a:schemeClr val="accent1"/>
              </a:buClr>
              <a:buSzPct val="87301"/>
              <a:buFont typeface="Lato"/>
              <a:buChar char="○"/>
            </a:pPr>
            <a:r>
              <a:rPr b="0" i="0" lang="pt-BR" sz="1800" u="sng" cap="none" strike="noStrike">
                <a:solidFill>
                  <a:schemeClr val="hlink"/>
                </a:solidFill>
                <a:latin typeface="Calibri"/>
                <a:ea typeface="Calibri"/>
                <a:cs typeface="Calibri"/>
                <a:sym typeface="Calibri"/>
                <a:hlinkClick r:id="rId5"/>
              </a:rPr>
              <a:t>IBGE</a:t>
            </a:r>
            <a:r>
              <a:rPr b="0" i="0" lang="pt-BR" sz="1800" u="none" cap="none" strike="noStrike">
                <a:solidFill>
                  <a:schemeClr val="dk2"/>
                </a:solidFill>
                <a:latin typeface="Calibri"/>
                <a:ea typeface="Calibri"/>
                <a:cs typeface="Calibri"/>
                <a:sym typeface="Calibri"/>
              </a:rPr>
              <a:t> </a:t>
            </a:r>
            <a:r>
              <a:rPr b="1" i="0" lang="pt-BR" sz="1800" u="none" cap="none" strike="noStrike">
                <a:solidFill>
                  <a:schemeClr val="dk2"/>
                </a:solidFill>
                <a:latin typeface="Calibri"/>
                <a:ea typeface="Calibri"/>
                <a:cs typeface="Calibri"/>
                <a:sym typeface="Calibri"/>
              </a:rPr>
              <a:t>consulta</a:t>
            </a:r>
            <a:endParaRPr b="1" i="0" sz="1400" u="none" cap="none" strike="noStrike">
              <a:solidFill>
                <a:srgbClr val="000000"/>
              </a:solidFill>
              <a:latin typeface="Arial"/>
              <a:ea typeface="Arial"/>
              <a:cs typeface="Arial"/>
              <a:sym typeface="Arial"/>
            </a:endParaRPr>
          </a:p>
          <a:p>
            <a:pPr indent="-276905" lvl="0" marL="742950" marR="0" rtl="0" algn="l">
              <a:lnSpc>
                <a:spcPct val="200000"/>
              </a:lnSpc>
              <a:spcBef>
                <a:spcPts val="0"/>
              </a:spcBef>
              <a:spcAft>
                <a:spcPts val="0"/>
              </a:spcAft>
              <a:buClr>
                <a:schemeClr val="accent1"/>
              </a:buClr>
              <a:buSzPct val="92857"/>
              <a:buFont typeface="Lato"/>
              <a:buChar char="●"/>
            </a:pPr>
            <a:r>
              <a:rPr b="0" i="0" lang="pt-BR" sz="2000" u="none" cap="none" strike="noStrike">
                <a:solidFill>
                  <a:schemeClr val="dk2"/>
                </a:solidFill>
                <a:latin typeface="Calibri"/>
                <a:ea typeface="Calibri"/>
                <a:cs typeface="Calibri"/>
                <a:sym typeface="Calibri"/>
              </a:rPr>
              <a:t>Extraindo dados de websites</a:t>
            </a:r>
            <a:endParaRPr b="0" i="0" sz="1400" u="none" cap="none" strike="noStrike">
              <a:solidFill>
                <a:srgbClr val="000000"/>
              </a:solidFill>
              <a:latin typeface="Arial"/>
              <a:ea typeface="Arial"/>
              <a:cs typeface="Arial"/>
              <a:sym typeface="Arial"/>
            </a:endParaRPr>
          </a:p>
          <a:p>
            <a:pPr indent="-278264" lvl="1" marL="1200150" marR="0" rtl="0" algn="l">
              <a:lnSpc>
                <a:spcPct val="200000"/>
              </a:lnSpc>
              <a:spcBef>
                <a:spcPts val="0"/>
              </a:spcBef>
              <a:spcAft>
                <a:spcPts val="0"/>
              </a:spcAft>
              <a:buClr>
                <a:schemeClr val="accent1"/>
              </a:buClr>
              <a:buSzPct val="87301"/>
              <a:buFont typeface="Lato"/>
              <a:buChar char="○"/>
            </a:pPr>
            <a:r>
              <a:rPr b="0" i="0" lang="pt-BR" sz="1800" u="sng" cap="none" strike="noStrike">
                <a:solidFill>
                  <a:schemeClr val="dk2"/>
                </a:solidFill>
                <a:latin typeface="Calibri"/>
                <a:ea typeface="Calibri"/>
                <a:cs typeface="Calibri"/>
                <a:sym typeface="Calibri"/>
                <a:hlinkClick r:id="rId6">
                  <a:extLst>
                    <a:ext uri="{A12FA001-AC4F-418D-AE19-62706E023703}">
                      <ahyp:hlinkClr val="tx"/>
                    </a:ext>
                  </a:extLst>
                </a:hlinkClick>
              </a:rPr>
              <a:t>Taxa de juros – banco central</a:t>
            </a:r>
            <a:endParaRPr b="0" i="0" sz="1800" u="none" cap="none" strike="noStrike">
              <a:solidFill>
                <a:schemeClr val="dk2"/>
              </a:solidFill>
              <a:latin typeface="Calibri"/>
              <a:ea typeface="Calibri"/>
              <a:cs typeface="Calibri"/>
              <a:sym typeface="Calibri"/>
            </a:endParaRPr>
          </a:p>
          <a:p>
            <a:pPr indent="-278264" lvl="1" marL="1200150" marR="0" rtl="0" algn="l">
              <a:lnSpc>
                <a:spcPct val="200000"/>
              </a:lnSpc>
              <a:spcBef>
                <a:spcPts val="0"/>
              </a:spcBef>
              <a:spcAft>
                <a:spcPts val="0"/>
              </a:spcAft>
              <a:buClr>
                <a:schemeClr val="accent1"/>
              </a:buClr>
              <a:buSzPct val="87301"/>
              <a:buFont typeface="Lato"/>
              <a:buChar char="○"/>
            </a:pPr>
            <a:r>
              <a:rPr b="0" i="0" lang="pt-BR" sz="1800" u="sng" cap="none" strike="noStrike">
                <a:solidFill>
                  <a:schemeClr val="dk2"/>
                </a:solidFill>
                <a:latin typeface="Calibri"/>
                <a:ea typeface="Calibri"/>
                <a:cs typeface="Calibri"/>
                <a:sym typeface="Calibri"/>
                <a:hlinkClick r:id="rId7">
                  <a:extLst>
                    <a:ext uri="{A12FA001-AC4F-418D-AE19-62706E023703}">
                      <ahyp:hlinkClr val="tx"/>
                    </a:ext>
                  </a:extLst>
                </a:hlinkClick>
              </a:rPr>
              <a:t>Extraindo a tabela do </a:t>
            </a:r>
            <a:r>
              <a:rPr b="1" i="0" lang="pt-BR" sz="1800" u="sng" cap="none" strike="noStrike">
                <a:solidFill>
                  <a:schemeClr val="dk2"/>
                </a:solidFill>
                <a:latin typeface="Calibri"/>
                <a:ea typeface="Calibri"/>
                <a:cs typeface="Calibri"/>
                <a:sym typeface="Calibri"/>
                <a:hlinkClick r:id="rId8">
                  <a:extLst>
                    <a:ext uri="{A12FA001-AC4F-418D-AE19-62706E023703}">
                      <ahyp:hlinkClr val="tx"/>
                    </a:ext>
                  </a:extLst>
                </a:hlinkClick>
              </a:rPr>
              <a:t>brasileirão</a:t>
            </a:r>
            <a:endParaRPr b="1" i="0" sz="1800" u="none" cap="none" strike="noStrike">
              <a:solidFill>
                <a:schemeClr val="dk2"/>
              </a:solidFill>
              <a:latin typeface="Calibri"/>
              <a:ea typeface="Calibri"/>
              <a:cs typeface="Calibri"/>
              <a:sym typeface="Calibri"/>
            </a:endParaRPr>
          </a:p>
          <a:p>
            <a:pPr indent="-203200" lvl="0" marL="742950" marR="0" rtl="0" algn="l">
              <a:lnSpc>
                <a:spcPct val="200000"/>
              </a:lnSpc>
              <a:spcBef>
                <a:spcPts val="0"/>
              </a:spcBef>
              <a:spcAft>
                <a:spcPts val="0"/>
              </a:spcAft>
              <a:buClr>
                <a:schemeClr val="accent1"/>
              </a:buClr>
              <a:buSzPct val="92857"/>
              <a:buFont typeface="Lato"/>
              <a:buNone/>
            </a:pPr>
            <a:r>
              <a:t/>
            </a:r>
            <a:endParaRPr b="0" i="0" sz="2000" u="none" cap="none" strike="noStrike">
              <a:solidFill>
                <a:schemeClr val="dk2"/>
              </a:solidFill>
              <a:latin typeface="Calibri"/>
              <a:ea typeface="Calibri"/>
              <a:cs typeface="Calibri"/>
              <a:sym typeface="Calibri"/>
            </a:endParaRPr>
          </a:p>
        </p:txBody>
      </p:sp>
      <p:pic>
        <p:nvPicPr>
          <p:cNvPr descr="Data mining - Free computer icons" id="628" name="Google Shape;628;g3937d203302_0_489"/>
          <p:cNvPicPr preferRelativeResize="0"/>
          <p:nvPr/>
        </p:nvPicPr>
        <p:blipFill rotWithShape="1">
          <a:blip r:embed="rId9">
            <a:alphaModFix/>
          </a:blip>
          <a:srcRect b="0" l="0" r="0" t="0"/>
          <a:stretch/>
        </p:blipFill>
        <p:spPr>
          <a:xfrm>
            <a:off x="5188131" y="1239850"/>
            <a:ext cx="3226419" cy="3226419"/>
          </a:xfrm>
          <a:prstGeom prst="rect">
            <a:avLst/>
          </a:prstGeom>
          <a:noFill/>
          <a:ln>
            <a:noFill/>
          </a:ln>
        </p:spPr>
      </p:pic>
      <p:sp>
        <p:nvSpPr>
          <p:cNvPr id="629" name="Google Shape;629;g3937d203302_0_489"/>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2 - Fontes de dados</a:t>
            </a:r>
            <a:endParaRPr b="0" sz="2400">
              <a:latin typeface="Impact"/>
              <a:ea typeface="Impact"/>
              <a:cs typeface="Impact"/>
              <a:sym typeface="Impact"/>
            </a:endParaRPr>
          </a:p>
        </p:txBody>
      </p:sp>
      <p:pic>
        <p:nvPicPr>
          <p:cNvPr id="630" name="Google Shape;630;g3937d203302_0_489" title="SENAI_São_Paulo_logo.png"/>
          <p:cNvPicPr preferRelativeResize="0"/>
          <p:nvPr/>
        </p:nvPicPr>
        <p:blipFill rotWithShape="1">
          <a:blip r:embed="rId10">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g3937d203302_0_498"/>
          <p:cNvSpPr txBox="1"/>
          <p:nvPr>
            <p:ph type="title"/>
          </p:nvPr>
        </p:nvSpPr>
        <p:spPr>
          <a:xfrm>
            <a:off x="729450" y="571725"/>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sp>
        <p:nvSpPr>
          <p:cNvPr id="636" name="Google Shape;636;g3937d203302_0_498"/>
          <p:cNvSpPr txBox="1"/>
          <p:nvPr>
            <p:ph idx="1" type="body"/>
          </p:nvPr>
        </p:nvSpPr>
        <p:spPr>
          <a:xfrm>
            <a:off x="636750" y="1758349"/>
            <a:ext cx="4027800" cy="25911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just">
              <a:lnSpc>
                <a:spcPct val="200000"/>
              </a:lnSpc>
              <a:spcBef>
                <a:spcPts val="0"/>
              </a:spcBef>
              <a:spcAft>
                <a:spcPts val="0"/>
              </a:spcAft>
              <a:buSzPct val="109242"/>
              <a:buNone/>
            </a:pPr>
            <a:r>
              <a:rPr b="1" lang="pt-BR" sz="1400">
                <a:solidFill>
                  <a:srgbClr val="FF0000"/>
                </a:solidFill>
                <a:highlight>
                  <a:schemeClr val="lt1"/>
                </a:highlight>
                <a:latin typeface="Calibri"/>
                <a:ea typeface="Calibri"/>
                <a:cs typeface="Calibri"/>
                <a:sym typeface="Calibri"/>
              </a:rPr>
              <a:t>Cronograma</a:t>
            </a:r>
            <a:endParaRPr b="1" sz="1400">
              <a:solidFill>
                <a:srgbClr val="FF0000"/>
              </a:solidFill>
              <a:highlight>
                <a:schemeClr val="lt1"/>
              </a:highlight>
              <a:latin typeface="Calibri"/>
              <a:ea typeface="Calibri"/>
              <a:cs typeface="Calibri"/>
              <a:sym typeface="Calibri"/>
            </a:endParaRPr>
          </a:p>
          <a:p>
            <a:pPr indent="-311523" lvl="0" marL="457200" rtl="0" algn="just">
              <a:lnSpc>
                <a:spcPct val="200000"/>
              </a:lnSpc>
              <a:spcBef>
                <a:spcPts val="0"/>
              </a:spcBef>
              <a:spcAft>
                <a:spcPts val="0"/>
              </a:spcAft>
              <a:buClr>
                <a:srgbClr val="374151"/>
              </a:buClr>
              <a:buSzPct val="88235"/>
              <a:buFont typeface="Arial"/>
              <a:buChar char="●"/>
            </a:pPr>
            <a:r>
              <a:rPr b="1" lang="pt-BR" sz="1600">
                <a:solidFill>
                  <a:srgbClr val="374151"/>
                </a:solidFill>
                <a:highlight>
                  <a:schemeClr val="lt1"/>
                </a:highlight>
                <a:latin typeface="Calibri"/>
                <a:ea typeface="Calibri"/>
                <a:cs typeface="Calibri"/>
                <a:sym typeface="Calibri"/>
              </a:rPr>
              <a:t>Como usar o Power Query?</a:t>
            </a:r>
            <a:endParaRPr/>
          </a:p>
          <a:p>
            <a:pPr indent="-311523" lvl="0" marL="457200" rtl="0" algn="just">
              <a:lnSpc>
                <a:spcPct val="200000"/>
              </a:lnSpc>
              <a:spcBef>
                <a:spcPts val="0"/>
              </a:spcBef>
              <a:spcAft>
                <a:spcPts val="0"/>
              </a:spcAft>
              <a:buClr>
                <a:srgbClr val="374151"/>
              </a:buClr>
              <a:buSzPct val="88235"/>
              <a:buFont typeface="Arial"/>
              <a:buChar char="●"/>
            </a:pPr>
            <a:r>
              <a:rPr b="1" lang="pt-BR" sz="1600">
                <a:solidFill>
                  <a:srgbClr val="374151"/>
                </a:solidFill>
                <a:highlight>
                  <a:schemeClr val="lt1"/>
                </a:highlight>
                <a:latin typeface="Calibri"/>
                <a:ea typeface="Calibri"/>
                <a:cs typeface="Calibri"/>
                <a:sym typeface="Calibri"/>
              </a:rPr>
              <a:t>O que é Modelagem de dados?</a:t>
            </a:r>
            <a:endParaRPr/>
          </a:p>
          <a:p>
            <a:pPr indent="-311523" lvl="0" marL="457200" rtl="0" algn="just">
              <a:lnSpc>
                <a:spcPct val="200000"/>
              </a:lnSpc>
              <a:spcBef>
                <a:spcPts val="0"/>
              </a:spcBef>
              <a:spcAft>
                <a:spcPts val="0"/>
              </a:spcAft>
              <a:buClr>
                <a:srgbClr val="374151"/>
              </a:buClr>
              <a:buSzPct val="88235"/>
              <a:buFont typeface="Arial"/>
              <a:buChar char="●"/>
            </a:pPr>
            <a:r>
              <a:rPr b="1" lang="pt-BR" sz="1600">
                <a:solidFill>
                  <a:srgbClr val="374151"/>
                </a:solidFill>
                <a:highlight>
                  <a:schemeClr val="lt1"/>
                </a:highlight>
                <a:latin typeface="Calibri"/>
                <a:ea typeface="Calibri"/>
                <a:cs typeface="Calibri"/>
                <a:sym typeface="Calibri"/>
              </a:rPr>
              <a:t>Como fazer o relacionamento de tabelas?</a:t>
            </a:r>
            <a:endParaRPr/>
          </a:p>
          <a:p>
            <a:pPr indent="-311523" lvl="0" marL="457200" rtl="0" algn="just">
              <a:lnSpc>
                <a:spcPct val="200000"/>
              </a:lnSpc>
              <a:spcBef>
                <a:spcPts val="0"/>
              </a:spcBef>
              <a:spcAft>
                <a:spcPts val="0"/>
              </a:spcAft>
              <a:buClr>
                <a:srgbClr val="B7B7B7"/>
              </a:buClr>
              <a:buSzPct val="88235"/>
              <a:buFont typeface="Arial"/>
              <a:buChar char="●"/>
            </a:pPr>
            <a:r>
              <a:rPr b="1" lang="pt-BR" sz="1600">
                <a:solidFill>
                  <a:srgbClr val="8C8C8C"/>
                </a:solidFill>
                <a:highlight>
                  <a:schemeClr val="lt1"/>
                </a:highlight>
                <a:latin typeface="Calibri"/>
                <a:ea typeface="Calibri"/>
                <a:cs typeface="Calibri"/>
                <a:sym typeface="Calibri"/>
              </a:rPr>
              <a:t>Como usar o Power Pivot?</a:t>
            </a:r>
            <a:endParaRPr/>
          </a:p>
          <a:p>
            <a:pPr indent="-311523" lvl="0" marL="457200" rtl="0" algn="just">
              <a:lnSpc>
                <a:spcPct val="200000"/>
              </a:lnSpc>
              <a:spcBef>
                <a:spcPts val="0"/>
              </a:spcBef>
              <a:spcAft>
                <a:spcPts val="0"/>
              </a:spcAft>
              <a:buClr>
                <a:srgbClr val="B7B7B7"/>
              </a:buClr>
              <a:buSzPct val="88235"/>
              <a:buFont typeface="Arial"/>
              <a:buChar char="●"/>
            </a:pPr>
            <a:r>
              <a:rPr b="1" lang="pt-BR" sz="1600">
                <a:solidFill>
                  <a:srgbClr val="8C8C8C"/>
                </a:solidFill>
                <a:highlight>
                  <a:schemeClr val="lt1"/>
                </a:highlight>
                <a:latin typeface="Calibri"/>
                <a:ea typeface="Calibri"/>
                <a:cs typeface="Calibri"/>
                <a:sym typeface="Calibri"/>
              </a:rPr>
              <a:t>Como usar o Power View?</a:t>
            </a:r>
            <a:endParaRPr/>
          </a:p>
        </p:txBody>
      </p:sp>
      <p:pic>
        <p:nvPicPr>
          <p:cNvPr descr="Interface gráfica do usuário, Aplicativo&#10;&#10;Descrição gerada automaticamente" id="637" name="Google Shape;637;g3937d203302_0_498"/>
          <p:cNvPicPr preferRelativeResize="0"/>
          <p:nvPr/>
        </p:nvPicPr>
        <p:blipFill rotWithShape="1">
          <a:blip r:embed="rId3">
            <a:alphaModFix/>
          </a:blip>
          <a:srcRect b="0" l="0" r="0" t="0"/>
          <a:stretch/>
        </p:blipFill>
        <p:spPr>
          <a:xfrm>
            <a:off x="5328368" y="2174154"/>
            <a:ext cx="2989537" cy="1759635"/>
          </a:xfrm>
          <a:prstGeom prst="rect">
            <a:avLst/>
          </a:prstGeom>
          <a:noFill/>
          <a:ln>
            <a:noFill/>
          </a:ln>
        </p:spPr>
      </p:pic>
      <p:pic>
        <p:nvPicPr>
          <p:cNvPr id="638" name="Google Shape;638;g3937d203302_0_498"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g3937d203302_0_505"/>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O que é modelagem de dados?</a:t>
            </a:r>
            <a:endParaRPr b="0">
              <a:latin typeface="Impact"/>
              <a:ea typeface="Impact"/>
              <a:cs typeface="Impact"/>
              <a:sym typeface="Impact"/>
            </a:endParaRPr>
          </a:p>
        </p:txBody>
      </p:sp>
      <p:sp>
        <p:nvSpPr>
          <p:cNvPr id="644" name="Google Shape;644;g3937d203302_0_505"/>
          <p:cNvSpPr txBox="1"/>
          <p:nvPr>
            <p:ph idx="1" type="body"/>
          </p:nvPr>
        </p:nvSpPr>
        <p:spPr>
          <a:xfrm>
            <a:off x="729450" y="1452275"/>
            <a:ext cx="8051100" cy="35475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100000"/>
              </a:lnSpc>
              <a:spcBef>
                <a:spcPts val="0"/>
              </a:spcBef>
              <a:spcAft>
                <a:spcPts val="0"/>
              </a:spcAft>
              <a:buSzPts val="1300"/>
              <a:buNone/>
            </a:pPr>
            <a:r>
              <a:rPr lang="pt-BR" sz="1900">
                <a:solidFill>
                  <a:srgbClr val="262C3A"/>
                </a:solidFill>
                <a:highlight>
                  <a:srgbClr val="FFFFFF"/>
                </a:highlight>
                <a:latin typeface="Arial"/>
                <a:ea typeface="Arial"/>
                <a:cs typeface="Arial"/>
                <a:sym typeface="Arial"/>
              </a:rPr>
              <a:t>A modelagem de dados é o processo de criar uma tabela que organiza as colunas de informações que um sistema ou organização precisa gerenciar.</a:t>
            </a:r>
            <a:endParaRPr sz="1900">
              <a:solidFill>
                <a:srgbClr val="262C3A"/>
              </a:solidFill>
              <a:highlight>
                <a:srgbClr val="FFFFFF"/>
              </a:highlight>
              <a:latin typeface="Arial"/>
              <a:ea typeface="Arial"/>
              <a:cs typeface="Arial"/>
              <a:sym typeface="Arial"/>
            </a:endParaRPr>
          </a:p>
          <a:p>
            <a:pPr indent="0" lvl="0" marL="0" rtl="0" algn="just">
              <a:lnSpc>
                <a:spcPct val="100000"/>
              </a:lnSpc>
              <a:spcBef>
                <a:spcPts val="0"/>
              </a:spcBef>
              <a:spcAft>
                <a:spcPts val="0"/>
              </a:spcAft>
              <a:buSzPts val="1300"/>
              <a:buNone/>
            </a:pPr>
            <a:r>
              <a:t/>
            </a:r>
            <a:endParaRPr sz="1900">
              <a:solidFill>
                <a:srgbClr val="262C3A"/>
              </a:solidFill>
              <a:highlight>
                <a:srgbClr val="FFFFFF"/>
              </a:highlight>
              <a:latin typeface="Arial"/>
              <a:ea typeface="Arial"/>
              <a:cs typeface="Arial"/>
              <a:sym typeface="Arial"/>
            </a:endParaRPr>
          </a:p>
          <a:p>
            <a:pPr indent="-349250" lvl="0" marL="457200" rtl="0" algn="l">
              <a:lnSpc>
                <a:spcPct val="115000"/>
              </a:lnSpc>
              <a:spcBef>
                <a:spcPts val="0"/>
              </a:spcBef>
              <a:spcAft>
                <a:spcPts val="0"/>
              </a:spcAft>
              <a:buClr>
                <a:srgbClr val="262C3A"/>
              </a:buClr>
              <a:buSzPts val="1900"/>
              <a:buFont typeface="Arial"/>
              <a:buAutoNum type="arabicPeriod"/>
            </a:pPr>
            <a:r>
              <a:rPr b="1" lang="pt-BR" sz="1900">
                <a:solidFill>
                  <a:srgbClr val="262C3A"/>
                </a:solidFill>
                <a:highlight>
                  <a:srgbClr val="FFFFFF"/>
                </a:highlight>
                <a:latin typeface="Arial"/>
                <a:ea typeface="Arial"/>
                <a:cs typeface="Arial"/>
                <a:sym typeface="Arial"/>
              </a:rPr>
              <a:t>Organizar Dados</a:t>
            </a:r>
            <a:r>
              <a:rPr lang="pt-BR" sz="1900">
                <a:solidFill>
                  <a:srgbClr val="262C3A"/>
                </a:solidFill>
                <a:highlight>
                  <a:srgbClr val="FFFFFF"/>
                </a:highlight>
                <a:latin typeface="Arial"/>
                <a:ea typeface="Arial"/>
                <a:cs typeface="Arial"/>
                <a:sym typeface="Arial"/>
              </a:rPr>
              <a:t>: Estruturar os dados de forma clara e eficiente.</a:t>
            </a:r>
            <a:endParaRPr sz="1900">
              <a:solidFill>
                <a:srgbClr val="262C3A"/>
              </a:solidFill>
              <a:highlight>
                <a:srgbClr val="FFFFFF"/>
              </a:highlight>
              <a:latin typeface="Arial"/>
              <a:ea typeface="Arial"/>
              <a:cs typeface="Arial"/>
              <a:sym typeface="Arial"/>
            </a:endParaRPr>
          </a:p>
          <a:p>
            <a:pPr indent="-349250" lvl="0" marL="457200" rtl="0" algn="l">
              <a:lnSpc>
                <a:spcPct val="115000"/>
              </a:lnSpc>
              <a:spcBef>
                <a:spcPts val="0"/>
              </a:spcBef>
              <a:spcAft>
                <a:spcPts val="0"/>
              </a:spcAft>
              <a:buClr>
                <a:srgbClr val="262C3A"/>
              </a:buClr>
              <a:buSzPts val="1900"/>
              <a:buFont typeface="Arial"/>
              <a:buAutoNum type="arabicPeriod"/>
            </a:pPr>
            <a:r>
              <a:rPr b="1" lang="pt-BR" sz="1900">
                <a:solidFill>
                  <a:srgbClr val="262C3A"/>
                </a:solidFill>
                <a:highlight>
                  <a:srgbClr val="FFFFFF"/>
                </a:highlight>
                <a:latin typeface="Arial"/>
                <a:ea typeface="Arial"/>
                <a:cs typeface="Arial"/>
                <a:sym typeface="Arial"/>
              </a:rPr>
              <a:t>Definir Relações</a:t>
            </a:r>
            <a:r>
              <a:rPr lang="pt-BR" sz="1900">
                <a:solidFill>
                  <a:srgbClr val="262C3A"/>
                </a:solidFill>
                <a:highlight>
                  <a:srgbClr val="FFFFFF"/>
                </a:highlight>
                <a:latin typeface="Arial"/>
                <a:ea typeface="Arial"/>
                <a:cs typeface="Arial"/>
                <a:sym typeface="Arial"/>
              </a:rPr>
              <a:t>: Mostrar como diferentes conjuntos de dados estão relacionados.</a:t>
            </a:r>
            <a:endParaRPr sz="1900">
              <a:solidFill>
                <a:srgbClr val="262C3A"/>
              </a:solidFill>
              <a:highlight>
                <a:srgbClr val="FFFFFF"/>
              </a:highlight>
              <a:latin typeface="Arial"/>
              <a:ea typeface="Arial"/>
              <a:cs typeface="Arial"/>
              <a:sym typeface="Arial"/>
            </a:endParaRPr>
          </a:p>
          <a:p>
            <a:pPr indent="-349250" lvl="0" marL="457200" rtl="0" algn="l">
              <a:lnSpc>
                <a:spcPct val="115000"/>
              </a:lnSpc>
              <a:spcBef>
                <a:spcPts val="0"/>
              </a:spcBef>
              <a:spcAft>
                <a:spcPts val="0"/>
              </a:spcAft>
              <a:buClr>
                <a:srgbClr val="262C3A"/>
              </a:buClr>
              <a:buSzPts val="1900"/>
              <a:buFont typeface="Arial"/>
              <a:buAutoNum type="arabicPeriod"/>
            </a:pPr>
            <a:r>
              <a:rPr b="1" lang="pt-BR" sz="1900">
                <a:solidFill>
                  <a:srgbClr val="262C3A"/>
                </a:solidFill>
                <a:highlight>
                  <a:srgbClr val="FFFFFF"/>
                </a:highlight>
                <a:latin typeface="Arial"/>
                <a:ea typeface="Arial"/>
                <a:cs typeface="Arial"/>
                <a:sym typeface="Arial"/>
              </a:rPr>
              <a:t>Garantir Consistência</a:t>
            </a:r>
            <a:r>
              <a:rPr lang="pt-BR" sz="1900">
                <a:solidFill>
                  <a:srgbClr val="262C3A"/>
                </a:solidFill>
                <a:highlight>
                  <a:srgbClr val="FFFFFF"/>
                </a:highlight>
                <a:latin typeface="Arial"/>
                <a:ea typeface="Arial"/>
                <a:cs typeface="Arial"/>
                <a:sym typeface="Arial"/>
              </a:rPr>
              <a:t>: Assegurar que os dados sejam precisos e consistentes.</a:t>
            </a:r>
            <a:endParaRPr sz="1900">
              <a:solidFill>
                <a:srgbClr val="262C3A"/>
              </a:solidFill>
              <a:highlight>
                <a:srgbClr val="FFFFFF"/>
              </a:highlight>
              <a:latin typeface="Arial"/>
              <a:ea typeface="Arial"/>
              <a:cs typeface="Arial"/>
              <a:sym typeface="Arial"/>
            </a:endParaRPr>
          </a:p>
          <a:p>
            <a:pPr indent="-349250" lvl="0" marL="457200" rtl="0" algn="l">
              <a:lnSpc>
                <a:spcPct val="115000"/>
              </a:lnSpc>
              <a:spcBef>
                <a:spcPts val="0"/>
              </a:spcBef>
              <a:spcAft>
                <a:spcPts val="0"/>
              </a:spcAft>
              <a:buClr>
                <a:srgbClr val="262C3A"/>
              </a:buClr>
              <a:buSzPts val="1900"/>
              <a:buFont typeface="Arial"/>
              <a:buAutoNum type="arabicPeriod"/>
            </a:pPr>
            <a:r>
              <a:rPr b="1" lang="pt-BR" sz="1900">
                <a:solidFill>
                  <a:srgbClr val="262C3A"/>
                </a:solidFill>
                <a:highlight>
                  <a:srgbClr val="FFFFFF"/>
                </a:highlight>
                <a:latin typeface="Arial"/>
                <a:ea typeface="Arial"/>
                <a:cs typeface="Arial"/>
                <a:sym typeface="Arial"/>
              </a:rPr>
              <a:t>Facilitar a Comunicação</a:t>
            </a:r>
            <a:r>
              <a:rPr lang="pt-BR" sz="1900">
                <a:solidFill>
                  <a:srgbClr val="262C3A"/>
                </a:solidFill>
                <a:highlight>
                  <a:srgbClr val="FFFFFF"/>
                </a:highlight>
                <a:latin typeface="Arial"/>
                <a:ea typeface="Arial"/>
                <a:cs typeface="Arial"/>
                <a:sym typeface="Arial"/>
              </a:rPr>
              <a:t>: Ajudar diferentes partes interessadas a entenderem a estrutura dos dados.</a:t>
            </a:r>
            <a:endParaRPr sz="2300">
              <a:solidFill>
                <a:schemeClr val="dk2"/>
              </a:solidFill>
              <a:highlight>
                <a:schemeClr val="lt1"/>
              </a:highlight>
              <a:latin typeface="Calibri"/>
              <a:ea typeface="Calibri"/>
              <a:cs typeface="Calibri"/>
              <a:sym typeface="Calibri"/>
            </a:endParaRPr>
          </a:p>
          <a:p>
            <a:pPr indent="0" lvl="0" marL="0" rtl="0" algn="just">
              <a:lnSpc>
                <a:spcPct val="200000"/>
              </a:lnSpc>
              <a:spcBef>
                <a:spcPts val="0"/>
              </a:spcBef>
              <a:spcAft>
                <a:spcPts val="0"/>
              </a:spcAft>
              <a:buSzPts val="1300"/>
              <a:buNone/>
            </a:pPr>
            <a:r>
              <a:t/>
            </a:r>
            <a:endParaRPr sz="1200">
              <a:solidFill>
                <a:schemeClr val="dk2"/>
              </a:solidFill>
              <a:highlight>
                <a:schemeClr val="lt1"/>
              </a:highlight>
              <a:latin typeface="Calibri"/>
              <a:ea typeface="Calibri"/>
              <a:cs typeface="Calibri"/>
              <a:sym typeface="Calibri"/>
            </a:endParaRPr>
          </a:p>
        </p:txBody>
      </p:sp>
      <p:sp>
        <p:nvSpPr>
          <p:cNvPr id="645" name="Google Shape;645;g3937d203302_0_505"/>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646" name="Google Shape;646;g3937d203302_0_505"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g3937d203302_0_512"/>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O que é modelagem de dados?</a:t>
            </a:r>
            <a:endParaRPr b="0">
              <a:latin typeface="Impact"/>
              <a:ea typeface="Impact"/>
              <a:cs typeface="Impact"/>
              <a:sym typeface="Impact"/>
            </a:endParaRPr>
          </a:p>
        </p:txBody>
      </p:sp>
      <p:sp>
        <p:nvSpPr>
          <p:cNvPr id="652" name="Google Shape;652;g3937d203302_0_512"/>
          <p:cNvSpPr txBox="1"/>
          <p:nvPr>
            <p:ph idx="1" type="body"/>
          </p:nvPr>
        </p:nvSpPr>
        <p:spPr>
          <a:xfrm>
            <a:off x="729450" y="1318400"/>
            <a:ext cx="8051100" cy="35475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1300"/>
              <a:buNone/>
            </a:pPr>
            <a:r>
              <a:rPr lang="pt-BR" sz="1600">
                <a:solidFill>
                  <a:schemeClr val="dk2"/>
                </a:solidFill>
                <a:highlight>
                  <a:schemeClr val="lt1"/>
                </a:highlight>
                <a:latin typeface="Calibri"/>
                <a:ea typeface="Calibri"/>
                <a:cs typeface="Calibri"/>
                <a:sym typeface="Calibri"/>
              </a:rPr>
              <a:t>Modelagem de dados é o processo de organizar e tratar os dados. Ela também abrange a definição das estruturas, relacionamentos, regras e restrições para garantir a integridade e a consistência dos dados. A seguir, exemplo de tabela com chave primária (primary key).</a:t>
            </a:r>
            <a:endParaRPr sz="1600">
              <a:solidFill>
                <a:schemeClr val="dk2"/>
              </a:solidFill>
              <a:highlight>
                <a:schemeClr val="lt1"/>
              </a:highlight>
              <a:latin typeface="Calibri"/>
              <a:ea typeface="Calibri"/>
              <a:cs typeface="Calibri"/>
              <a:sym typeface="Calibri"/>
            </a:endParaRPr>
          </a:p>
          <a:p>
            <a:pPr indent="0" lvl="0" marL="0" rtl="0" algn="just">
              <a:lnSpc>
                <a:spcPct val="200000"/>
              </a:lnSpc>
              <a:spcBef>
                <a:spcPts val="0"/>
              </a:spcBef>
              <a:spcAft>
                <a:spcPts val="0"/>
              </a:spcAft>
              <a:buSzPts val="1300"/>
              <a:buNone/>
            </a:pPr>
            <a:r>
              <a:t/>
            </a:r>
            <a:endParaRPr sz="1200">
              <a:solidFill>
                <a:schemeClr val="dk2"/>
              </a:solidFill>
              <a:highlight>
                <a:schemeClr val="lt1"/>
              </a:highlight>
              <a:latin typeface="Calibri"/>
              <a:ea typeface="Calibri"/>
              <a:cs typeface="Calibri"/>
              <a:sym typeface="Calibri"/>
            </a:endParaRPr>
          </a:p>
        </p:txBody>
      </p:sp>
      <p:pic>
        <p:nvPicPr>
          <p:cNvPr id="653" name="Google Shape;653;g3937d203302_0_512"/>
          <p:cNvPicPr preferRelativeResize="0"/>
          <p:nvPr/>
        </p:nvPicPr>
        <p:blipFill rotWithShape="1">
          <a:blip r:embed="rId3">
            <a:alphaModFix/>
          </a:blip>
          <a:srcRect b="0" l="0" r="0" t="0"/>
          <a:stretch/>
        </p:blipFill>
        <p:spPr>
          <a:xfrm>
            <a:off x="1603225" y="2715800"/>
            <a:ext cx="2174650" cy="1363400"/>
          </a:xfrm>
          <a:prstGeom prst="rect">
            <a:avLst/>
          </a:prstGeom>
          <a:noFill/>
          <a:ln>
            <a:noFill/>
          </a:ln>
        </p:spPr>
      </p:pic>
      <p:sp>
        <p:nvSpPr>
          <p:cNvPr id="654" name="Google Shape;654;g3937d203302_0_512"/>
          <p:cNvSpPr txBox="1"/>
          <p:nvPr/>
        </p:nvSpPr>
        <p:spPr>
          <a:xfrm>
            <a:off x="1729950" y="2248975"/>
            <a:ext cx="1921200" cy="369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pt-BR" sz="1200" u="none" cap="none" strike="noStrike">
                <a:solidFill>
                  <a:srgbClr val="000000"/>
                </a:solidFill>
                <a:latin typeface="Arial"/>
                <a:ea typeface="Arial"/>
                <a:cs typeface="Arial"/>
                <a:sym typeface="Arial"/>
              </a:rPr>
              <a:t>Entidade (tabela)</a:t>
            </a:r>
            <a:endParaRPr b="0" i="0" sz="1200" u="none" cap="none" strike="noStrike">
              <a:solidFill>
                <a:srgbClr val="000000"/>
              </a:solidFill>
              <a:latin typeface="Arial"/>
              <a:ea typeface="Arial"/>
              <a:cs typeface="Arial"/>
              <a:sym typeface="Arial"/>
            </a:endParaRPr>
          </a:p>
        </p:txBody>
      </p:sp>
      <p:sp>
        <p:nvSpPr>
          <p:cNvPr id="655" name="Google Shape;655;g3937d203302_0_512"/>
          <p:cNvSpPr txBox="1"/>
          <p:nvPr/>
        </p:nvSpPr>
        <p:spPr>
          <a:xfrm>
            <a:off x="446950" y="4109475"/>
            <a:ext cx="1921200" cy="369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pt-BR" sz="1200" u="none" cap="none" strike="noStrike">
                <a:solidFill>
                  <a:srgbClr val="000000"/>
                </a:solidFill>
                <a:latin typeface="Arial"/>
                <a:ea typeface="Arial"/>
                <a:cs typeface="Arial"/>
                <a:sym typeface="Arial"/>
              </a:rPr>
              <a:t>Atributos (colunas)</a:t>
            </a:r>
            <a:endParaRPr b="0" i="0" sz="1200" u="none" cap="none" strike="noStrike">
              <a:solidFill>
                <a:srgbClr val="000000"/>
              </a:solidFill>
              <a:latin typeface="Arial"/>
              <a:ea typeface="Arial"/>
              <a:cs typeface="Arial"/>
              <a:sym typeface="Arial"/>
            </a:endParaRPr>
          </a:p>
        </p:txBody>
      </p:sp>
      <p:cxnSp>
        <p:nvCxnSpPr>
          <p:cNvPr id="656" name="Google Shape;656;g3937d203302_0_512"/>
          <p:cNvCxnSpPr/>
          <p:nvPr/>
        </p:nvCxnSpPr>
        <p:spPr>
          <a:xfrm rot="10800000">
            <a:off x="2687250" y="2518975"/>
            <a:ext cx="4500" cy="295200"/>
          </a:xfrm>
          <a:prstGeom prst="straightConnector1">
            <a:avLst/>
          </a:prstGeom>
          <a:noFill/>
          <a:ln cap="flat" cmpd="sng" w="19050">
            <a:solidFill>
              <a:schemeClr val="dk2"/>
            </a:solidFill>
            <a:prstDash val="solid"/>
            <a:round/>
            <a:headEnd len="sm" w="sm" type="none"/>
            <a:tailEnd len="med" w="med" type="triangle"/>
          </a:ln>
        </p:spPr>
      </p:cxnSp>
      <p:cxnSp>
        <p:nvCxnSpPr>
          <p:cNvPr id="657" name="Google Shape;657;g3937d203302_0_512"/>
          <p:cNvCxnSpPr>
            <a:endCxn id="655" idx="0"/>
          </p:cNvCxnSpPr>
          <p:nvPr/>
        </p:nvCxnSpPr>
        <p:spPr>
          <a:xfrm rot="5400000">
            <a:off x="1120000" y="3504525"/>
            <a:ext cx="892500" cy="317400"/>
          </a:xfrm>
          <a:prstGeom prst="bentConnector3">
            <a:avLst>
              <a:gd fmla="val -8" name="adj1"/>
            </a:avLst>
          </a:prstGeom>
          <a:noFill/>
          <a:ln cap="flat" cmpd="sng" w="19050">
            <a:solidFill>
              <a:schemeClr val="dk2"/>
            </a:solidFill>
            <a:prstDash val="solid"/>
            <a:round/>
            <a:headEnd len="sm" w="sm" type="none"/>
            <a:tailEnd len="sm" w="sm" type="none"/>
          </a:ln>
        </p:spPr>
      </p:cxnSp>
      <p:cxnSp>
        <p:nvCxnSpPr>
          <p:cNvPr id="658" name="Google Shape;658;g3937d203302_0_512"/>
          <p:cNvCxnSpPr>
            <a:endCxn id="655" idx="0"/>
          </p:cNvCxnSpPr>
          <p:nvPr/>
        </p:nvCxnSpPr>
        <p:spPr>
          <a:xfrm rot="5400000">
            <a:off x="1220350" y="3618375"/>
            <a:ext cx="678300" cy="303900"/>
          </a:xfrm>
          <a:prstGeom prst="bentConnector3">
            <a:avLst>
              <a:gd fmla="val 708" name="adj1"/>
            </a:avLst>
          </a:prstGeom>
          <a:noFill/>
          <a:ln cap="flat" cmpd="sng" w="19050">
            <a:solidFill>
              <a:schemeClr val="dk2"/>
            </a:solidFill>
            <a:prstDash val="solid"/>
            <a:round/>
            <a:headEnd len="sm" w="sm" type="none"/>
            <a:tailEnd len="sm" w="sm" type="none"/>
          </a:ln>
        </p:spPr>
      </p:cxnSp>
      <p:cxnSp>
        <p:nvCxnSpPr>
          <p:cNvPr id="659" name="Google Shape;659;g3937d203302_0_512"/>
          <p:cNvCxnSpPr>
            <a:endCxn id="655" idx="0"/>
          </p:cNvCxnSpPr>
          <p:nvPr/>
        </p:nvCxnSpPr>
        <p:spPr>
          <a:xfrm rot="5400000">
            <a:off x="1334350" y="3714075"/>
            <a:ext cx="468600" cy="322200"/>
          </a:xfrm>
          <a:prstGeom prst="bentConnector3">
            <a:avLst>
              <a:gd fmla="val -1040" name="adj1"/>
            </a:avLst>
          </a:prstGeom>
          <a:noFill/>
          <a:ln cap="flat" cmpd="sng" w="19050">
            <a:solidFill>
              <a:schemeClr val="dk2"/>
            </a:solidFill>
            <a:prstDash val="solid"/>
            <a:round/>
            <a:headEnd len="sm" w="sm" type="none"/>
            <a:tailEnd len="sm" w="sm" type="none"/>
          </a:ln>
        </p:spPr>
      </p:cxnSp>
      <p:cxnSp>
        <p:nvCxnSpPr>
          <p:cNvPr id="660" name="Google Shape;660;g3937d203302_0_512"/>
          <p:cNvCxnSpPr>
            <a:endCxn id="655" idx="0"/>
          </p:cNvCxnSpPr>
          <p:nvPr/>
        </p:nvCxnSpPr>
        <p:spPr>
          <a:xfrm flipH="1">
            <a:off x="1407550" y="3840675"/>
            <a:ext cx="317400" cy="268800"/>
          </a:xfrm>
          <a:prstGeom prst="bentConnector2">
            <a:avLst/>
          </a:prstGeom>
          <a:noFill/>
          <a:ln cap="flat" cmpd="sng" w="19050">
            <a:solidFill>
              <a:schemeClr val="dk2"/>
            </a:solidFill>
            <a:prstDash val="solid"/>
            <a:round/>
            <a:headEnd len="sm" w="sm" type="none"/>
            <a:tailEnd len="sm" w="sm" type="none"/>
          </a:ln>
        </p:spPr>
      </p:cxnSp>
      <p:cxnSp>
        <p:nvCxnSpPr>
          <p:cNvPr id="661" name="Google Shape;661;g3937d203302_0_512"/>
          <p:cNvCxnSpPr/>
          <p:nvPr/>
        </p:nvCxnSpPr>
        <p:spPr>
          <a:xfrm flipH="1">
            <a:off x="1407550" y="4012275"/>
            <a:ext cx="2100" cy="173400"/>
          </a:xfrm>
          <a:prstGeom prst="straightConnector1">
            <a:avLst/>
          </a:prstGeom>
          <a:noFill/>
          <a:ln cap="flat" cmpd="sng" w="9525">
            <a:solidFill>
              <a:schemeClr val="dk2"/>
            </a:solidFill>
            <a:prstDash val="solid"/>
            <a:round/>
            <a:headEnd len="sm" w="sm" type="none"/>
            <a:tailEnd len="med" w="med" type="triangle"/>
          </a:ln>
        </p:spPr>
      </p:cxnSp>
      <p:sp>
        <p:nvSpPr>
          <p:cNvPr id="662" name="Google Shape;662;g3937d203302_0_512"/>
          <p:cNvSpPr txBox="1"/>
          <p:nvPr/>
        </p:nvSpPr>
        <p:spPr>
          <a:xfrm>
            <a:off x="729450" y="4642875"/>
            <a:ext cx="8093100" cy="369300"/>
          </a:xfrm>
          <a:prstGeom prst="rect">
            <a:avLst/>
          </a:prstGeom>
          <a:noFill/>
          <a:ln>
            <a:noFill/>
          </a:ln>
        </p:spPr>
        <p:txBody>
          <a:bodyPr anchorCtr="0" anchor="ctr" bIns="91425" lIns="91425" spcFirstLastPara="1" rIns="91425" wrap="square" tIns="91425">
            <a:noAutofit/>
          </a:bodyPr>
          <a:lstStyle/>
          <a:p>
            <a:pPr indent="0" lvl="0" marL="0" marR="0" rtl="0" algn="ctr">
              <a:lnSpc>
                <a:spcPct val="150000"/>
              </a:lnSpc>
              <a:spcBef>
                <a:spcPts val="1500"/>
              </a:spcBef>
              <a:spcAft>
                <a:spcPts val="0"/>
              </a:spcAft>
              <a:buClr>
                <a:srgbClr val="000000"/>
              </a:buClr>
              <a:buSzPts val="1200"/>
              <a:buFont typeface="Arial"/>
              <a:buNone/>
            </a:pPr>
            <a:r>
              <a:rPr b="0" i="0" lang="pt-BR" sz="1200" u="none" cap="none" strike="noStrike">
                <a:solidFill>
                  <a:srgbClr val="374151"/>
                </a:solidFill>
                <a:highlight>
                  <a:schemeClr val="lt1"/>
                </a:highlight>
                <a:latin typeface="Calibri"/>
                <a:ea typeface="Calibri"/>
                <a:cs typeface="Calibri"/>
                <a:sym typeface="Calibri"/>
              </a:rPr>
              <a:t>Modelo Relacional: Organiza os dados em tabelas relacionadas por chaves primárias e estrangeiras.</a:t>
            </a:r>
            <a:endParaRPr b="0" i="0" sz="1200" u="none" cap="none" strike="noStrike">
              <a:solidFill>
                <a:srgbClr val="000000"/>
              </a:solidFill>
              <a:latin typeface="Calibri"/>
              <a:ea typeface="Calibri"/>
              <a:cs typeface="Calibri"/>
              <a:sym typeface="Calibri"/>
            </a:endParaRPr>
          </a:p>
        </p:txBody>
      </p:sp>
      <p:pic>
        <p:nvPicPr>
          <p:cNvPr id="663" name="Google Shape;663;g3937d203302_0_512"/>
          <p:cNvPicPr preferRelativeResize="0"/>
          <p:nvPr/>
        </p:nvPicPr>
        <p:blipFill rotWithShape="1">
          <a:blip r:embed="rId4">
            <a:alphaModFix/>
          </a:blip>
          <a:srcRect b="0" l="0" r="0" t="0"/>
          <a:stretch/>
        </p:blipFill>
        <p:spPr>
          <a:xfrm>
            <a:off x="3912700" y="2440503"/>
            <a:ext cx="4986215" cy="1745175"/>
          </a:xfrm>
          <a:prstGeom prst="rect">
            <a:avLst/>
          </a:prstGeom>
          <a:noFill/>
          <a:ln>
            <a:noFill/>
          </a:ln>
        </p:spPr>
      </p:pic>
      <p:sp>
        <p:nvSpPr>
          <p:cNvPr id="664" name="Google Shape;664;g3937d203302_0_512"/>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665" name="Google Shape;665;g3937d203302_0_512" title="SENAI_São_Paulo_logo.png"/>
          <p:cNvPicPr preferRelativeResize="0"/>
          <p:nvPr/>
        </p:nvPicPr>
        <p:blipFill rotWithShape="1">
          <a:blip r:embed="rId5">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g3937d203302_0_530"/>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Chave Primária - qual coluna poderia ser a chave primária?</a:t>
            </a:r>
            <a:endParaRPr b="0">
              <a:latin typeface="Impact"/>
              <a:ea typeface="Impact"/>
              <a:cs typeface="Impact"/>
              <a:sym typeface="Impact"/>
            </a:endParaRPr>
          </a:p>
        </p:txBody>
      </p:sp>
      <p:pic>
        <p:nvPicPr>
          <p:cNvPr id="671" name="Google Shape;671;g3937d203302_0_530"/>
          <p:cNvPicPr preferRelativeResize="0"/>
          <p:nvPr/>
        </p:nvPicPr>
        <p:blipFill rotWithShape="1">
          <a:blip r:embed="rId3">
            <a:alphaModFix/>
          </a:blip>
          <a:srcRect b="0" l="0" r="0" t="0"/>
          <a:stretch/>
        </p:blipFill>
        <p:spPr>
          <a:xfrm>
            <a:off x="574850" y="1421600"/>
            <a:ext cx="8115300" cy="3333750"/>
          </a:xfrm>
          <a:prstGeom prst="rect">
            <a:avLst/>
          </a:prstGeom>
          <a:noFill/>
          <a:ln>
            <a:noFill/>
          </a:ln>
        </p:spPr>
      </p:pic>
      <p:sp>
        <p:nvSpPr>
          <p:cNvPr id="672" name="Google Shape;672;g3937d203302_0_530"/>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673" name="Google Shape;673;g3937d203302_0_530"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937d203302_0_537"/>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Chave Primária - qual coluna poderia ser a chave primária?</a:t>
            </a:r>
            <a:endParaRPr b="0">
              <a:latin typeface="Impact"/>
              <a:ea typeface="Impact"/>
              <a:cs typeface="Impact"/>
              <a:sym typeface="Impact"/>
            </a:endParaRPr>
          </a:p>
        </p:txBody>
      </p:sp>
      <p:pic>
        <p:nvPicPr>
          <p:cNvPr id="679" name="Google Shape;679;g3937d203302_0_537"/>
          <p:cNvPicPr preferRelativeResize="0"/>
          <p:nvPr/>
        </p:nvPicPr>
        <p:blipFill rotWithShape="1">
          <a:blip r:embed="rId3">
            <a:alphaModFix/>
          </a:blip>
          <a:srcRect b="0" l="0" r="0" t="0"/>
          <a:stretch/>
        </p:blipFill>
        <p:spPr>
          <a:xfrm>
            <a:off x="729450" y="1318050"/>
            <a:ext cx="8020050" cy="3333750"/>
          </a:xfrm>
          <a:prstGeom prst="rect">
            <a:avLst/>
          </a:prstGeom>
          <a:noFill/>
          <a:ln>
            <a:noFill/>
          </a:ln>
        </p:spPr>
      </p:pic>
      <p:sp>
        <p:nvSpPr>
          <p:cNvPr id="680" name="Google Shape;680;g3937d203302_0_537"/>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681" name="Google Shape;681;g3937d203302_0_537"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g3937d203302_0_544"/>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Chave Primária - qual coluna poderia ser a chave primária?</a:t>
            </a:r>
            <a:endParaRPr b="0">
              <a:latin typeface="Impact"/>
              <a:ea typeface="Impact"/>
              <a:cs typeface="Impact"/>
              <a:sym typeface="Impact"/>
            </a:endParaRPr>
          </a:p>
        </p:txBody>
      </p:sp>
      <p:pic>
        <p:nvPicPr>
          <p:cNvPr id="687" name="Google Shape;687;g3937d203302_0_544"/>
          <p:cNvPicPr preferRelativeResize="0"/>
          <p:nvPr/>
        </p:nvPicPr>
        <p:blipFill rotWithShape="1">
          <a:blip r:embed="rId3">
            <a:alphaModFix/>
          </a:blip>
          <a:srcRect b="0" l="0" r="0" t="0"/>
          <a:stretch/>
        </p:blipFill>
        <p:spPr>
          <a:xfrm>
            <a:off x="2049675" y="1458950"/>
            <a:ext cx="5048250" cy="3257550"/>
          </a:xfrm>
          <a:prstGeom prst="rect">
            <a:avLst/>
          </a:prstGeom>
          <a:noFill/>
          <a:ln>
            <a:noFill/>
          </a:ln>
        </p:spPr>
      </p:pic>
      <p:sp>
        <p:nvSpPr>
          <p:cNvPr id="688" name="Google Shape;688;g3937d203302_0_544"/>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689" name="Google Shape;689;g3937d203302_0_544"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g3937d203302_0_551"/>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Chave Primária - qual coluna poderia ser a chave primária?</a:t>
            </a:r>
            <a:endParaRPr b="0">
              <a:latin typeface="Impact"/>
              <a:ea typeface="Impact"/>
              <a:cs typeface="Impact"/>
              <a:sym typeface="Impact"/>
            </a:endParaRPr>
          </a:p>
        </p:txBody>
      </p:sp>
      <p:pic>
        <p:nvPicPr>
          <p:cNvPr id="695" name="Google Shape;695;g3937d203302_0_551"/>
          <p:cNvPicPr preferRelativeResize="0"/>
          <p:nvPr/>
        </p:nvPicPr>
        <p:blipFill rotWithShape="1">
          <a:blip r:embed="rId3">
            <a:alphaModFix/>
          </a:blip>
          <a:srcRect b="0" l="0" r="0" t="0"/>
          <a:stretch/>
        </p:blipFill>
        <p:spPr>
          <a:xfrm>
            <a:off x="1990725" y="1505925"/>
            <a:ext cx="5162550" cy="3343275"/>
          </a:xfrm>
          <a:prstGeom prst="rect">
            <a:avLst/>
          </a:prstGeom>
          <a:noFill/>
          <a:ln>
            <a:noFill/>
          </a:ln>
        </p:spPr>
      </p:pic>
      <p:sp>
        <p:nvSpPr>
          <p:cNvPr id="696" name="Google Shape;696;g3937d203302_0_551"/>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697" name="Google Shape;697;g3937d203302_0_551"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g3937d203302_0_558"/>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O que é modelagem de dados?</a:t>
            </a:r>
            <a:endParaRPr b="0">
              <a:latin typeface="Impact"/>
              <a:ea typeface="Impact"/>
              <a:cs typeface="Impact"/>
              <a:sym typeface="Impact"/>
            </a:endParaRPr>
          </a:p>
        </p:txBody>
      </p:sp>
      <p:sp>
        <p:nvSpPr>
          <p:cNvPr id="703" name="Google Shape;703;g3937d203302_0_558"/>
          <p:cNvSpPr txBox="1"/>
          <p:nvPr>
            <p:ph idx="1" type="body"/>
          </p:nvPr>
        </p:nvSpPr>
        <p:spPr>
          <a:xfrm>
            <a:off x="729450" y="1318400"/>
            <a:ext cx="8051100" cy="35475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1300"/>
              <a:buNone/>
            </a:pPr>
            <a:r>
              <a:rPr lang="pt-BR" sz="1700">
                <a:solidFill>
                  <a:srgbClr val="262C3A"/>
                </a:solidFill>
                <a:highlight>
                  <a:srgbClr val="FFFFFF"/>
                </a:highlight>
                <a:latin typeface="Arial"/>
                <a:ea typeface="Arial"/>
                <a:cs typeface="Arial"/>
                <a:sym typeface="Arial"/>
              </a:rPr>
              <a:t>Chave estrangeira é uma coluna em uma tabela que cria um link entre essa tabela e outra tabela. Ela contém valores que correspondem à chave primária em outra tabela, ajudando a manter a integridade dos dados e a definir relações entre tabelas.</a:t>
            </a:r>
            <a:endParaRPr sz="2100">
              <a:solidFill>
                <a:schemeClr val="dk2"/>
              </a:solidFill>
              <a:highlight>
                <a:schemeClr val="lt1"/>
              </a:highlight>
              <a:latin typeface="Calibri"/>
              <a:ea typeface="Calibri"/>
              <a:cs typeface="Calibri"/>
              <a:sym typeface="Calibri"/>
            </a:endParaRPr>
          </a:p>
          <a:p>
            <a:pPr indent="0" lvl="0" marL="0" rtl="0" algn="just">
              <a:lnSpc>
                <a:spcPct val="200000"/>
              </a:lnSpc>
              <a:spcBef>
                <a:spcPts val="0"/>
              </a:spcBef>
              <a:spcAft>
                <a:spcPts val="0"/>
              </a:spcAft>
              <a:buSzPts val="1300"/>
              <a:buNone/>
            </a:pPr>
            <a:r>
              <a:t/>
            </a:r>
            <a:endParaRPr sz="1200">
              <a:solidFill>
                <a:schemeClr val="dk2"/>
              </a:solidFill>
              <a:highlight>
                <a:schemeClr val="lt1"/>
              </a:highlight>
              <a:latin typeface="Calibri"/>
              <a:ea typeface="Calibri"/>
              <a:cs typeface="Calibri"/>
              <a:sym typeface="Calibri"/>
            </a:endParaRPr>
          </a:p>
        </p:txBody>
      </p:sp>
      <p:pic>
        <p:nvPicPr>
          <p:cNvPr id="704" name="Google Shape;704;g3937d203302_0_558"/>
          <p:cNvPicPr preferRelativeResize="0"/>
          <p:nvPr/>
        </p:nvPicPr>
        <p:blipFill rotWithShape="1">
          <a:blip r:embed="rId3">
            <a:alphaModFix/>
          </a:blip>
          <a:srcRect b="0" l="0" r="0" t="0"/>
          <a:stretch/>
        </p:blipFill>
        <p:spPr>
          <a:xfrm>
            <a:off x="5325500" y="2641150"/>
            <a:ext cx="2254700" cy="1735225"/>
          </a:xfrm>
          <a:prstGeom prst="rect">
            <a:avLst/>
          </a:prstGeom>
          <a:noFill/>
          <a:ln>
            <a:noFill/>
          </a:ln>
        </p:spPr>
      </p:pic>
      <p:pic>
        <p:nvPicPr>
          <p:cNvPr id="705" name="Google Shape;705;g3937d203302_0_558"/>
          <p:cNvPicPr preferRelativeResize="0"/>
          <p:nvPr/>
        </p:nvPicPr>
        <p:blipFill rotWithShape="1">
          <a:blip r:embed="rId4">
            <a:alphaModFix/>
          </a:blip>
          <a:srcRect b="0" l="0" r="0" t="0"/>
          <a:stretch/>
        </p:blipFill>
        <p:spPr>
          <a:xfrm>
            <a:off x="1603225" y="2715800"/>
            <a:ext cx="2174650" cy="1363400"/>
          </a:xfrm>
          <a:prstGeom prst="rect">
            <a:avLst/>
          </a:prstGeom>
          <a:noFill/>
          <a:ln>
            <a:noFill/>
          </a:ln>
        </p:spPr>
      </p:pic>
      <p:cxnSp>
        <p:nvCxnSpPr>
          <p:cNvPr id="706" name="Google Shape;706;g3937d203302_0_558"/>
          <p:cNvCxnSpPr/>
          <p:nvPr/>
        </p:nvCxnSpPr>
        <p:spPr>
          <a:xfrm>
            <a:off x="3644175" y="3191600"/>
            <a:ext cx="1899000" cy="209400"/>
          </a:xfrm>
          <a:prstGeom prst="curvedConnector3">
            <a:avLst>
              <a:gd fmla="val 50000" name="adj1"/>
            </a:avLst>
          </a:prstGeom>
          <a:noFill/>
          <a:ln cap="flat" cmpd="sng" w="19050">
            <a:solidFill>
              <a:schemeClr val="dk2"/>
            </a:solidFill>
            <a:prstDash val="solid"/>
            <a:round/>
            <a:headEnd len="sm" w="sm" type="none"/>
            <a:tailEnd len="sm" w="sm" type="none"/>
          </a:ln>
        </p:spPr>
      </p:cxnSp>
      <p:sp>
        <p:nvSpPr>
          <p:cNvPr id="707" name="Google Shape;707;g3937d203302_0_558"/>
          <p:cNvSpPr txBox="1"/>
          <p:nvPr/>
        </p:nvSpPr>
        <p:spPr>
          <a:xfrm>
            <a:off x="1729950" y="2248975"/>
            <a:ext cx="1921200" cy="369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pt-BR" sz="1200" u="none" cap="none" strike="noStrike">
                <a:solidFill>
                  <a:srgbClr val="000000"/>
                </a:solidFill>
                <a:latin typeface="Arial"/>
                <a:ea typeface="Arial"/>
                <a:cs typeface="Arial"/>
                <a:sym typeface="Arial"/>
              </a:rPr>
              <a:t>Entidade (tabela)</a:t>
            </a:r>
            <a:endParaRPr b="0" i="0" sz="1200" u="none" cap="none" strike="noStrike">
              <a:solidFill>
                <a:srgbClr val="000000"/>
              </a:solidFill>
              <a:latin typeface="Arial"/>
              <a:ea typeface="Arial"/>
              <a:cs typeface="Arial"/>
              <a:sym typeface="Arial"/>
            </a:endParaRPr>
          </a:p>
        </p:txBody>
      </p:sp>
      <p:sp>
        <p:nvSpPr>
          <p:cNvPr id="708" name="Google Shape;708;g3937d203302_0_558"/>
          <p:cNvSpPr txBox="1"/>
          <p:nvPr/>
        </p:nvSpPr>
        <p:spPr>
          <a:xfrm>
            <a:off x="446950" y="4109475"/>
            <a:ext cx="1921200" cy="369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pt-BR" sz="1200" u="none" cap="none" strike="noStrike">
                <a:solidFill>
                  <a:srgbClr val="000000"/>
                </a:solidFill>
                <a:latin typeface="Arial"/>
                <a:ea typeface="Arial"/>
                <a:cs typeface="Arial"/>
                <a:sym typeface="Arial"/>
              </a:rPr>
              <a:t>Atributos (colunas)</a:t>
            </a:r>
            <a:endParaRPr b="0" i="0" sz="1200" u="none" cap="none" strike="noStrike">
              <a:solidFill>
                <a:srgbClr val="000000"/>
              </a:solidFill>
              <a:latin typeface="Arial"/>
              <a:ea typeface="Arial"/>
              <a:cs typeface="Arial"/>
              <a:sym typeface="Arial"/>
            </a:endParaRPr>
          </a:p>
        </p:txBody>
      </p:sp>
      <p:cxnSp>
        <p:nvCxnSpPr>
          <p:cNvPr id="709" name="Google Shape;709;g3937d203302_0_558"/>
          <p:cNvCxnSpPr>
            <a:endCxn id="710" idx="0"/>
          </p:cNvCxnSpPr>
          <p:nvPr/>
        </p:nvCxnSpPr>
        <p:spPr>
          <a:xfrm flipH="1">
            <a:off x="4480175" y="3366675"/>
            <a:ext cx="2400" cy="780900"/>
          </a:xfrm>
          <a:prstGeom prst="straightConnector1">
            <a:avLst/>
          </a:prstGeom>
          <a:noFill/>
          <a:ln cap="flat" cmpd="sng" w="19050">
            <a:solidFill>
              <a:schemeClr val="dk2"/>
            </a:solidFill>
            <a:prstDash val="solid"/>
            <a:round/>
            <a:headEnd len="sm" w="sm" type="none"/>
            <a:tailEnd len="med" w="med" type="triangle"/>
          </a:ln>
        </p:spPr>
      </p:cxnSp>
      <p:sp>
        <p:nvSpPr>
          <p:cNvPr id="710" name="Google Shape;710;g3937d203302_0_558"/>
          <p:cNvSpPr txBox="1"/>
          <p:nvPr/>
        </p:nvSpPr>
        <p:spPr>
          <a:xfrm>
            <a:off x="3519575" y="4147575"/>
            <a:ext cx="1921200" cy="369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pt-BR" sz="1200" u="none" cap="none" strike="noStrike">
                <a:solidFill>
                  <a:srgbClr val="000000"/>
                </a:solidFill>
                <a:latin typeface="Arial"/>
                <a:ea typeface="Arial"/>
                <a:cs typeface="Arial"/>
                <a:sym typeface="Arial"/>
              </a:rPr>
              <a:t>Relacionamento</a:t>
            </a:r>
            <a:endParaRPr b="0" i="0" sz="1200" u="none" cap="none" strike="noStrike">
              <a:solidFill>
                <a:srgbClr val="000000"/>
              </a:solidFill>
              <a:latin typeface="Arial"/>
              <a:ea typeface="Arial"/>
              <a:cs typeface="Arial"/>
              <a:sym typeface="Arial"/>
            </a:endParaRPr>
          </a:p>
        </p:txBody>
      </p:sp>
      <p:cxnSp>
        <p:nvCxnSpPr>
          <p:cNvPr id="711" name="Google Shape;711;g3937d203302_0_558"/>
          <p:cNvCxnSpPr/>
          <p:nvPr/>
        </p:nvCxnSpPr>
        <p:spPr>
          <a:xfrm rot="10800000">
            <a:off x="2687250" y="2518975"/>
            <a:ext cx="4500" cy="295200"/>
          </a:xfrm>
          <a:prstGeom prst="straightConnector1">
            <a:avLst/>
          </a:prstGeom>
          <a:noFill/>
          <a:ln cap="flat" cmpd="sng" w="19050">
            <a:solidFill>
              <a:schemeClr val="dk2"/>
            </a:solidFill>
            <a:prstDash val="solid"/>
            <a:round/>
            <a:headEnd len="sm" w="sm" type="none"/>
            <a:tailEnd len="med" w="med" type="triangle"/>
          </a:ln>
        </p:spPr>
      </p:cxnSp>
      <p:cxnSp>
        <p:nvCxnSpPr>
          <p:cNvPr id="712" name="Google Shape;712;g3937d203302_0_558"/>
          <p:cNvCxnSpPr>
            <a:endCxn id="708" idx="0"/>
          </p:cNvCxnSpPr>
          <p:nvPr/>
        </p:nvCxnSpPr>
        <p:spPr>
          <a:xfrm rot="5400000">
            <a:off x="1120000" y="3504525"/>
            <a:ext cx="892500" cy="317400"/>
          </a:xfrm>
          <a:prstGeom prst="bentConnector3">
            <a:avLst>
              <a:gd fmla="val -8" name="adj1"/>
            </a:avLst>
          </a:prstGeom>
          <a:noFill/>
          <a:ln cap="flat" cmpd="sng" w="19050">
            <a:solidFill>
              <a:schemeClr val="dk2"/>
            </a:solidFill>
            <a:prstDash val="solid"/>
            <a:round/>
            <a:headEnd len="sm" w="sm" type="none"/>
            <a:tailEnd len="sm" w="sm" type="none"/>
          </a:ln>
        </p:spPr>
      </p:cxnSp>
      <p:cxnSp>
        <p:nvCxnSpPr>
          <p:cNvPr id="713" name="Google Shape;713;g3937d203302_0_558"/>
          <p:cNvCxnSpPr>
            <a:endCxn id="708" idx="0"/>
          </p:cNvCxnSpPr>
          <p:nvPr/>
        </p:nvCxnSpPr>
        <p:spPr>
          <a:xfrm rot="5400000">
            <a:off x="1220350" y="3618375"/>
            <a:ext cx="678300" cy="303900"/>
          </a:xfrm>
          <a:prstGeom prst="bentConnector3">
            <a:avLst>
              <a:gd fmla="val 708" name="adj1"/>
            </a:avLst>
          </a:prstGeom>
          <a:noFill/>
          <a:ln cap="flat" cmpd="sng" w="19050">
            <a:solidFill>
              <a:schemeClr val="dk2"/>
            </a:solidFill>
            <a:prstDash val="solid"/>
            <a:round/>
            <a:headEnd len="sm" w="sm" type="none"/>
            <a:tailEnd len="sm" w="sm" type="none"/>
          </a:ln>
        </p:spPr>
      </p:cxnSp>
      <p:cxnSp>
        <p:nvCxnSpPr>
          <p:cNvPr id="714" name="Google Shape;714;g3937d203302_0_558"/>
          <p:cNvCxnSpPr>
            <a:endCxn id="708" idx="0"/>
          </p:cNvCxnSpPr>
          <p:nvPr/>
        </p:nvCxnSpPr>
        <p:spPr>
          <a:xfrm rot="5400000">
            <a:off x="1334350" y="3714075"/>
            <a:ext cx="468600" cy="322200"/>
          </a:xfrm>
          <a:prstGeom prst="bentConnector3">
            <a:avLst>
              <a:gd fmla="val -1040" name="adj1"/>
            </a:avLst>
          </a:prstGeom>
          <a:noFill/>
          <a:ln cap="flat" cmpd="sng" w="19050">
            <a:solidFill>
              <a:schemeClr val="dk2"/>
            </a:solidFill>
            <a:prstDash val="solid"/>
            <a:round/>
            <a:headEnd len="sm" w="sm" type="none"/>
            <a:tailEnd len="sm" w="sm" type="none"/>
          </a:ln>
        </p:spPr>
      </p:cxnSp>
      <p:cxnSp>
        <p:nvCxnSpPr>
          <p:cNvPr id="715" name="Google Shape;715;g3937d203302_0_558"/>
          <p:cNvCxnSpPr>
            <a:endCxn id="708" idx="0"/>
          </p:cNvCxnSpPr>
          <p:nvPr/>
        </p:nvCxnSpPr>
        <p:spPr>
          <a:xfrm flipH="1">
            <a:off x="1407550" y="3840675"/>
            <a:ext cx="317400" cy="268800"/>
          </a:xfrm>
          <a:prstGeom prst="bentConnector2">
            <a:avLst/>
          </a:prstGeom>
          <a:noFill/>
          <a:ln cap="flat" cmpd="sng" w="19050">
            <a:solidFill>
              <a:schemeClr val="dk2"/>
            </a:solidFill>
            <a:prstDash val="solid"/>
            <a:round/>
            <a:headEnd len="sm" w="sm" type="none"/>
            <a:tailEnd len="sm" w="sm" type="none"/>
          </a:ln>
        </p:spPr>
      </p:cxnSp>
      <p:cxnSp>
        <p:nvCxnSpPr>
          <p:cNvPr id="716" name="Google Shape;716;g3937d203302_0_558"/>
          <p:cNvCxnSpPr/>
          <p:nvPr/>
        </p:nvCxnSpPr>
        <p:spPr>
          <a:xfrm flipH="1">
            <a:off x="1407550" y="4012275"/>
            <a:ext cx="2100" cy="173400"/>
          </a:xfrm>
          <a:prstGeom prst="straightConnector1">
            <a:avLst/>
          </a:prstGeom>
          <a:noFill/>
          <a:ln cap="flat" cmpd="sng" w="9525">
            <a:solidFill>
              <a:schemeClr val="dk2"/>
            </a:solidFill>
            <a:prstDash val="solid"/>
            <a:round/>
            <a:headEnd len="sm" w="sm" type="none"/>
            <a:tailEnd len="med" w="med" type="triangle"/>
          </a:ln>
        </p:spPr>
      </p:cxnSp>
      <p:sp>
        <p:nvSpPr>
          <p:cNvPr id="717" name="Google Shape;717;g3937d203302_0_558"/>
          <p:cNvSpPr txBox="1"/>
          <p:nvPr/>
        </p:nvSpPr>
        <p:spPr>
          <a:xfrm>
            <a:off x="7580200" y="2590175"/>
            <a:ext cx="1323300" cy="369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pt-BR" sz="1200" u="none" cap="none" strike="noStrike">
                <a:solidFill>
                  <a:srgbClr val="000000"/>
                </a:solidFill>
                <a:latin typeface="Arial"/>
                <a:ea typeface="Arial"/>
                <a:cs typeface="Arial"/>
                <a:sym typeface="Arial"/>
              </a:rPr>
              <a:t>Primary Key</a:t>
            </a:r>
            <a:endParaRPr b="0" i="0" sz="1200" u="none" cap="none" strike="noStrike">
              <a:solidFill>
                <a:srgbClr val="000000"/>
              </a:solidFill>
              <a:latin typeface="Arial"/>
              <a:ea typeface="Arial"/>
              <a:cs typeface="Arial"/>
              <a:sym typeface="Arial"/>
            </a:endParaRPr>
          </a:p>
        </p:txBody>
      </p:sp>
      <p:sp>
        <p:nvSpPr>
          <p:cNvPr id="718" name="Google Shape;718;g3937d203302_0_558"/>
          <p:cNvSpPr txBox="1"/>
          <p:nvPr/>
        </p:nvSpPr>
        <p:spPr>
          <a:xfrm>
            <a:off x="7580200" y="3668900"/>
            <a:ext cx="1323300" cy="369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pt-BR" sz="1200" u="none" cap="none" strike="noStrike">
                <a:solidFill>
                  <a:srgbClr val="000000"/>
                </a:solidFill>
                <a:latin typeface="Arial"/>
                <a:ea typeface="Arial"/>
                <a:cs typeface="Arial"/>
                <a:sym typeface="Arial"/>
              </a:rPr>
              <a:t>Foreign Key</a:t>
            </a:r>
            <a:endParaRPr b="0" i="0" sz="1200" u="none" cap="none" strike="noStrike">
              <a:solidFill>
                <a:srgbClr val="000000"/>
              </a:solidFill>
              <a:latin typeface="Arial"/>
              <a:ea typeface="Arial"/>
              <a:cs typeface="Arial"/>
              <a:sym typeface="Arial"/>
            </a:endParaRPr>
          </a:p>
        </p:txBody>
      </p:sp>
      <p:cxnSp>
        <p:nvCxnSpPr>
          <p:cNvPr id="719" name="Google Shape;719;g3937d203302_0_558"/>
          <p:cNvCxnSpPr>
            <a:endCxn id="717" idx="2"/>
          </p:cNvCxnSpPr>
          <p:nvPr/>
        </p:nvCxnSpPr>
        <p:spPr>
          <a:xfrm flipH="1" rot="10800000">
            <a:off x="7435150" y="2959475"/>
            <a:ext cx="806700" cy="251100"/>
          </a:xfrm>
          <a:prstGeom prst="bentConnector2">
            <a:avLst/>
          </a:prstGeom>
          <a:noFill/>
          <a:ln cap="flat" cmpd="sng" w="19050">
            <a:solidFill>
              <a:schemeClr val="dk2"/>
            </a:solidFill>
            <a:prstDash val="solid"/>
            <a:round/>
            <a:headEnd len="sm" w="sm" type="none"/>
            <a:tailEnd len="sm" w="sm" type="none"/>
          </a:ln>
        </p:spPr>
      </p:cxnSp>
      <p:cxnSp>
        <p:nvCxnSpPr>
          <p:cNvPr id="720" name="Google Shape;720;g3937d203302_0_558"/>
          <p:cNvCxnSpPr>
            <a:endCxn id="718" idx="0"/>
          </p:cNvCxnSpPr>
          <p:nvPr/>
        </p:nvCxnSpPr>
        <p:spPr>
          <a:xfrm>
            <a:off x="7446850" y="3413000"/>
            <a:ext cx="795000" cy="255900"/>
          </a:xfrm>
          <a:prstGeom prst="bentConnector2">
            <a:avLst/>
          </a:prstGeom>
          <a:noFill/>
          <a:ln cap="flat" cmpd="sng" w="19050">
            <a:solidFill>
              <a:schemeClr val="dk2"/>
            </a:solidFill>
            <a:prstDash val="solid"/>
            <a:round/>
            <a:headEnd len="sm" w="sm" type="none"/>
            <a:tailEnd len="sm" w="sm" type="none"/>
          </a:ln>
        </p:spPr>
      </p:cxnSp>
      <p:cxnSp>
        <p:nvCxnSpPr>
          <p:cNvPr id="721" name="Google Shape;721;g3937d203302_0_558"/>
          <p:cNvCxnSpPr/>
          <p:nvPr/>
        </p:nvCxnSpPr>
        <p:spPr>
          <a:xfrm rot="10800000">
            <a:off x="8240500" y="2892775"/>
            <a:ext cx="2700" cy="108000"/>
          </a:xfrm>
          <a:prstGeom prst="straightConnector1">
            <a:avLst/>
          </a:prstGeom>
          <a:noFill/>
          <a:ln cap="flat" cmpd="sng" w="9525">
            <a:solidFill>
              <a:schemeClr val="dk2"/>
            </a:solidFill>
            <a:prstDash val="solid"/>
            <a:round/>
            <a:headEnd len="sm" w="sm" type="none"/>
            <a:tailEnd len="med" w="med" type="triangle"/>
          </a:ln>
        </p:spPr>
      </p:cxnSp>
      <p:cxnSp>
        <p:nvCxnSpPr>
          <p:cNvPr id="722" name="Google Shape;722;g3937d203302_0_558"/>
          <p:cNvCxnSpPr/>
          <p:nvPr/>
        </p:nvCxnSpPr>
        <p:spPr>
          <a:xfrm>
            <a:off x="8240050" y="3530875"/>
            <a:ext cx="600" cy="170100"/>
          </a:xfrm>
          <a:prstGeom prst="straightConnector1">
            <a:avLst/>
          </a:prstGeom>
          <a:noFill/>
          <a:ln cap="flat" cmpd="sng" w="9525">
            <a:solidFill>
              <a:schemeClr val="dk2"/>
            </a:solidFill>
            <a:prstDash val="solid"/>
            <a:round/>
            <a:headEnd len="sm" w="sm" type="none"/>
            <a:tailEnd len="med" w="med" type="triangle"/>
          </a:ln>
        </p:spPr>
      </p:cxnSp>
      <p:sp>
        <p:nvSpPr>
          <p:cNvPr id="723" name="Google Shape;723;g3937d203302_0_558"/>
          <p:cNvSpPr txBox="1"/>
          <p:nvPr/>
        </p:nvSpPr>
        <p:spPr>
          <a:xfrm>
            <a:off x="729450" y="4642875"/>
            <a:ext cx="8093100" cy="369300"/>
          </a:xfrm>
          <a:prstGeom prst="rect">
            <a:avLst/>
          </a:prstGeom>
          <a:noFill/>
          <a:ln>
            <a:noFill/>
          </a:ln>
        </p:spPr>
        <p:txBody>
          <a:bodyPr anchorCtr="0" anchor="ctr" bIns="91425" lIns="91425" spcFirstLastPara="1" rIns="91425" wrap="square" tIns="91425">
            <a:noAutofit/>
          </a:bodyPr>
          <a:lstStyle/>
          <a:p>
            <a:pPr indent="0" lvl="0" marL="0" marR="0" rtl="0" algn="ctr">
              <a:lnSpc>
                <a:spcPct val="150000"/>
              </a:lnSpc>
              <a:spcBef>
                <a:spcPts val="1500"/>
              </a:spcBef>
              <a:spcAft>
                <a:spcPts val="0"/>
              </a:spcAft>
              <a:buClr>
                <a:srgbClr val="000000"/>
              </a:buClr>
              <a:buSzPts val="1200"/>
              <a:buFont typeface="Arial"/>
              <a:buNone/>
            </a:pPr>
            <a:r>
              <a:rPr b="0" i="0" lang="pt-BR" sz="1200" u="none" cap="none" strike="noStrike">
                <a:solidFill>
                  <a:srgbClr val="374151"/>
                </a:solidFill>
                <a:highlight>
                  <a:schemeClr val="lt1"/>
                </a:highlight>
                <a:latin typeface="Calibri"/>
                <a:ea typeface="Calibri"/>
                <a:cs typeface="Calibri"/>
                <a:sym typeface="Calibri"/>
              </a:rPr>
              <a:t>Modelo Relacional: Organiza os dados em tabelas relacionadas por chaves primárias e estrangeiras.</a:t>
            </a:r>
            <a:endParaRPr b="0" i="0" sz="1200" u="none" cap="none" strike="noStrike">
              <a:solidFill>
                <a:srgbClr val="000000"/>
              </a:solidFill>
              <a:latin typeface="Calibri"/>
              <a:ea typeface="Calibri"/>
              <a:cs typeface="Calibri"/>
              <a:sym typeface="Calibri"/>
            </a:endParaRPr>
          </a:p>
        </p:txBody>
      </p:sp>
      <p:sp>
        <p:nvSpPr>
          <p:cNvPr id="724" name="Google Shape;724;g3937d203302_0_558"/>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725" name="Google Shape;725;g3937d203302_0_558" title="SENAI_São_Paulo_logo.png"/>
          <p:cNvPicPr preferRelativeResize="0"/>
          <p:nvPr/>
        </p:nvPicPr>
        <p:blipFill rotWithShape="1">
          <a:blip r:embed="rId5">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g3937d203302_0_585"/>
          <p:cNvSpPr txBox="1"/>
          <p:nvPr>
            <p:ph idx="1" type="body"/>
          </p:nvPr>
        </p:nvSpPr>
        <p:spPr>
          <a:xfrm>
            <a:off x="4939500" y="1318400"/>
            <a:ext cx="4046700" cy="28146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1300"/>
              <a:buNone/>
            </a:pPr>
            <a:r>
              <a:rPr b="1" lang="pt-BR" sz="1600">
                <a:solidFill>
                  <a:schemeClr val="dk2"/>
                </a:solidFill>
                <a:highlight>
                  <a:schemeClr val="lt1"/>
                </a:highlight>
                <a:latin typeface="Calibri"/>
                <a:ea typeface="Calibri"/>
                <a:cs typeface="Calibri"/>
                <a:sym typeface="Calibri"/>
              </a:rPr>
              <a:t>Tabela Dimensão:</a:t>
            </a:r>
            <a:r>
              <a:rPr lang="pt-BR" sz="1600">
                <a:solidFill>
                  <a:schemeClr val="dk2"/>
                </a:solidFill>
                <a:highlight>
                  <a:schemeClr val="lt1"/>
                </a:highlight>
                <a:latin typeface="Calibri"/>
                <a:ea typeface="Calibri"/>
                <a:cs typeface="Calibri"/>
                <a:sym typeface="Calibri"/>
              </a:rPr>
              <a:t> é uma tabela que contém os atributos descritivos ou contextuais relacionados aos eventos capturados na tabela fato.</a:t>
            </a:r>
            <a:endParaRPr b="1" sz="1600">
              <a:solidFill>
                <a:schemeClr val="dk2"/>
              </a:solidFill>
              <a:highlight>
                <a:schemeClr val="lt1"/>
              </a:highlight>
              <a:latin typeface="Calibri"/>
              <a:ea typeface="Calibri"/>
              <a:cs typeface="Calibri"/>
              <a:sym typeface="Calibri"/>
            </a:endParaRPr>
          </a:p>
        </p:txBody>
      </p:sp>
      <p:sp>
        <p:nvSpPr>
          <p:cNvPr id="731" name="Google Shape;731;g3937d203302_0_585"/>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Tabela fato x Tabela Dimensão</a:t>
            </a:r>
            <a:endParaRPr b="0">
              <a:latin typeface="Impact"/>
              <a:ea typeface="Impact"/>
              <a:cs typeface="Impact"/>
              <a:sym typeface="Impact"/>
            </a:endParaRPr>
          </a:p>
        </p:txBody>
      </p:sp>
      <p:sp>
        <p:nvSpPr>
          <p:cNvPr id="732" name="Google Shape;732;g3937d203302_0_585"/>
          <p:cNvSpPr txBox="1"/>
          <p:nvPr>
            <p:ph idx="1" type="body"/>
          </p:nvPr>
        </p:nvSpPr>
        <p:spPr>
          <a:xfrm>
            <a:off x="729450" y="1318400"/>
            <a:ext cx="4046700" cy="28146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1300"/>
              <a:buNone/>
            </a:pPr>
            <a:r>
              <a:rPr b="1" lang="pt-BR" sz="1600">
                <a:solidFill>
                  <a:schemeClr val="dk2"/>
                </a:solidFill>
                <a:highlight>
                  <a:schemeClr val="lt1"/>
                </a:highlight>
                <a:latin typeface="Calibri"/>
                <a:ea typeface="Calibri"/>
                <a:cs typeface="Calibri"/>
                <a:sym typeface="Calibri"/>
              </a:rPr>
              <a:t>Tabela Fato: </a:t>
            </a:r>
            <a:r>
              <a:rPr lang="pt-BR" sz="1600">
                <a:solidFill>
                  <a:schemeClr val="dk2"/>
                </a:solidFill>
                <a:highlight>
                  <a:schemeClr val="lt1"/>
                </a:highlight>
                <a:latin typeface="Calibri"/>
                <a:ea typeface="Calibri"/>
                <a:cs typeface="Calibri"/>
                <a:sym typeface="Calibri"/>
              </a:rPr>
              <a:t>é uma tabela que contém as métricas ou medidas numéricas do negócio, geralmente expressas em valores quantitativos, como vendas, receita, quantidade de produtos vendidos, etc.</a:t>
            </a:r>
            <a:endParaRPr b="1" sz="1600">
              <a:solidFill>
                <a:schemeClr val="dk2"/>
              </a:solidFill>
              <a:highlight>
                <a:schemeClr val="lt1"/>
              </a:highlight>
              <a:latin typeface="Calibri"/>
              <a:ea typeface="Calibri"/>
              <a:cs typeface="Calibri"/>
              <a:sym typeface="Calibri"/>
            </a:endParaRPr>
          </a:p>
        </p:txBody>
      </p:sp>
      <p:pic>
        <p:nvPicPr>
          <p:cNvPr id="733" name="Google Shape;733;g3937d203302_0_585"/>
          <p:cNvPicPr preferRelativeResize="0"/>
          <p:nvPr/>
        </p:nvPicPr>
        <p:blipFill rotWithShape="1">
          <a:blip r:embed="rId3">
            <a:alphaModFix/>
          </a:blip>
          <a:srcRect b="0" l="3357" r="3366" t="0"/>
          <a:stretch/>
        </p:blipFill>
        <p:spPr>
          <a:xfrm>
            <a:off x="1600275" y="2924363"/>
            <a:ext cx="2305050" cy="1183025"/>
          </a:xfrm>
          <a:prstGeom prst="rect">
            <a:avLst/>
          </a:prstGeom>
          <a:noFill/>
          <a:ln>
            <a:noFill/>
          </a:ln>
        </p:spPr>
      </p:pic>
      <p:pic>
        <p:nvPicPr>
          <p:cNvPr id="734" name="Google Shape;734;g3937d203302_0_585"/>
          <p:cNvPicPr preferRelativeResize="0"/>
          <p:nvPr/>
        </p:nvPicPr>
        <p:blipFill rotWithShape="1">
          <a:blip r:embed="rId4">
            <a:alphaModFix/>
          </a:blip>
          <a:srcRect b="0" l="0" r="0" t="0"/>
          <a:stretch/>
        </p:blipFill>
        <p:spPr>
          <a:xfrm>
            <a:off x="5575275" y="2634510"/>
            <a:ext cx="2775126" cy="1762740"/>
          </a:xfrm>
          <a:prstGeom prst="rect">
            <a:avLst/>
          </a:prstGeom>
          <a:noFill/>
          <a:ln>
            <a:noFill/>
          </a:ln>
        </p:spPr>
      </p:pic>
      <p:sp>
        <p:nvSpPr>
          <p:cNvPr id="735" name="Google Shape;735;g3937d203302_0_585"/>
          <p:cNvSpPr txBox="1"/>
          <p:nvPr/>
        </p:nvSpPr>
        <p:spPr>
          <a:xfrm>
            <a:off x="737650" y="4390175"/>
            <a:ext cx="4046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Lato"/>
                <a:ea typeface="Lato"/>
                <a:cs typeface="Lato"/>
                <a:sym typeface="Lato"/>
              </a:rPr>
              <a:t>1 - 23 - 3,00</a:t>
            </a:r>
            <a:endParaRPr b="0" i="0" sz="1400" u="none" cap="none" strike="noStrike">
              <a:solidFill>
                <a:srgbClr val="000000"/>
              </a:solidFill>
              <a:latin typeface="Lato"/>
              <a:ea typeface="Lato"/>
              <a:cs typeface="Lato"/>
              <a:sym typeface="Lato"/>
            </a:endParaRPr>
          </a:p>
        </p:txBody>
      </p:sp>
      <p:sp>
        <p:nvSpPr>
          <p:cNvPr id="736" name="Google Shape;736;g3937d203302_0_585"/>
          <p:cNvSpPr txBox="1"/>
          <p:nvPr/>
        </p:nvSpPr>
        <p:spPr>
          <a:xfrm>
            <a:off x="4939500" y="4390175"/>
            <a:ext cx="4046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Lato"/>
                <a:ea typeface="Lato"/>
                <a:cs typeface="Lato"/>
                <a:sym typeface="Lato"/>
              </a:rPr>
              <a:t>23 - Água Mineral - Bebida - R$ 1,49</a:t>
            </a:r>
            <a:endParaRPr b="0" i="0" sz="1400" u="none" cap="none" strike="noStrike">
              <a:solidFill>
                <a:srgbClr val="000000"/>
              </a:solidFill>
              <a:latin typeface="Lato"/>
              <a:ea typeface="Lato"/>
              <a:cs typeface="Lato"/>
              <a:sym typeface="Lato"/>
            </a:endParaRPr>
          </a:p>
        </p:txBody>
      </p:sp>
      <p:sp>
        <p:nvSpPr>
          <p:cNvPr id="737" name="Google Shape;737;g3937d203302_0_585"/>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738" name="Google Shape;738;g3937d203302_0_585" title="SENAI_São_Paulo_logo.png"/>
          <p:cNvPicPr preferRelativeResize="0"/>
          <p:nvPr/>
        </p:nvPicPr>
        <p:blipFill rotWithShape="1">
          <a:blip r:embed="rId5">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g3937d203302_0_597"/>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Tipos de relacionamento</a:t>
            </a:r>
            <a:endParaRPr b="0">
              <a:latin typeface="Impact"/>
              <a:ea typeface="Impact"/>
              <a:cs typeface="Impact"/>
              <a:sym typeface="Impact"/>
            </a:endParaRPr>
          </a:p>
        </p:txBody>
      </p:sp>
      <p:sp>
        <p:nvSpPr>
          <p:cNvPr id="744" name="Google Shape;744;g3937d203302_0_597"/>
          <p:cNvSpPr/>
          <p:nvPr/>
        </p:nvSpPr>
        <p:spPr>
          <a:xfrm>
            <a:off x="1934099" y="3252025"/>
            <a:ext cx="857400" cy="39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Chefe</a:t>
            </a:r>
            <a:endParaRPr b="0" i="0" sz="1400" u="none" cap="none" strike="noStrike">
              <a:solidFill>
                <a:srgbClr val="000000"/>
              </a:solidFill>
              <a:latin typeface="Arial"/>
              <a:ea typeface="Arial"/>
              <a:cs typeface="Arial"/>
              <a:sym typeface="Arial"/>
            </a:endParaRPr>
          </a:p>
        </p:txBody>
      </p:sp>
      <p:sp>
        <p:nvSpPr>
          <p:cNvPr id="745" name="Google Shape;745;g3937d203302_0_597"/>
          <p:cNvSpPr/>
          <p:nvPr/>
        </p:nvSpPr>
        <p:spPr>
          <a:xfrm>
            <a:off x="371697" y="3252225"/>
            <a:ext cx="1380300" cy="39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Funcionário</a:t>
            </a:r>
            <a:endParaRPr b="0" i="0" sz="1400" u="none" cap="none" strike="noStrike">
              <a:solidFill>
                <a:srgbClr val="000000"/>
              </a:solidFill>
              <a:latin typeface="Arial"/>
              <a:ea typeface="Arial"/>
              <a:cs typeface="Arial"/>
              <a:sym typeface="Arial"/>
            </a:endParaRPr>
          </a:p>
        </p:txBody>
      </p:sp>
      <p:sp>
        <p:nvSpPr>
          <p:cNvPr id="746" name="Google Shape;746;g3937d203302_0_597"/>
          <p:cNvSpPr/>
          <p:nvPr/>
        </p:nvSpPr>
        <p:spPr>
          <a:xfrm>
            <a:off x="4773325" y="3232256"/>
            <a:ext cx="963000" cy="39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Aluno</a:t>
            </a:r>
            <a:endParaRPr b="0" i="0" sz="1400" u="none" cap="none" strike="noStrike">
              <a:solidFill>
                <a:srgbClr val="000000"/>
              </a:solidFill>
              <a:latin typeface="Arial"/>
              <a:ea typeface="Arial"/>
              <a:cs typeface="Arial"/>
              <a:sym typeface="Arial"/>
            </a:endParaRPr>
          </a:p>
        </p:txBody>
      </p:sp>
      <p:sp>
        <p:nvSpPr>
          <p:cNvPr id="747" name="Google Shape;747;g3937d203302_0_597"/>
          <p:cNvSpPr txBox="1"/>
          <p:nvPr/>
        </p:nvSpPr>
        <p:spPr>
          <a:xfrm>
            <a:off x="371700" y="1702425"/>
            <a:ext cx="27456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Calibri"/>
                <a:ea typeface="Calibri"/>
                <a:cs typeface="Calibri"/>
                <a:sym typeface="Calibri"/>
              </a:rPr>
              <a:t>Um para um (1:1)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Calibri"/>
                <a:ea typeface="Calibri"/>
                <a:cs typeface="Calibri"/>
                <a:sym typeface="Calibri"/>
              </a:rPr>
              <a:t>Um funcionário está ligado somente a um chefe</a:t>
            </a:r>
            <a:endParaRPr b="0" i="0" sz="1400" u="none" cap="none" strike="noStrike">
              <a:solidFill>
                <a:srgbClr val="000000"/>
              </a:solidFill>
              <a:latin typeface="Arial"/>
              <a:ea typeface="Arial"/>
              <a:cs typeface="Arial"/>
              <a:sym typeface="Arial"/>
            </a:endParaRPr>
          </a:p>
        </p:txBody>
      </p:sp>
      <p:sp>
        <p:nvSpPr>
          <p:cNvPr id="748" name="Google Shape;748;g3937d203302_0_597"/>
          <p:cNvSpPr/>
          <p:nvPr/>
        </p:nvSpPr>
        <p:spPr>
          <a:xfrm>
            <a:off x="3407624" y="3232250"/>
            <a:ext cx="1105800" cy="39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Professor</a:t>
            </a:r>
            <a:endParaRPr b="0" i="0" sz="1400" u="none" cap="none" strike="noStrike">
              <a:solidFill>
                <a:srgbClr val="000000"/>
              </a:solidFill>
              <a:latin typeface="Arial"/>
              <a:ea typeface="Arial"/>
              <a:cs typeface="Arial"/>
              <a:sym typeface="Arial"/>
            </a:endParaRPr>
          </a:p>
        </p:txBody>
      </p:sp>
      <p:sp>
        <p:nvSpPr>
          <p:cNvPr id="749" name="Google Shape;749;g3937d203302_0_597"/>
          <p:cNvSpPr txBox="1"/>
          <p:nvPr/>
        </p:nvSpPr>
        <p:spPr>
          <a:xfrm>
            <a:off x="3407631" y="1682653"/>
            <a:ext cx="23286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Calibri"/>
                <a:ea typeface="Calibri"/>
                <a:cs typeface="Calibri"/>
                <a:sym typeface="Calibri"/>
              </a:rPr>
              <a:t>Um para muitos (1:N)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Calibri"/>
                <a:ea typeface="Calibri"/>
                <a:cs typeface="Calibri"/>
                <a:sym typeface="Calibri"/>
              </a:rPr>
              <a:t>Um professor está ligado a vários alunos</a:t>
            </a:r>
            <a:endParaRPr b="0" i="0" sz="1400" u="none" cap="none" strike="noStrike">
              <a:solidFill>
                <a:srgbClr val="000000"/>
              </a:solidFill>
              <a:latin typeface="Arial"/>
              <a:ea typeface="Arial"/>
              <a:cs typeface="Arial"/>
              <a:sym typeface="Arial"/>
            </a:endParaRPr>
          </a:p>
        </p:txBody>
      </p:sp>
      <p:sp>
        <p:nvSpPr>
          <p:cNvPr id="750" name="Google Shape;750;g3937d203302_0_597"/>
          <p:cNvSpPr/>
          <p:nvPr/>
        </p:nvSpPr>
        <p:spPr>
          <a:xfrm>
            <a:off x="7809099" y="3232252"/>
            <a:ext cx="963000" cy="39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Curso</a:t>
            </a:r>
            <a:endParaRPr b="0" i="0" sz="1400" u="none" cap="none" strike="noStrike">
              <a:solidFill>
                <a:srgbClr val="000000"/>
              </a:solidFill>
              <a:latin typeface="Arial"/>
              <a:ea typeface="Arial"/>
              <a:cs typeface="Arial"/>
              <a:sym typeface="Arial"/>
            </a:endParaRPr>
          </a:p>
        </p:txBody>
      </p:sp>
      <p:sp>
        <p:nvSpPr>
          <p:cNvPr id="751" name="Google Shape;751;g3937d203302_0_597"/>
          <p:cNvSpPr/>
          <p:nvPr/>
        </p:nvSpPr>
        <p:spPr>
          <a:xfrm>
            <a:off x="6437579" y="3232252"/>
            <a:ext cx="1018800" cy="39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Aluno</a:t>
            </a:r>
            <a:endParaRPr b="0" i="0" sz="1400" u="none" cap="none" strike="noStrike">
              <a:solidFill>
                <a:srgbClr val="000000"/>
              </a:solidFill>
              <a:latin typeface="Arial"/>
              <a:ea typeface="Arial"/>
              <a:cs typeface="Arial"/>
              <a:sym typeface="Arial"/>
            </a:endParaRPr>
          </a:p>
        </p:txBody>
      </p:sp>
      <p:sp>
        <p:nvSpPr>
          <p:cNvPr id="752" name="Google Shape;752;g3937d203302_0_597"/>
          <p:cNvSpPr txBox="1"/>
          <p:nvPr/>
        </p:nvSpPr>
        <p:spPr>
          <a:xfrm>
            <a:off x="6433480" y="1682649"/>
            <a:ext cx="23286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pt-BR" sz="1400" u="none" cap="none" strike="noStrike">
                <a:solidFill>
                  <a:srgbClr val="000000"/>
                </a:solidFill>
                <a:latin typeface="Calibri"/>
                <a:ea typeface="Calibri"/>
                <a:cs typeface="Calibri"/>
                <a:sym typeface="Calibri"/>
              </a:rPr>
              <a:t>Muitos para muitos (N:M)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Calibri"/>
                <a:ea typeface="Calibri"/>
                <a:cs typeface="Calibri"/>
                <a:sym typeface="Calibri"/>
              </a:rPr>
              <a:t>Um aluno faz vários cursos e um curso tem vários alunos</a:t>
            </a:r>
            <a:endParaRPr b="0" i="0" sz="1400" u="none" cap="none" strike="noStrike">
              <a:solidFill>
                <a:srgbClr val="000000"/>
              </a:solidFill>
              <a:latin typeface="Arial"/>
              <a:ea typeface="Arial"/>
              <a:cs typeface="Arial"/>
              <a:sym typeface="Arial"/>
            </a:endParaRPr>
          </a:p>
        </p:txBody>
      </p:sp>
      <p:cxnSp>
        <p:nvCxnSpPr>
          <p:cNvPr id="753" name="Google Shape;753;g3937d203302_0_597"/>
          <p:cNvCxnSpPr/>
          <p:nvPr/>
        </p:nvCxnSpPr>
        <p:spPr>
          <a:xfrm>
            <a:off x="3159512" y="1293541"/>
            <a:ext cx="0" cy="3308100"/>
          </a:xfrm>
          <a:prstGeom prst="straightConnector1">
            <a:avLst/>
          </a:prstGeom>
          <a:noFill/>
          <a:ln cap="flat" cmpd="sng" w="9525">
            <a:solidFill>
              <a:srgbClr val="565656"/>
            </a:solidFill>
            <a:prstDash val="solid"/>
            <a:round/>
            <a:headEnd len="sm" w="sm" type="none"/>
            <a:tailEnd len="sm" w="sm" type="none"/>
          </a:ln>
        </p:spPr>
      </p:cxnSp>
      <p:cxnSp>
        <p:nvCxnSpPr>
          <p:cNvPr id="754" name="Google Shape;754;g3937d203302_0_597"/>
          <p:cNvCxnSpPr/>
          <p:nvPr/>
        </p:nvCxnSpPr>
        <p:spPr>
          <a:xfrm>
            <a:off x="6084849" y="1293541"/>
            <a:ext cx="0" cy="3308100"/>
          </a:xfrm>
          <a:prstGeom prst="straightConnector1">
            <a:avLst/>
          </a:prstGeom>
          <a:noFill/>
          <a:ln cap="flat" cmpd="sng" w="9525">
            <a:solidFill>
              <a:srgbClr val="565656"/>
            </a:solidFill>
            <a:prstDash val="solid"/>
            <a:round/>
            <a:headEnd len="sm" w="sm" type="none"/>
            <a:tailEnd len="sm" w="sm" type="none"/>
          </a:ln>
        </p:spPr>
      </p:cxnSp>
      <p:sp>
        <p:nvSpPr>
          <p:cNvPr id="755" name="Google Shape;755;g3937d203302_0_597"/>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756" name="Google Shape;756;g3937d203302_0_597"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g3937d203302_0_614"/>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Exemplo prático de modelagem</a:t>
            </a:r>
            <a:endParaRPr b="0">
              <a:latin typeface="Impact"/>
              <a:ea typeface="Impact"/>
              <a:cs typeface="Impact"/>
              <a:sym typeface="Impact"/>
            </a:endParaRPr>
          </a:p>
        </p:txBody>
      </p:sp>
      <p:sp>
        <p:nvSpPr>
          <p:cNvPr id="762" name="Google Shape;762;g3937d203302_0_614"/>
          <p:cNvSpPr txBox="1"/>
          <p:nvPr>
            <p:ph idx="1" type="body"/>
          </p:nvPr>
        </p:nvSpPr>
        <p:spPr>
          <a:xfrm>
            <a:off x="729450" y="1318400"/>
            <a:ext cx="8051100" cy="35475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1300"/>
              <a:buNone/>
            </a:pPr>
            <a:r>
              <a:rPr lang="pt-BR" sz="2000">
                <a:solidFill>
                  <a:schemeClr val="dk2"/>
                </a:solidFill>
                <a:highlight>
                  <a:schemeClr val="lt1"/>
                </a:highlight>
                <a:latin typeface="Calibri"/>
                <a:ea typeface="Calibri"/>
                <a:cs typeface="Calibri"/>
                <a:sym typeface="Calibri"/>
              </a:rPr>
              <a:t>Imagine que você está trabalhando com dados de projetos de uma empresa. A modelagem de dados envolveria a criação de tabelas como "Funcionários", "Projetos" e "Tarefas".</a:t>
            </a:r>
            <a:endParaRPr sz="2000">
              <a:solidFill>
                <a:schemeClr val="dk2"/>
              </a:solidFill>
              <a:highlight>
                <a:schemeClr val="lt1"/>
              </a:highlight>
              <a:latin typeface="Calibri"/>
              <a:ea typeface="Calibri"/>
              <a:cs typeface="Calibri"/>
              <a:sym typeface="Calibri"/>
            </a:endParaRPr>
          </a:p>
          <a:p>
            <a:pPr indent="0" lvl="0" marL="0" rtl="0" algn="l">
              <a:lnSpc>
                <a:spcPct val="100000"/>
              </a:lnSpc>
              <a:spcBef>
                <a:spcPts val="0"/>
              </a:spcBef>
              <a:spcAft>
                <a:spcPts val="0"/>
              </a:spcAft>
              <a:buSzPts val="1300"/>
              <a:buNone/>
            </a:pPr>
            <a:r>
              <a:t/>
            </a:r>
            <a:endParaRPr sz="2000">
              <a:solidFill>
                <a:schemeClr val="dk2"/>
              </a:solidFill>
              <a:highlight>
                <a:schemeClr val="lt1"/>
              </a:highlight>
              <a:latin typeface="Calibri"/>
              <a:ea typeface="Calibri"/>
              <a:cs typeface="Calibri"/>
              <a:sym typeface="Calibri"/>
            </a:endParaRPr>
          </a:p>
        </p:txBody>
      </p:sp>
      <p:sp>
        <p:nvSpPr>
          <p:cNvPr id="763" name="Google Shape;763;g3937d203302_0_614"/>
          <p:cNvSpPr/>
          <p:nvPr/>
        </p:nvSpPr>
        <p:spPr>
          <a:xfrm>
            <a:off x="3882461" y="2958203"/>
            <a:ext cx="1641000" cy="39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Projeto</a:t>
            </a:r>
            <a:endParaRPr b="0" i="0" sz="1400" u="none" cap="none" strike="noStrike">
              <a:solidFill>
                <a:srgbClr val="000000"/>
              </a:solidFill>
              <a:latin typeface="Arial"/>
              <a:ea typeface="Arial"/>
              <a:cs typeface="Arial"/>
              <a:sym typeface="Arial"/>
            </a:endParaRPr>
          </a:p>
        </p:txBody>
      </p:sp>
      <p:sp>
        <p:nvSpPr>
          <p:cNvPr id="764" name="Google Shape;764;g3937d203302_0_614"/>
          <p:cNvSpPr/>
          <p:nvPr/>
        </p:nvSpPr>
        <p:spPr>
          <a:xfrm>
            <a:off x="1155886" y="2958203"/>
            <a:ext cx="1641000" cy="39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Funcionário</a:t>
            </a:r>
            <a:endParaRPr b="0" i="0" sz="1400" u="none" cap="none" strike="noStrike">
              <a:solidFill>
                <a:srgbClr val="000000"/>
              </a:solidFill>
              <a:latin typeface="Arial"/>
              <a:ea typeface="Arial"/>
              <a:cs typeface="Arial"/>
              <a:sym typeface="Arial"/>
            </a:endParaRPr>
          </a:p>
        </p:txBody>
      </p:sp>
      <p:sp>
        <p:nvSpPr>
          <p:cNvPr id="765" name="Google Shape;765;g3937d203302_0_614"/>
          <p:cNvSpPr/>
          <p:nvPr/>
        </p:nvSpPr>
        <p:spPr>
          <a:xfrm>
            <a:off x="6609036" y="2958203"/>
            <a:ext cx="1641000" cy="395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pt-BR" sz="1400" u="none" cap="none" strike="noStrike">
                <a:solidFill>
                  <a:srgbClr val="000000"/>
                </a:solidFill>
                <a:latin typeface="Arial"/>
                <a:ea typeface="Arial"/>
                <a:cs typeface="Arial"/>
                <a:sym typeface="Arial"/>
              </a:rPr>
              <a:t>Tarefa</a:t>
            </a:r>
            <a:endParaRPr b="0" i="0" sz="1400" u="none" cap="none" strike="noStrike">
              <a:solidFill>
                <a:srgbClr val="000000"/>
              </a:solidFill>
              <a:latin typeface="Arial"/>
              <a:ea typeface="Arial"/>
              <a:cs typeface="Arial"/>
              <a:sym typeface="Arial"/>
            </a:endParaRPr>
          </a:p>
        </p:txBody>
      </p:sp>
      <p:sp>
        <p:nvSpPr>
          <p:cNvPr id="766" name="Google Shape;766;g3937d203302_0_614"/>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767" name="Google Shape;767;g3937d203302_0_614"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g3937d203302_0_624"/>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Exemplo prático de modelagem</a:t>
            </a:r>
            <a:endParaRPr b="0">
              <a:latin typeface="Impact"/>
              <a:ea typeface="Impact"/>
              <a:cs typeface="Impact"/>
              <a:sym typeface="Impact"/>
            </a:endParaRPr>
          </a:p>
        </p:txBody>
      </p:sp>
      <p:sp>
        <p:nvSpPr>
          <p:cNvPr id="773" name="Google Shape;773;g3937d203302_0_624"/>
          <p:cNvSpPr txBox="1"/>
          <p:nvPr>
            <p:ph idx="1" type="body"/>
          </p:nvPr>
        </p:nvSpPr>
        <p:spPr>
          <a:xfrm>
            <a:off x="729450" y="1318400"/>
            <a:ext cx="8051100" cy="3547500"/>
          </a:xfrm>
          <a:prstGeom prst="rect">
            <a:avLst/>
          </a:prstGeom>
          <a:noFill/>
          <a:ln>
            <a:noFill/>
          </a:ln>
        </p:spPr>
        <p:txBody>
          <a:bodyPr anchorCtr="0" anchor="t" bIns="91425" lIns="91425" spcFirstLastPara="1" rIns="91425" wrap="square" tIns="91425">
            <a:normAutofit/>
          </a:bodyPr>
          <a:lstStyle/>
          <a:p>
            <a:pPr indent="0" lvl="0" marL="0" rtl="0" algn="l">
              <a:lnSpc>
                <a:spcPct val="110000"/>
              </a:lnSpc>
              <a:spcBef>
                <a:spcPts val="0"/>
              </a:spcBef>
              <a:spcAft>
                <a:spcPts val="0"/>
              </a:spcAft>
              <a:buSzPts val="1300"/>
              <a:buNone/>
            </a:pPr>
            <a:r>
              <a:rPr lang="pt-BR" sz="2000">
                <a:solidFill>
                  <a:schemeClr val="dk2"/>
                </a:solidFill>
                <a:highlight>
                  <a:schemeClr val="lt1"/>
                </a:highlight>
                <a:latin typeface="Calibri"/>
                <a:ea typeface="Calibri"/>
                <a:cs typeface="Calibri"/>
                <a:sym typeface="Calibri"/>
              </a:rPr>
              <a:t>Tabela:	</a:t>
            </a:r>
            <a:r>
              <a:rPr b="1" lang="pt-BR" sz="2000">
                <a:solidFill>
                  <a:schemeClr val="dk2"/>
                </a:solidFill>
                <a:highlight>
                  <a:schemeClr val="lt1"/>
                </a:highlight>
                <a:latin typeface="Calibri"/>
                <a:ea typeface="Calibri"/>
                <a:cs typeface="Calibri"/>
                <a:sym typeface="Calibri"/>
              </a:rPr>
              <a:t>Funcionário</a:t>
            </a:r>
            <a:endParaRPr b="1" sz="2000">
              <a:solidFill>
                <a:schemeClr val="dk2"/>
              </a:solidFill>
              <a:highlight>
                <a:schemeClr val="lt1"/>
              </a:highlight>
              <a:latin typeface="Calibri"/>
              <a:ea typeface="Calibri"/>
              <a:cs typeface="Calibri"/>
              <a:sym typeface="Calibri"/>
            </a:endParaRPr>
          </a:p>
          <a:p>
            <a:pPr indent="0" lvl="0" marL="0" rtl="0" algn="l">
              <a:lnSpc>
                <a:spcPct val="110000"/>
              </a:lnSpc>
              <a:spcBef>
                <a:spcPts val="0"/>
              </a:spcBef>
              <a:spcAft>
                <a:spcPts val="0"/>
              </a:spcAft>
              <a:buSzPts val="1300"/>
              <a:buNone/>
            </a:pPr>
            <a:r>
              <a:rPr lang="pt-BR" sz="2000">
                <a:solidFill>
                  <a:schemeClr val="dk2"/>
                </a:solidFill>
                <a:highlight>
                  <a:schemeClr val="lt1"/>
                </a:highlight>
                <a:latin typeface="Calibri"/>
                <a:ea typeface="Calibri"/>
                <a:cs typeface="Calibri"/>
                <a:sym typeface="Calibri"/>
              </a:rPr>
              <a:t>Atributos: </a:t>
            </a:r>
            <a:r>
              <a:rPr lang="pt-BR" sz="2000" u="sng">
                <a:solidFill>
                  <a:schemeClr val="dk2"/>
                </a:solidFill>
                <a:highlight>
                  <a:schemeClr val="lt1"/>
                </a:highlight>
                <a:latin typeface="Calibri"/>
                <a:ea typeface="Calibri"/>
                <a:cs typeface="Calibri"/>
                <a:sym typeface="Calibri"/>
              </a:rPr>
              <a:t>ID do Funcionário</a:t>
            </a:r>
            <a:r>
              <a:rPr lang="pt-BR" sz="2000">
                <a:solidFill>
                  <a:schemeClr val="dk2"/>
                </a:solidFill>
                <a:highlight>
                  <a:schemeClr val="lt1"/>
                </a:highlight>
                <a:latin typeface="Calibri"/>
                <a:ea typeface="Calibri"/>
                <a:cs typeface="Calibri"/>
                <a:sym typeface="Calibri"/>
              </a:rPr>
              <a:t>, Nome do Funcionário, Cargo e Departamento</a:t>
            </a:r>
            <a:endParaRPr sz="2000">
              <a:solidFill>
                <a:schemeClr val="dk2"/>
              </a:solidFill>
              <a:highlight>
                <a:schemeClr val="lt1"/>
              </a:highlight>
              <a:latin typeface="Calibri"/>
              <a:ea typeface="Calibri"/>
              <a:cs typeface="Calibri"/>
              <a:sym typeface="Calibri"/>
            </a:endParaRPr>
          </a:p>
          <a:p>
            <a:pPr indent="0" lvl="0" marL="0" rtl="0" algn="l">
              <a:lnSpc>
                <a:spcPct val="110000"/>
              </a:lnSpc>
              <a:spcBef>
                <a:spcPts val="0"/>
              </a:spcBef>
              <a:spcAft>
                <a:spcPts val="0"/>
              </a:spcAft>
              <a:buSzPts val="1300"/>
              <a:buNone/>
            </a:pPr>
            <a:r>
              <a:t/>
            </a:r>
            <a:endParaRPr sz="2000">
              <a:solidFill>
                <a:schemeClr val="dk2"/>
              </a:solidFill>
              <a:highlight>
                <a:schemeClr val="lt1"/>
              </a:highlight>
              <a:latin typeface="Calibri"/>
              <a:ea typeface="Calibri"/>
              <a:cs typeface="Calibri"/>
              <a:sym typeface="Calibri"/>
            </a:endParaRPr>
          </a:p>
          <a:p>
            <a:pPr indent="0" lvl="0" marL="0" rtl="0" algn="l">
              <a:lnSpc>
                <a:spcPct val="110000"/>
              </a:lnSpc>
              <a:spcBef>
                <a:spcPts val="0"/>
              </a:spcBef>
              <a:spcAft>
                <a:spcPts val="0"/>
              </a:spcAft>
              <a:buSzPts val="1300"/>
              <a:buNone/>
            </a:pPr>
            <a:r>
              <a:rPr lang="pt-BR" sz="2000">
                <a:solidFill>
                  <a:schemeClr val="dk2"/>
                </a:solidFill>
                <a:highlight>
                  <a:schemeClr val="lt1"/>
                </a:highlight>
                <a:latin typeface="Calibri"/>
                <a:ea typeface="Calibri"/>
                <a:cs typeface="Calibri"/>
                <a:sym typeface="Calibri"/>
              </a:rPr>
              <a:t>Tabela:	</a:t>
            </a:r>
            <a:r>
              <a:rPr b="1" lang="pt-BR" sz="2000">
                <a:solidFill>
                  <a:schemeClr val="dk2"/>
                </a:solidFill>
                <a:highlight>
                  <a:schemeClr val="lt1"/>
                </a:highlight>
                <a:latin typeface="Calibri"/>
                <a:ea typeface="Calibri"/>
                <a:cs typeface="Calibri"/>
                <a:sym typeface="Calibri"/>
              </a:rPr>
              <a:t>Projeto</a:t>
            </a:r>
            <a:endParaRPr b="1" sz="2000">
              <a:solidFill>
                <a:schemeClr val="dk2"/>
              </a:solidFill>
              <a:highlight>
                <a:schemeClr val="lt1"/>
              </a:highlight>
              <a:latin typeface="Calibri"/>
              <a:ea typeface="Calibri"/>
              <a:cs typeface="Calibri"/>
              <a:sym typeface="Calibri"/>
            </a:endParaRPr>
          </a:p>
          <a:p>
            <a:pPr indent="0" lvl="0" marL="0" rtl="0" algn="l">
              <a:lnSpc>
                <a:spcPct val="110000"/>
              </a:lnSpc>
              <a:spcBef>
                <a:spcPts val="0"/>
              </a:spcBef>
              <a:spcAft>
                <a:spcPts val="0"/>
              </a:spcAft>
              <a:buSzPts val="1300"/>
              <a:buNone/>
            </a:pPr>
            <a:r>
              <a:rPr lang="pt-BR" sz="2000">
                <a:solidFill>
                  <a:schemeClr val="dk2"/>
                </a:solidFill>
                <a:highlight>
                  <a:schemeClr val="lt1"/>
                </a:highlight>
                <a:latin typeface="Calibri"/>
                <a:ea typeface="Calibri"/>
                <a:cs typeface="Calibri"/>
                <a:sym typeface="Calibri"/>
              </a:rPr>
              <a:t>Atributos: </a:t>
            </a:r>
            <a:r>
              <a:rPr lang="pt-BR" sz="2000" u="sng">
                <a:solidFill>
                  <a:schemeClr val="dk2"/>
                </a:solidFill>
                <a:highlight>
                  <a:schemeClr val="lt1"/>
                </a:highlight>
                <a:latin typeface="Calibri"/>
                <a:ea typeface="Calibri"/>
                <a:cs typeface="Calibri"/>
                <a:sym typeface="Calibri"/>
              </a:rPr>
              <a:t>ID do Projeto</a:t>
            </a:r>
            <a:r>
              <a:rPr lang="pt-BR" sz="2000">
                <a:solidFill>
                  <a:schemeClr val="dk2"/>
                </a:solidFill>
                <a:highlight>
                  <a:schemeClr val="lt1"/>
                </a:highlight>
                <a:latin typeface="Calibri"/>
                <a:ea typeface="Calibri"/>
                <a:cs typeface="Calibri"/>
                <a:sym typeface="Calibri"/>
              </a:rPr>
              <a:t>, Nome do Projeto, Data Início e Data Fim</a:t>
            </a:r>
            <a:endParaRPr sz="2000">
              <a:solidFill>
                <a:schemeClr val="dk2"/>
              </a:solidFill>
              <a:highlight>
                <a:schemeClr val="lt1"/>
              </a:highlight>
              <a:latin typeface="Calibri"/>
              <a:ea typeface="Calibri"/>
              <a:cs typeface="Calibri"/>
              <a:sym typeface="Calibri"/>
            </a:endParaRPr>
          </a:p>
          <a:p>
            <a:pPr indent="0" lvl="0" marL="0" rtl="0" algn="l">
              <a:lnSpc>
                <a:spcPct val="110000"/>
              </a:lnSpc>
              <a:spcBef>
                <a:spcPts val="0"/>
              </a:spcBef>
              <a:spcAft>
                <a:spcPts val="0"/>
              </a:spcAft>
              <a:buSzPts val="1300"/>
              <a:buNone/>
            </a:pPr>
            <a:r>
              <a:t/>
            </a:r>
            <a:endParaRPr sz="2000">
              <a:solidFill>
                <a:schemeClr val="dk2"/>
              </a:solidFill>
              <a:highlight>
                <a:schemeClr val="lt1"/>
              </a:highlight>
              <a:latin typeface="Calibri"/>
              <a:ea typeface="Calibri"/>
              <a:cs typeface="Calibri"/>
              <a:sym typeface="Calibri"/>
            </a:endParaRPr>
          </a:p>
          <a:p>
            <a:pPr indent="0" lvl="0" marL="0" rtl="0" algn="l">
              <a:lnSpc>
                <a:spcPct val="110000"/>
              </a:lnSpc>
              <a:spcBef>
                <a:spcPts val="0"/>
              </a:spcBef>
              <a:spcAft>
                <a:spcPts val="0"/>
              </a:spcAft>
              <a:buSzPts val="1300"/>
              <a:buNone/>
            </a:pPr>
            <a:r>
              <a:rPr lang="pt-BR" sz="2000">
                <a:solidFill>
                  <a:schemeClr val="dk2"/>
                </a:solidFill>
                <a:highlight>
                  <a:schemeClr val="lt1"/>
                </a:highlight>
                <a:latin typeface="Calibri"/>
                <a:ea typeface="Calibri"/>
                <a:cs typeface="Calibri"/>
                <a:sym typeface="Calibri"/>
              </a:rPr>
              <a:t>Tabela:	</a:t>
            </a:r>
            <a:r>
              <a:rPr b="1" lang="pt-BR" sz="2000">
                <a:solidFill>
                  <a:schemeClr val="dk2"/>
                </a:solidFill>
                <a:highlight>
                  <a:schemeClr val="lt1"/>
                </a:highlight>
                <a:latin typeface="Calibri"/>
                <a:ea typeface="Calibri"/>
                <a:cs typeface="Calibri"/>
                <a:sym typeface="Calibri"/>
              </a:rPr>
              <a:t>Tarefa</a:t>
            </a:r>
            <a:endParaRPr b="1" sz="2000">
              <a:solidFill>
                <a:schemeClr val="dk2"/>
              </a:solidFill>
              <a:highlight>
                <a:schemeClr val="lt1"/>
              </a:highlight>
              <a:latin typeface="Calibri"/>
              <a:ea typeface="Calibri"/>
              <a:cs typeface="Calibri"/>
              <a:sym typeface="Calibri"/>
            </a:endParaRPr>
          </a:p>
          <a:p>
            <a:pPr indent="0" lvl="0" marL="0" rtl="0" algn="l">
              <a:lnSpc>
                <a:spcPct val="110000"/>
              </a:lnSpc>
              <a:spcBef>
                <a:spcPts val="0"/>
              </a:spcBef>
              <a:spcAft>
                <a:spcPts val="0"/>
              </a:spcAft>
              <a:buSzPts val="1300"/>
              <a:buNone/>
            </a:pPr>
            <a:r>
              <a:rPr lang="pt-BR" sz="2000">
                <a:solidFill>
                  <a:schemeClr val="dk2"/>
                </a:solidFill>
                <a:highlight>
                  <a:schemeClr val="lt1"/>
                </a:highlight>
                <a:latin typeface="Calibri"/>
                <a:ea typeface="Calibri"/>
                <a:cs typeface="Calibri"/>
                <a:sym typeface="Calibri"/>
              </a:rPr>
              <a:t>Atributos: </a:t>
            </a:r>
            <a:r>
              <a:rPr lang="pt-BR" sz="2000" u="sng">
                <a:solidFill>
                  <a:schemeClr val="dk2"/>
                </a:solidFill>
                <a:highlight>
                  <a:schemeClr val="lt1"/>
                </a:highlight>
                <a:latin typeface="Calibri"/>
                <a:ea typeface="Calibri"/>
                <a:cs typeface="Calibri"/>
                <a:sym typeface="Calibri"/>
              </a:rPr>
              <a:t>ID da Tarefa</a:t>
            </a:r>
            <a:r>
              <a:rPr lang="pt-BR" sz="2000">
                <a:solidFill>
                  <a:schemeClr val="dk2"/>
                </a:solidFill>
                <a:highlight>
                  <a:schemeClr val="lt1"/>
                </a:highlight>
                <a:latin typeface="Calibri"/>
                <a:ea typeface="Calibri"/>
                <a:cs typeface="Calibri"/>
                <a:sym typeface="Calibri"/>
              </a:rPr>
              <a:t>, </a:t>
            </a:r>
            <a:r>
              <a:rPr b="1" lang="pt-BR" sz="2000">
                <a:solidFill>
                  <a:srgbClr val="C00000"/>
                </a:solidFill>
                <a:highlight>
                  <a:schemeClr val="lt1"/>
                </a:highlight>
                <a:latin typeface="Calibri"/>
                <a:ea typeface="Calibri"/>
                <a:cs typeface="Calibri"/>
                <a:sym typeface="Calibri"/>
              </a:rPr>
              <a:t>Funcionário</a:t>
            </a:r>
            <a:r>
              <a:rPr lang="pt-BR" sz="2000">
                <a:solidFill>
                  <a:schemeClr val="dk2"/>
                </a:solidFill>
                <a:highlight>
                  <a:schemeClr val="lt1"/>
                </a:highlight>
                <a:latin typeface="Calibri"/>
                <a:ea typeface="Calibri"/>
                <a:cs typeface="Calibri"/>
                <a:sym typeface="Calibri"/>
              </a:rPr>
              <a:t>, </a:t>
            </a:r>
            <a:r>
              <a:rPr b="1" lang="pt-BR" sz="2000">
                <a:solidFill>
                  <a:srgbClr val="C00000"/>
                </a:solidFill>
                <a:highlight>
                  <a:schemeClr val="lt1"/>
                </a:highlight>
                <a:latin typeface="Calibri"/>
                <a:ea typeface="Calibri"/>
                <a:cs typeface="Calibri"/>
                <a:sym typeface="Calibri"/>
              </a:rPr>
              <a:t>Projeto</a:t>
            </a:r>
            <a:r>
              <a:rPr lang="pt-BR" sz="2000">
                <a:solidFill>
                  <a:schemeClr val="dk2"/>
                </a:solidFill>
                <a:highlight>
                  <a:schemeClr val="lt1"/>
                </a:highlight>
                <a:latin typeface="Calibri"/>
                <a:ea typeface="Calibri"/>
                <a:cs typeface="Calibri"/>
                <a:sym typeface="Calibri"/>
              </a:rPr>
              <a:t>, Descrição da Tarefa, Horas, Status, Data Início e Data Fim</a:t>
            </a:r>
            <a:endParaRPr sz="2000">
              <a:solidFill>
                <a:schemeClr val="dk2"/>
              </a:solidFill>
              <a:highlight>
                <a:schemeClr val="lt1"/>
              </a:highlight>
              <a:latin typeface="Calibri"/>
              <a:ea typeface="Calibri"/>
              <a:cs typeface="Calibri"/>
              <a:sym typeface="Calibri"/>
            </a:endParaRPr>
          </a:p>
          <a:p>
            <a:pPr indent="0" lvl="0" marL="0" rtl="0" algn="l">
              <a:lnSpc>
                <a:spcPct val="100000"/>
              </a:lnSpc>
              <a:spcBef>
                <a:spcPts val="0"/>
              </a:spcBef>
              <a:spcAft>
                <a:spcPts val="0"/>
              </a:spcAft>
              <a:buSzPts val="1300"/>
              <a:buNone/>
            </a:pPr>
            <a:r>
              <a:t/>
            </a:r>
            <a:endParaRPr sz="2000">
              <a:solidFill>
                <a:schemeClr val="dk2"/>
              </a:solidFill>
              <a:highlight>
                <a:schemeClr val="lt1"/>
              </a:highlight>
              <a:latin typeface="Calibri"/>
              <a:ea typeface="Calibri"/>
              <a:cs typeface="Calibri"/>
              <a:sym typeface="Calibri"/>
            </a:endParaRPr>
          </a:p>
        </p:txBody>
      </p:sp>
      <p:sp>
        <p:nvSpPr>
          <p:cNvPr id="774" name="Google Shape;774;g3937d203302_0_624"/>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775" name="Google Shape;775;g3937d203302_0_624"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g3937d203302_0_631"/>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Usando uma forma mais visual...</a:t>
            </a:r>
            <a:endParaRPr b="0">
              <a:latin typeface="Impact"/>
              <a:ea typeface="Impact"/>
              <a:cs typeface="Impact"/>
              <a:sym typeface="Impact"/>
            </a:endParaRPr>
          </a:p>
        </p:txBody>
      </p:sp>
      <p:pic>
        <p:nvPicPr>
          <p:cNvPr id="781" name="Google Shape;781;g3937d203302_0_631"/>
          <p:cNvPicPr preferRelativeResize="0"/>
          <p:nvPr/>
        </p:nvPicPr>
        <p:blipFill rotWithShape="1">
          <a:blip r:embed="rId3">
            <a:alphaModFix/>
          </a:blip>
          <a:srcRect b="0" l="0" r="0" t="0"/>
          <a:stretch/>
        </p:blipFill>
        <p:spPr>
          <a:xfrm>
            <a:off x="1182933" y="1532508"/>
            <a:ext cx="2063000" cy="1237800"/>
          </a:xfrm>
          <a:prstGeom prst="rect">
            <a:avLst/>
          </a:prstGeom>
          <a:noFill/>
          <a:ln>
            <a:noFill/>
          </a:ln>
        </p:spPr>
      </p:pic>
      <p:pic>
        <p:nvPicPr>
          <p:cNvPr id="782" name="Google Shape;782;g3937d203302_0_631"/>
          <p:cNvPicPr preferRelativeResize="0"/>
          <p:nvPr/>
        </p:nvPicPr>
        <p:blipFill rotWithShape="1">
          <a:blip r:embed="rId4">
            <a:alphaModFix/>
          </a:blip>
          <a:srcRect b="0" l="0" r="0" t="0"/>
          <a:stretch/>
        </p:blipFill>
        <p:spPr>
          <a:xfrm>
            <a:off x="1182932" y="3329158"/>
            <a:ext cx="2063000" cy="1242617"/>
          </a:xfrm>
          <a:prstGeom prst="rect">
            <a:avLst/>
          </a:prstGeom>
          <a:noFill/>
          <a:ln>
            <a:noFill/>
          </a:ln>
        </p:spPr>
      </p:pic>
      <p:pic>
        <p:nvPicPr>
          <p:cNvPr id="783" name="Google Shape;783;g3937d203302_0_631"/>
          <p:cNvPicPr preferRelativeResize="0"/>
          <p:nvPr/>
        </p:nvPicPr>
        <p:blipFill rotWithShape="1">
          <a:blip r:embed="rId5">
            <a:alphaModFix/>
          </a:blip>
          <a:srcRect b="0" l="0" r="0" t="0"/>
          <a:stretch/>
        </p:blipFill>
        <p:spPr>
          <a:xfrm>
            <a:off x="5591758" y="1847633"/>
            <a:ext cx="2231700" cy="2362200"/>
          </a:xfrm>
          <a:prstGeom prst="rect">
            <a:avLst/>
          </a:prstGeom>
          <a:noFill/>
          <a:ln>
            <a:noFill/>
          </a:ln>
        </p:spPr>
      </p:pic>
      <p:cxnSp>
        <p:nvCxnSpPr>
          <p:cNvPr id="784" name="Google Shape;784;g3937d203302_0_631"/>
          <p:cNvCxnSpPr/>
          <p:nvPr/>
        </p:nvCxnSpPr>
        <p:spPr>
          <a:xfrm>
            <a:off x="3201661" y="1964454"/>
            <a:ext cx="2419500" cy="619200"/>
          </a:xfrm>
          <a:prstGeom prst="curvedConnector3">
            <a:avLst>
              <a:gd fmla="val 50000" name="adj1"/>
            </a:avLst>
          </a:prstGeom>
          <a:noFill/>
          <a:ln cap="flat" cmpd="sng" w="19050">
            <a:solidFill>
              <a:schemeClr val="dk2"/>
            </a:solidFill>
            <a:prstDash val="solid"/>
            <a:round/>
            <a:headEnd len="sm" w="sm" type="none"/>
            <a:tailEnd len="sm" w="sm" type="none"/>
          </a:ln>
        </p:spPr>
      </p:cxnSp>
      <p:cxnSp>
        <p:nvCxnSpPr>
          <p:cNvPr id="785" name="Google Shape;785;g3937d203302_0_631"/>
          <p:cNvCxnSpPr/>
          <p:nvPr/>
        </p:nvCxnSpPr>
        <p:spPr>
          <a:xfrm flipH="1" rot="10800000">
            <a:off x="3201661" y="2786754"/>
            <a:ext cx="2428800" cy="962100"/>
          </a:xfrm>
          <a:prstGeom prst="curvedConnector3">
            <a:avLst>
              <a:gd fmla="val 50000" name="adj1"/>
            </a:avLst>
          </a:prstGeom>
          <a:noFill/>
          <a:ln cap="flat" cmpd="sng" w="19050">
            <a:solidFill>
              <a:schemeClr val="dk2"/>
            </a:solidFill>
            <a:prstDash val="solid"/>
            <a:round/>
            <a:headEnd len="sm" w="sm" type="none"/>
            <a:tailEnd len="sm" w="sm" type="none"/>
          </a:ln>
        </p:spPr>
      </p:cxnSp>
      <p:sp>
        <p:nvSpPr>
          <p:cNvPr id="786" name="Google Shape;786;g3937d203302_0_631"/>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787" name="Google Shape;787;g3937d203302_0_631" title="SENAI_São_Paulo_logo.png"/>
          <p:cNvPicPr preferRelativeResize="0"/>
          <p:nvPr/>
        </p:nvPicPr>
        <p:blipFill rotWithShape="1">
          <a:blip r:embed="rId6">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g3937d203302_0_642"/>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Exercício</a:t>
            </a:r>
            <a:endParaRPr b="0">
              <a:latin typeface="Impact"/>
              <a:ea typeface="Impact"/>
              <a:cs typeface="Impact"/>
              <a:sym typeface="Impact"/>
            </a:endParaRPr>
          </a:p>
        </p:txBody>
      </p:sp>
      <p:sp>
        <p:nvSpPr>
          <p:cNvPr id="793" name="Google Shape;793;g3937d203302_0_642"/>
          <p:cNvSpPr txBox="1"/>
          <p:nvPr>
            <p:ph idx="1" type="body"/>
          </p:nvPr>
        </p:nvSpPr>
        <p:spPr>
          <a:xfrm>
            <a:off x="372611" y="1303532"/>
            <a:ext cx="5225400" cy="367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pt-BR" sz="1200">
                <a:solidFill>
                  <a:schemeClr val="dk2"/>
                </a:solidFill>
                <a:highlight>
                  <a:srgbClr val="FFFFFF"/>
                </a:highlight>
                <a:latin typeface="Calibri"/>
                <a:ea typeface="Calibri"/>
                <a:cs typeface="Calibri"/>
                <a:sym typeface="Calibri"/>
              </a:rPr>
              <a:t>Funcionário: 	</a:t>
            </a:r>
            <a:r>
              <a:rPr lang="pt-BR" sz="1200" u="sng">
                <a:solidFill>
                  <a:schemeClr val="dk2"/>
                </a:solidFill>
                <a:highlight>
                  <a:schemeClr val="lt1"/>
                </a:highlight>
                <a:latin typeface="Calibri"/>
                <a:ea typeface="Calibri"/>
                <a:cs typeface="Calibri"/>
                <a:sym typeface="Calibri"/>
              </a:rPr>
              <a:t>ID do Funcionário</a:t>
            </a:r>
            <a:r>
              <a:rPr lang="pt-BR" sz="1200">
                <a:solidFill>
                  <a:schemeClr val="dk2"/>
                </a:solidFill>
                <a:highlight>
                  <a:schemeClr val="lt1"/>
                </a:highlight>
                <a:latin typeface="Calibri"/>
                <a:ea typeface="Calibri"/>
                <a:cs typeface="Calibri"/>
                <a:sym typeface="Calibri"/>
              </a:rPr>
              <a:t>, Nome do Funcionário, Cargo e Departamento</a:t>
            </a:r>
            <a:endParaRPr sz="1200">
              <a:solidFill>
                <a:schemeClr val="dk2"/>
              </a:solidFill>
              <a:highlight>
                <a:schemeClr val="lt1"/>
              </a:highlight>
              <a:latin typeface="Calibri"/>
              <a:ea typeface="Calibri"/>
              <a:cs typeface="Calibri"/>
              <a:sym typeface="Calibri"/>
            </a:endParaRPr>
          </a:p>
          <a:p>
            <a:pPr indent="457200" lvl="0" marL="457200" rtl="0" algn="l">
              <a:lnSpc>
                <a:spcPct val="100000"/>
              </a:lnSpc>
              <a:spcBef>
                <a:spcPts val="500"/>
              </a:spcBef>
              <a:spcAft>
                <a:spcPts val="0"/>
              </a:spcAft>
              <a:buSzPts val="1300"/>
              <a:buNone/>
            </a:pPr>
            <a:r>
              <a:rPr lang="pt-BR" sz="1200">
                <a:solidFill>
                  <a:schemeClr val="dk2"/>
                </a:solidFill>
                <a:highlight>
                  <a:srgbClr val="FFFFFF"/>
                </a:highlight>
                <a:latin typeface="Calibri"/>
                <a:ea typeface="Calibri"/>
                <a:cs typeface="Calibri"/>
                <a:sym typeface="Calibri"/>
              </a:rPr>
              <a:t>27, João, Engenheiro, TI</a:t>
            </a:r>
            <a:endParaRPr sz="1200">
              <a:solidFill>
                <a:schemeClr val="dk2"/>
              </a:solidFill>
              <a:highlight>
                <a:srgbClr val="FFFFFF"/>
              </a:highlight>
              <a:latin typeface="Calibri"/>
              <a:ea typeface="Calibri"/>
              <a:cs typeface="Calibri"/>
              <a:sym typeface="Calibri"/>
            </a:endParaRPr>
          </a:p>
          <a:p>
            <a:pPr indent="457200" lvl="0" marL="457200" rtl="0" algn="l">
              <a:lnSpc>
                <a:spcPct val="100000"/>
              </a:lnSpc>
              <a:spcBef>
                <a:spcPts val="500"/>
              </a:spcBef>
              <a:spcAft>
                <a:spcPts val="0"/>
              </a:spcAft>
              <a:buSzPts val="1300"/>
              <a:buNone/>
            </a:pPr>
            <a:r>
              <a:rPr lang="pt-BR" sz="1200">
                <a:solidFill>
                  <a:schemeClr val="dk2"/>
                </a:solidFill>
                <a:highlight>
                  <a:srgbClr val="FFFFFF"/>
                </a:highlight>
                <a:latin typeface="Calibri"/>
                <a:ea typeface="Calibri"/>
                <a:cs typeface="Calibri"/>
                <a:sym typeface="Calibri"/>
              </a:rPr>
              <a:t>52, Enzo, Analista de Dados, TI</a:t>
            </a:r>
            <a:endParaRPr sz="1200">
              <a:solidFill>
                <a:schemeClr val="dk2"/>
              </a:solidFill>
              <a:highlight>
                <a:srgbClr val="FFFFFF"/>
              </a:highlight>
              <a:latin typeface="Calibri"/>
              <a:ea typeface="Calibri"/>
              <a:cs typeface="Calibri"/>
              <a:sym typeface="Calibri"/>
            </a:endParaRPr>
          </a:p>
          <a:p>
            <a:pPr indent="0" lvl="0" marL="0" rtl="0" algn="l">
              <a:lnSpc>
                <a:spcPct val="100000"/>
              </a:lnSpc>
              <a:spcBef>
                <a:spcPts val="500"/>
              </a:spcBef>
              <a:spcAft>
                <a:spcPts val="0"/>
              </a:spcAft>
              <a:buSzPts val="1300"/>
              <a:buNone/>
            </a:pPr>
            <a:r>
              <a:rPr lang="pt-BR" sz="1200">
                <a:solidFill>
                  <a:schemeClr val="dk2"/>
                </a:solidFill>
                <a:highlight>
                  <a:srgbClr val="FFFFFF"/>
                </a:highlight>
                <a:latin typeface="Calibri"/>
                <a:ea typeface="Calibri"/>
                <a:cs typeface="Calibri"/>
                <a:sym typeface="Calibri"/>
              </a:rPr>
              <a:t>Projeto: 	</a:t>
            </a:r>
            <a:r>
              <a:rPr lang="pt-BR" sz="1200" u="sng">
                <a:solidFill>
                  <a:schemeClr val="dk2"/>
                </a:solidFill>
                <a:highlight>
                  <a:schemeClr val="lt1"/>
                </a:highlight>
                <a:latin typeface="Calibri"/>
                <a:ea typeface="Calibri"/>
                <a:cs typeface="Calibri"/>
                <a:sym typeface="Calibri"/>
              </a:rPr>
              <a:t>ID do Projeto</a:t>
            </a:r>
            <a:r>
              <a:rPr lang="pt-BR" sz="1200">
                <a:solidFill>
                  <a:schemeClr val="dk2"/>
                </a:solidFill>
                <a:highlight>
                  <a:schemeClr val="lt1"/>
                </a:highlight>
                <a:latin typeface="Calibri"/>
                <a:ea typeface="Calibri"/>
                <a:cs typeface="Calibri"/>
                <a:sym typeface="Calibri"/>
              </a:rPr>
              <a:t>, Nome do Projeto, Data Início e Data Fim</a:t>
            </a:r>
            <a:endParaRPr sz="1200">
              <a:solidFill>
                <a:schemeClr val="dk2"/>
              </a:solidFill>
              <a:highlight>
                <a:srgbClr val="FFFFFF"/>
              </a:highlight>
              <a:latin typeface="Calibri"/>
              <a:ea typeface="Calibri"/>
              <a:cs typeface="Calibri"/>
              <a:sym typeface="Calibri"/>
            </a:endParaRPr>
          </a:p>
          <a:p>
            <a:pPr indent="457200" lvl="0" marL="457200" rtl="0" algn="l">
              <a:lnSpc>
                <a:spcPct val="100000"/>
              </a:lnSpc>
              <a:spcBef>
                <a:spcPts val="500"/>
              </a:spcBef>
              <a:spcAft>
                <a:spcPts val="0"/>
              </a:spcAft>
              <a:buSzPts val="1300"/>
              <a:buNone/>
            </a:pPr>
            <a:r>
              <a:rPr lang="pt-BR" sz="1200">
                <a:solidFill>
                  <a:schemeClr val="dk2"/>
                </a:solidFill>
                <a:highlight>
                  <a:srgbClr val="FFFFFF"/>
                </a:highlight>
                <a:latin typeface="Calibri"/>
                <a:ea typeface="Calibri"/>
                <a:cs typeface="Calibri"/>
                <a:sym typeface="Calibri"/>
              </a:rPr>
              <a:t>13, Computação em Nuvem, 01/06/2023 e 31/12/2023</a:t>
            </a:r>
            <a:endParaRPr sz="1200">
              <a:solidFill>
                <a:schemeClr val="dk2"/>
              </a:solidFill>
              <a:highlight>
                <a:srgbClr val="FFFFFF"/>
              </a:highlight>
              <a:latin typeface="Calibri"/>
              <a:ea typeface="Calibri"/>
              <a:cs typeface="Calibri"/>
              <a:sym typeface="Calibri"/>
            </a:endParaRPr>
          </a:p>
          <a:p>
            <a:pPr indent="457200" lvl="0" marL="457200" rtl="0" algn="l">
              <a:lnSpc>
                <a:spcPct val="100000"/>
              </a:lnSpc>
              <a:spcBef>
                <a:spcPts val="500"/>
              </a:spcBef>
              <a:spcAft>
                <a:spcPts val="0"/>
              </a:spcAft>
              <a:buSzPts val="1300"/>
              <a:buNone/>
            </a:pPr>
            <a:r>
              <a:rPr lang="pt-BR" sz="1200">
                <a:solidFill>
                  <a:schemeClr val="dk2"/>
                </a:solidFill>
                <a:highlight>
                  <a:srgbClr val="FFFFFF"/>
                </a:highlight>
                <a:latin typeface="Calibri"/>
                <a:ea typeface="Calibri"/>
                <a:cs typeface="Calibri"/>
                <a:sym typeface="Calibri"/>
              </a:rPr>
              <a:t>22, IA, 01/06/2023 e 25/10/2024</a:t>
            </a:r>
            <a:endParaRPr sz="1200" u="sng">
              <a:solidFill>
                <a:schemeClr val="dk2"/>
              </a:solidFill>
              <a:highlight>
                <a:schemeClr val="lt1"/>
              </a:highlight>
              <a:latin typeface="Calibri"/>
              <a:ea typeface="Calibri"/>
              <a:cs typeface="Calibri"/>
              <a:sym typeface="Calibri"/>
            </a:endParaRPr>
          </a:p>
          <a:p>
            <a:pPr indent="-900112" lvl="0" marL="900112" rtl="0" algn="l">
              <a:lnSpc>
                <a:spcPct val="100000"/>
              </a:lnSpc>
              <a:spcBef>
                <a:spcPts val="500"/>
              </a:spcBef>
              <a:spcAft>
                <a:spcPts val="0"/>
              </a:spcAft>
              <a:buSzPts val="1300"/>
              <a:buNone/>
            </a:pPr>
            <a:r>
              <a:rPr lang="pt-BR" sz="1200">
                <a:solidFill>
                  <a:schemeClr val="dk2"/>
                </a:solidFill>
                <a:highlight>
                  <a:schemeClr val="lt1"/>
                </a:highlight>
                <a:latin typeface="Calibri"/>
                <a:ea typeface="Calibri"/>
                <a:cs typeface="Calibri"/>
                <a:sym typeface="Calibri"/>
              </a:rPr>
              <a:t>Tarefa: 	</a:t>
            </a:r>
            <a:r>
              <a:rPr lang="pt-BR" sz="1200" u="sng">
                <a:solidFill>
                  <a:schemeClr val="dk2"/>
                </a:solidFill>
                <a:highlight>
                  <a:schemeClr val="lt1"/>
                </a:highlight>
                <a:latin typeface="Calibri"/>
                <a:ea typeface="Calibri"/>
                <a:cs typeface="Calibri"/>
                <a:sym typeface="Calibri"/>
              </a:rPr>
              <a:t>ID da Tarefa</a:t>
            </a:r>
            <a:r>
              <a:rPr lang="pt-BR" sz="1200">
                <a:solidFill>
                  <a:schemeClr val="dk2"/>
                </a:solidFill>
                <a:highlight>
                  <a:schemeClr val="lt1"/>
                </a:highlight>
                <a:latin typeface="Calibri"/>
                <a:ea typeface="Calibri"/>
                <a:cs typeface="Calibri"/>
                <a:sym typeface="Calibri"/>
              </a:rPr>
              <a:t>, </a:t>
            </a:r>
            <a:r>
              <a:rPr b="1" lang="pt-BR" sz="1200">
                <a:solidFill>
                  <a:schemeClr val="dk2"/>
                </a:solidFill>
                <a:highlight>
                  <a:schemeClr val="lt1"/>
                </a:highlight>
                <a:latin typeface="Calibri"/>
                <a:ea typeface="Calibri"/>
                <a:cs typeface="Calibri"/>
                <a:sym typeface="Calibri"/>
              </a:rPr>
              <a:t>ID do Funcionário</a:t>
            </a:r>
            <a:r>
              <a:rPr lang="pt-BR" sz="1200">
                <a:solidFill>
                  <a:schemeClr val="dk2"/>
                </a:solidFill>
                <a:highlight>
                  <a:schemeClr val="lt1"/>
                </a:highlight>
                <a:latin typeface="Calibri"/>
                <a:ea typeface="Calibri"/>
                <a:cs typeface="Calibri"/>
                <a:sym typeface="Calibri"/>
              </a:rPr>
              <a:t>, </a:t>
            </a:r>
            <a:r>
              <a:rPr b="1" lang="pt-BR" sz="1200">
                <a:solidFill>
                  <a:schemeClr val="dk2"/>
                </a:solidFill>
                <a:highlight>
                  <a:schemeClr val="lt1"/>
                </a:highlight>
                <a:latin typeface="Calibri"/>
                <a:ea typeface="Calibri"/>
                <a:cs typeface="Calibri"/>
                <a:sym typeface="Calibri"/>
              </a:rPr>
              <a:t>ID do Projeto</a:t>
            </a:r>
            <a:r>
              <a:rPr lang="pt-BR" sz="1200">
                <a:solidFill>
                  <a:schemeClr val="dk2"/>
                </a:solidFill>
                <a:highlight>
                  <a:schemeClr val="lt1"/>
                </a:highlight>
                <a:latin typeface="Calibri"/>
                <a:ea typeface="Calibri"/>
                <a:cs typeface="Calibri"/>
                <a:sym typeface="Calibri"/>
              </a:rPr>
              <a:t>, Descrição da Tarefa, Horas, Status, Data Início e Data Fim</a:t>
            </a:r>
            <a:endParaRPr sz="1200">
              <a:solidFill>
                <a:schemeClr val="dk2"/>
              </a:solidFill>
              <a:highlight>
                <a:schemeClr val="lt1"/>
              </a:highlight>
              <a:latin typeface="Calibri"/>
              <a:ea typeface="Calibri"/>
              <a:cs typeface="Calibri"/>
              <a:sym typeface="Calibri"/>
            </a:endParaRPr>
          </a:p>
          <a:p>
            <a:pPr indent="457200" lvl="0" marL="457200" rtl="0" algn="l">
              <a:lnSpc>
                <a:spcPct val="100000"/>
              </a:lnSpc>
              <a:spcBef>
                <a:spcPts val="500"/>
              </a:spcBef>
              <a:spcAft>
                <a:spcPts val="0"/>
              </a:spcAft>
              <a:buSzPts val="1300"/>
              <a:buNone/>
            </a:pPr>
            <a:r>
              <a:rPr lang="pt-BR" sz="1200">
                <a:solidFill>
                  <a:schemeClr val="dk2"/>
                </a:solidFill>
                <a:highlight>
                  <a:schemeClr val="lt1"/>
                </a:highlight>
                <a:latin typeface="Calibri"/>
                <a:ea typeface="Calibri"/>
                <a:cs typeface="Calibri"/>
                <a:sym typeface="Calibri"/>
              </a:rPr>
              <a:t>1, 27, 13, Criar plano…, 27, S, 01/07/2023, 15/07/2023</a:t>
            </a:r>
            <a:endParaRPr sz="1200">
              <a:solidFill>
                <a:schemeClr val="dk2"/>
              </a:solidFill>
              <a:highlight>
                <a:schemeClr val="lt1"/>
              </a:highlight>
              <a:latin typeface="Calibri"/>
              <a:ea typeface="Calibri"/>
              <a:cs typeface="Calibri"/>
              <a:sym typeface="Calibri"/>
            </a:endParaRPr>
          </a:p>
          <a:p>
            <a:pPr indent="457200" lvl="0" marL="457200" rtl="0" algn="l">
              <a:lnSpc>
                <a:spcPct val="100000"/>
              </a:lnSpc>
              <a:spcBef>
                <a:spcPts val="500"/>
              </a:spcBef>
              <a:spcAft>
                <a:spcPts val="0"/>
              </a:spcAft>
              <a:buSzPts val="1300"/>
              <a:buNone/>
            </a:pPr>
            <a:r>
              <a:rPr lang="pt-BR" sz="1200">
                <a:solidFill>
                  <a:schemeClr val="dk2"/>
                </a:solidFill>
                <a:highlight>
                  <a:schemeClr val="lt1"/>
                </a:highlight>
                <a:latin typeface="Calibri"/>
                <a:ea typeface="Calibri"/>
                <a:cs typeface="Calibri"/>
                <a:sym typeface="Calibri"/>
              </a:rPr>
              <a:t>2, 52, 13, Levantar os requisitos…, 3, S, 21/06/2023, 24/06/2023</a:t>
            </a:r>
            <a:endParaRPr sz="1200">
              <a:solidFill>
                <a:schemeClr val="dk2"/>
              </a:solidFill>
              <a:highlight>
                <a:schemeClr val="lt1"/>
              </a:highlight>
              <a:latin typeface="Calibri"/>
              <a:ea typeface="Calibri"/>
              <a:cs typeface="Calibri"/>
              <a:sym typeface="Calibri"/>
            </a:endParaRPr>
          </a:p>
          <a:p>
            <a:pPr indent="0" lvl="0" marL="0" rtl="0" algn="l">
              <a:lnSpc>
                <a:spcPct val="100000"/>
              </a:lnSpc>
              <a:spcBef>
                <a:spcPts val="500"/>
              </a:spcBef>
              <a:spcAft>
                <a:spcPts val="0"/>
              </a:spcAft>
              <a:buSzPts val="1300"/>
              <a:buNone/>
            </a:pPr>
            <a:r>
              <a:rPr lang="pt-BR" sz="1200">
                <a:solidFill>
                  <a:schemeClr val="dk2"/>
                </a:solidFill>
                <a:highlight>
                  <a:schemeClr val="lt1"/>
                </a:highlight>
                <a:latin typeface="Calibri"/>
                <a:ea typeface="Calibri"/>
                <a:cs typeface="Calibri"/>
                <a:sym typeface="Calibri"/>
              </a:rPr>
              <a:t>		3, 52, 22, Levantar os requisitos…, 0, N, 24/06/2023, 26/06/2023</a:t>
            </a:r>
            <a:endParaRPr sz="1200">
              <a:solidFill>
                <a:schemeClr val="dk2"/>
              </a:solidFill>
              <a:highlight>
                <a:schemeClr val="lt1"/>
              </a:highlight>
              <a:latin typeface="Calibri"/>
              <a:ea typeface="Calibri"/>
              <a:cs typeface="Calibri"/>
              <a:sym typeface="Calibri"/>
            </a:endParaRPr>
          </a:p>
          <a:p>
            <a:pPr indent="457200" lvl="0" marL="914400" rtl="0" algn="l">
              <a:lnSpc>
                <a:spcPct val="200000"/>
              </a:lnSpc>
              <a:spcBef>
                <a:spcPts val="0"/>
              </a:spcBef>
              <a:spcAft>
                <a:spcPts val="0"/>
              </a:spcAft>
              <a:buSzPts val="1300"/>
              <a:buNone/>
            </a:pPr>
            <a:r>
              <a:t/>
            </a:r>
            <a:endParaRPr sz="1200">
              <a:solidFill>
                <a:schemeClr val="dk2"/>
              </a:solidFill>
              <a:highlight>
                <a:schemeClr val="lt1"/>
              </a:highlight>
              <a:latin typeface="Calibri"/>
              <a:ea typeface="Calibri"/>
              <a:cs typeface="Calibri"/>
              <a:sym typeface="Calibri"/>
            </a:endParaRPr>
          </a:p>
        </p:txBody>
      </p:sp>
      <p:sp>
        <p:nvSpPr>
          <p:cNvPr id="794" name="Google Shape;794;g3937d203302_0_642"/>
          <p:cNvSpPr txBox="1"/>
          <p:nvPr/>
        </p:nvSpPr>
        <p:spPr>
          <a:xfrm>
            <a:off x="5727680" y="1604767"/>
            <a:ext cx="3118500" cy="2311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chemeClr val="dk2"/>
                </a:solidFill>
                <a:highlight>
                  <a:schemeClr val="lt1"/>
                </a:highlight>
                <a:latin typeface="Calibri"/>
                <a:ea typeface="Calibri"/>
                <a:cs typeface="Calibri"/>
                <a:sym typeface="Calibri"/>
              </a:rPr>
              <a:t>1 - Qual projeto o funcionário João está vinculado?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500"/>
              </a:spcBef>
              <a:spcAft>
                <a:spcPts val="0"/>
              </a:spcAft>
              <a:buClr>
                <a:srgbClr val="000000"/>
              </a:buClr>
              <a:buSzPts val="2000"/>
              <a:buFont typeface="Arial"/>
              <a:buNone/>
            </a:pPr>
            <a:r>
              <a:t/>
            </a:r>
            <a:endParaRPr b="1" i="0" sz="2000" u="none" cap="none" strike="noStrike">
              <a:solidFill>
                <a:schemeClr val="dk2"/>
              </a:solidFill>
              <a:highlight>
                <a:schemeClr val="lt1"/>
              </a:highlight>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000"/>
              <a:buFont typeface="Arial"/>
              <a:buNone/>
            </a:pPr>
            <a:r>
              <a:rPr b="1" i="0" lang="pt-BR" sz="2000" u="none" cap="none" strike="noStrike">
                <a:solidFill>
                  <a:schemeClr val="dk2"/>
                </a:solidFill>
                <a:highlight>
                  <a:schemeClr val="lt1"/>
                </a:highlight>
                <a:latin typeface="Calibri"/>
                <a:ea typeface="Calibri"/>
                <a:cs typeface="Calibri"/>
                <a:sym typeface="Calibri"/>
              </a:rPr>
              <a:t>2 - Existe alguma tarefa para o projeto IA? Qual ID da Tarefa?</a:t>
            </a:r>
            <a:endParaRPr b="0" i="0" sz="1400" u="none" cap="none" strike="noStrike">
              <a:solidFill>
                <a:srgbClr val="000000"/>
              </a:solidFill>
              <a:latin typeface="Arial"/>
              <a:ea typeface="Arial"/>
              <a:cs typeface="Arial"/>
              <a:sym typeface="Arial"/>
            </a:endParaRPr>
          </a:p>
        </p:txBody>
      </p:sp>
      <p:sp>
        <p:nvSpPr>
          <p:cNvPr id="795" name="Google Shape;795;g3937d203302_0_642"/>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796" name="Google Shape;796;g3937d203302_0_642"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g3937d203302_0_650"/>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Power Pivot e Power View</a:t>
            </a:r>
            <a:endParaRPr b="0">
              <a:latin typeface="Impact"/>
              <a:ea typeface="Impact"/>
              <a:cs typeface="Impact"/>
              <a:sym typeface="Impact"/>
            </a:endParaRPr>
          </a:p>
        </p:txBody>
      </p:sp>
      <p:sp>
        <p:nvSpPr>
          <p:cNvPr id="802" name="Google Shape;802;g3937d203302_0_650"/>
          <p:cNvSpPr txBox="1"/>
          <p:nvPr>
            <p:ph idx="1" type="body"/>
          </p:nvPr>
        </p:nvSpPr>
        <p:spPr>
          <a:xfrm>
            <a:off x="372611" y="1303532"/>
            <a:ext cx="5225400" cy="3676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pt-BR" sz="2000">
                <a:solidFill>
                  <a:schemeClr val="dk2"/>
                </a:solidFill>
                <a:latin typeface="Calibri"/>
                <a:ea typeface="Calibri"/>
                <a:cs typeface="Calibri"/>
                <a:sym typeface="Calibri"/>
              </a:rPr>
              <a:t>O </a:t>
            </a:r>
            <a:r>
              <a:rPr b="1" lang="pt-BR" sz="2000">
                <a:solidFill>
                  <a:schemeClr val="dk2"/>
                </a:solidFill>
                <a:latin typeface="Calibri"/>
                <a:ea typeface="Calibri"/>
                <a:cs typeface="Calibri"/>
                <a:sym typeface="Calibri"/>
              </a:rPr>
              <a:t>Power Pivot </a:t>
            </a:r>
            <a:r>
              <a:rPr lang="pt-BR" sz="2000">
                <a:solidFill>
                  <a:schemeClr val="dk2"/>
                </a:solidFill>
                <a:latin typeface="Calibri"/>
                <a:ea typeface="Calibri"/>
                <a:cs typeface="Calibri"/>
                <a:sym typeface="Calibri"/>
              </a:rPr>
              <a:t>deve ser usado no Power BI ou no Excel quando há necessidade de manipular e analisar grandes volumes de dados de diferentes fontes, permitindo criar relações e cálculos complexos.</a:t>
            </a:r>
            <a:endParaRPr/>
          </a:p>
          <a:p>
            <a:pPr indent="0" lvl="0" marL="0" rtl="0" algn="l">
              <a:lnSpc>
                <a:spcPct val="100000"/>
              </a:lnSpc>
              <a:spcBef>
                <a:spcPts val="0"/>
              </a:spcBef>
              <a:spcAft>
                <a:spcPts val="0"/>
              </a:spcAft>
              <a:buSzPts val="1300"/>
              <a:buNone/>
            </a:pPr>
            <a:r>
              <a:t/>
            </a:r>
            <a:endParaRPr sz="2000">
              <a:solidFill>
                <a:schemeClr val="dk2"/>
              </a:solidFill>
              <a:latin typeface="Calibri"/>
              <a:ea typeface="Calibri"/>
              <a:cs typeface="Calibri"/>
              <a:sym typeface="Calibri"/>
            </a:endParaRPr>
          </a:p>
          <a:p>
            <a:pPr indent="0" lvl="0" marL="0" rtl="0" algn="l">
              <a:lnSpc>
                <a:spcPct val="100000"/>
              </a:lnSpc>
              <a:spcBef>
                <a:spcPts val="0"/>
              </a:spcBef>
              <a:spcAft>
                <a:spcPts val="0"/>
              </a:spcAft>
              <a:buSzPts val="1300"/>
              <a:buNone/>
            </a:pPr>
            <a:r>
              <a:t/>
            </a:r>
            <a:endParaRPr sz="2000">
              <a:solidFill>
                <a:schemeClr val="dk2"/>
              </a:solidFill>
              <a:latin typeface="Calibri"/>
              <a:ea typeface="Calibri"/>
              <a:cs typeface="Calibri"/>
              <a:sym typeface="Calibri"/>
            </a:endParaRPr>
          </a:p>
          <a:p>
            <a:pPr indent="0" lvl="0" marL="0" rtl="0" algn="l">
              <a:lnSpc>
                <a:spcPct val="100000"/>
              </a:lnSpc>
              <a:spcBef>
                <a:spcPts val="0"/>
              </a:spcBef>
              <a:spcAft>
                <a:spcPts val="0"/>
              </a:spcAft>
              <a:buSzPts val="1300"/>
              <a:buNone/>
            </a:pPr>
            <a:r>
              <a:rPr lang="pt-BR" sz="2000">
                <a:solidFill>
                  <a:schemeClr val="dk2"/>
                </a:solidFill>
                <a:latin typeface="Calibri"/>
                <a:ea typeface="Calibri"/>
                <a:cs typeface="Calibri"/>
                <a:sym typeface="Calibri"/>
              </a:rPr>
              <a:t>O </a:t>
            </a:r>
            <a:r>
              <a:rPr b="1" lang="pt-BR" sz="2000">
                <a:solidFill>
                  <a:schemeClr val="dk2"/>
                </a:solidFill>
                <a:latin typeface="Calibri"/>
                <a:ea typeface="Calibri"/>
                <a:cs typeface="Calibri"/>
                <a:sym typeface="Calibri"/>
              </a:rPr>
              <a:t>Power View </a:t>
            </a:r>
            <a:r>
              <a:rPr lang="pt-BR" sz="2000">
                <a:solidFill>
                  <a:schemeClr val="dk2"/>
                </a:solidFill>
                <a:latin typeface="Calibri"/>
                <a:ea typeface="Calibri"/>
                <a:cs typeface="Calibri"/>
                <a:sym typeface="Calibri"/>
              </a:rPr>
              <a:t>deve ser usado no Power BI ou no Excel quando se deseja criar visualizações interativas e dinâmicas com facilidade</a:t>
            </a:r>
            <a:endParaRPr sz="2000">
              <a:solidFill>
                <a:schemeClr val="dk2"/>
              </a:solidFill>
              <a:highlight>
                <a:schemeClr val="lt1"/>
              </a:highlight>
              <a:latin typeface="Calibri"/>
              <a:ea typeface="Calibri"/>
              <a:cs typeface="Calibri"/>
              <a:sym typeface="Calibri"/>
            </a:endParaRPr>
          </a:p>
        </p:txBody>
      </p:sp>
      <p:pic>
        <p:nvPicPr>
          <p:cNvPr id="803" name="Google Shape;803;g3937d203302_0_650" title="Power Pivot - A Evolução da Tabela Dinâmica no Excel"/>
          <p:cNvPicPr preferRelativeResize="0"/>
          <p:nvPr/>
        </p:nvPicPr>
        <p:blipFill rotWithShape="1">
          <a:blip r:embed="rId3">
            <a:alphaModFix/>
          </a:blip>
          <a:srcRect b="0" l="0" r="0" t="0"/>
          <a:stretch/>
        </p:blipFill>
        <p:spPr>
          <a:xfrm>
            <a:off x="6016993" y="1393283"/>
            <a:ext cx="2540000" cy="1435100"/>
          </a:xfrm>
          <a:prstGeom prst="rect">
            <a:avLst/>
          </a:prstGeom>
          <a:noFill/>
          <a:ln>
            <a:noFill/>
          </a:ln>
        </p:spPr>
      </p:pic>
      <p:pic>
        <p:nvPicPr>
          <p:cNvPr id="804" name="Google Shape;804;g3937d203302_0_650" title="Getting Started with Power View in Excel 2013"/>
          <p:cNvPicPr preferRelativeResize="0"/>
          <p:nvPr/>
        </p:nvPicPr>
        <p:blipFill rotWithShape="1">
          <a:blip r:embed="rId4">
            <a:alphaModFix/>
          </a:blip>
          <a:srcRect b="0" l="0" r="0" t="0"/>
          <a:stretch/>
        </p:blipFill>
        <p:spPr>
          <a:xfrm>
            <a:off x="6016993" y="3207215"/>
            <a:ext cx="2540000" cy="1435100"/>
          </a:xfrm>
          <a:prstGeom prst="rect">
            <a:avLst/>
          </a:prstGeom>
          <a:noFill/>
          <a:ln>
            <a:noFill/>
          </a:ln>
        </p:spPr>
      </p:pic>
      <p:sp>
        <p:nvSpPr>
          <p:cNvPr id="805" name="Google Shape;805;g3937d203302_0_650"/>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806" name="Google Shape;806;g3937d203302_0_650" title="SENAI_São_Paulo_logo.png"/>
          <p:cNvPicPr preferRelativeResize="0"/>
          <p:nvPr/>
        </p:nvPicPr>
        <p:blipFill rotWithShape="1">
          <a:blip r:embed="rId5">
            <a:alphaModFix/>
          </a:blip>
          <a:srcRect b="0" l="0" r="0" t="0"/>
          <a:stretch/>
        </p:blipFill>
        <p:spPr>
          <a:xfrm>
            <a:off x="7629275" y="63340"/>
            <a:ext cx="1439427" cy="3689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1"/>
                                        <p:tgtEl>
                                          <p:spTgt spid="8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4"/>
                                        </p:tgtEl>
                                        <p:attrNameLst>
                                          <p:attrName>style.visibility</p:attrName>
                                        </p:attrNameLst>
                                      </p:cBhvr>
                                      <p:to>
                                        <p:strVal val="visible"/>
                                      </p:to>
                                    </p:set>
                                    <p:animEffect filter="fade" transition="in">
                                      <p:cBhvr>
                                        <p:cTn dur="1"/>
                                        <p:tgtEl>
                                          <p:spTgt spid="8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g3937d203302_0_659"/>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Material complementar</a:t>
            </a:r>
            <a:endParaRPr b="0">
              <a:latin typeface="Impact"/>
              <a:ea typeface="Impact"/>
              <a:cs typeface="Impact"/>
              <a:sym typeface="Impact"/>
            </a:endParaRPr>
          </a:p>
        </p:txBody>
      </p:sp>
      <p:pic>
        <p:nvPicPr>
          <p:cNvPr id="812" name="Google Shape;812;g3937d203302_0_659" title="Power Query x Power Pivot - Quando Usar Cada um no Excel?"/>
          <p:cNvPicPr preferRelativeResize="0"/>
          <p:nvPr/>
        </p:nvPicPr>
        <p:blipFill rotWithShape="1">
          <a:blip r:embed="rId3">
            <a:alphaModFix/>
          </a:blip>
          <a:srcRect b="0" l="0" r="0" t="0"/>
          <a:stretch/>
        </p:blipFill>
        <p:spPr>
          <a:xfrm>
            <a:off x="5062111" y="1318400"/>
            <a:ext cx="3137752" cy="1772830"/>
          </a:xfrm>
          <a:prstGeom prst="rect">
            <a:avLst/>
          </a:prstGeom>
          <a:noFill/>
          <a:ln>
            <a:noFill/>
          </a:ln>
        </p:spPr>
      </p:pic>
      <p:pic>
        <p:nvPicPr>
          <p:cNvPr id="813" name="Google Shape;813;g3937d203302_0_659" title="[Power BI] Power Query vs Power Pivot vs Power View"/>
          <p:cNvPicPr preferRelativeResize="0"/>
          <p:nvPr/>
        </p:nvPicPr>
        <p:blipFill rotWithShape="1">
          <a:blip r:embed="rId4">
            <a:alphaModFix/>
          </a:blip>
          <a:srcRect b="0" l="0" r="0" t="0"/>
          <a:stretch/>
        </p:blipFill>
        <p:spPr>
          <a:xfrm>
            <a:off x="5062111" y="3156500"/>
            <a:ext cx="3137752" cy="1772830"/>
          </a:xfrm>
          <a:prstGeom prst="rect">
            <a:avLst/>
          </a:prstGeom>
          <a:noFill/>
          <a:ln>
            <a:noFill/>
          </a:ln>
        </p:spPr>
      </p:pic>
      <p:sp>
        <p:nvSpPr>
          <p:cNvPr id="814" name="Google Shape;814;g3937d203302_0_659"/>
          <p:cNvSpPr txBox="1"/>
          <p:nvPr/>
        </p:nvSpPr>
        <p:spPr>
          <a:xfrm>
            <a:off x="729450" y="1906249"/>
            <a:ext cx="4117500" cy="45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300"/>
              <a:buFont typeface="Lato"/>
              <a:buNone/>
            </a:pPr>
            <a:r>
              <a:rPr b="1" i="0" lang="pt-BR" sz="1800" u="none" cap="none" strike="noStrike">
                <a:solidFill>
                  <a:srgbClr val="000000"/>
                </a:solidFill>
                <a:highlight>
                  <a:srgbClr val="FFFFFF"/>
                </a:highlight>
                <a:latin typeface="Calibri"/>
                <a:ea typeface="Calibri"/>
                <a:cs typeface="Calibri"/>
                <a:sym typeface="Calibri"/>
              </a:rPr>
              <a:t>Quando usar Power Pivot e Power Query</a:t>
            </a:r>
            <a:endParaRPr b="1" i="0" sz="1800" u="none" cap="none" strike="noStrike">
              <a:solidFill>
                <a:srgbClr val="374151"/>
              </a:solidFill>
              <a:highlight>
                <a:schemeClr val="lt1"/>
              </a:highlight>
              <a:latin typeface="Calibri"/>
              <a:ea typeface="Calibri"/>
              <a:cs typeface="Calibri"/>
              <a:sym typeface="Calibri"/>
            </a:endParaRPr>
          </a:p>
        </p:txBody>
      </p:sp>
      <p:sp>
        <p:nvSpPr>
          <p:cNvPr id="815" name="Google Shape;815;g3937d203302_0_659"/>
          <p:cNvSpPr txBox="1"/>
          <p:nvPr/>
        </p:nvSpPr>
        <p:spPr>
          <a:xfrm>
            <a:off x="729450" y="3817451"/>
            <a:ext cx="4117500" cy="45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1300"/>
              <a:buFont typeface="Lato"/>
              <a:buNone/>
            </a:pPr>
            <a:r>
              <a:rPr b="1" i="0" lang="pt-BR" sz="1800" u="none" cap="none" strike="noStrike">
                <a:solidFill>
                  <a:schemeClr val="dk2"/>
                </a:solidFill>
                <a:highlight>
                  <a:schemeClr val="lt1"/>
                </a:highlight>
                <a:latin typeface="Calibri"/>
                <a:ea typeface="Calibri"/>
                <a:cs typeface="Calibri"/>
                <a:sym typeface="Calibri"/>
              </a:rPr>
              <a:t>Paralelo entre Query x Pivot x View</a:t>
            </a:r>
            <a:endParaRPr b="1" i="0" sz="1800" u="none" cap="none" strike="noStrike">
              <a:solidFill>
                <a:schemeClr val="dk2"/>
              </a:solidFill>
              <a:highlight>
                <a:schemeClr val="lt1"/>
              </a:highlight>
              <a:latin typeface="Calibri"/>
              <a:ea typeface="Calibri"/>
              <a:cs typeface="Calibri"/>
              <a:sym typeface="Calibri"/>
            </a:endParaRPr>
          </a:p>
        </p:txBody>
      </p:sp>
      <p:sp>
        <p:nvSpPr>
          <p:cNvPr id="816" name="Google Shape;816;g3937d203302_0_659"/>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3 - Modelagem de dados</a:t>
            </a:r>
            <a:endParaRPr b="0" sz="2400">
              <a:latin typeface="Impact"/>
              <a:ea typeface="Impact"/>
              <a:cs typeface="Impact"/>
              <a:sym typeface="Impact"/>
            </a:endParaRPr>
          </a:p>
        </p:txBody>
      </p:sp>
      <p:pic>
        <p:nvPicPr>
          <p:cNvPr id="817" name="Google Shape;817;g3937d203302_0_659" title="SENAI_São_Paulo_logo.png"/>
          <p:cNvPicPr preferRelativeResize="0"/>
          <p:nvPr/>
        </p:nvPicPr>
        <p:blipFill rotWithShape="1">
          <a:blip r:embed="rId5">
            <a:alphaModFix/>
          </a:blip>
          <a:srcRect b="0" l="0" r="0" t="0"/>
          <a:stretch/>
        </p:blipFill>
        <p:spPr>
          <a:xfrm>
            <a:off x="7629275" y="63340"/>
            <a:ext cx="1439427" cy="3689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gtEl>
                                        <p:attrNameLst>
                                          <p:attrName>style.visibility</p:attrName>
                                        </p:attrNameLst>
                                      </p:cBhvr>
                                      <p:to>
                                        <p:strVal val="visible"/>
                                      </p:to>
                                    </p:set>
                                    <p:animEffect filter="fade" transition="in">
                                      <p:cBhvr>
                                        <p:cTn dur="1"/>
                                        <p:tgtEl>
                                          <p:spTgt spid="8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gtEl>
                                        <p:attrNameLst>
                                          <p:attrName>style.visibility</p:attrName>
                                        </p:attrNameLst>
                                      </p:cBhvr>
                                      <p:to>
                                        <p:strVal val="visible"/>
                                      </p:to>
                                    </p:set>
                                    <p:animEffect filter="fade" transition="in">
                                      <p:cBhvr>
                                        <p:cTn dur="1"/>
                                        <p:tgtEl>
                                          <p:spTgt spid="8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g3937d203302_0_669"/>
          <p:cNvSpPr txBox="1"/>
          <p:nvPr>
            <p:ph type="title"/>
          </p:nvPr>
        </p:nvSpPr>
        <p:spPr>
          <a:xfrm>
            <a:off x="729450" y="571725"/>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4 – Funções DAX</a:t>
            </a:r>
            <a:endParaRPr b="0" sz="2400">
              <a:latin typeface="Impact"/>
              <a:ea typeface="Impact"/>
              <a:cs typeface="Impact"/>
              <a:sym typeface="Impact"/>
            </a:endParaRPr>
          </a:p>
        </p:txBody>
      </p:sp>
      <p:sp>
        <p:nvSpPr>
          <p:cNvPr id="823" name="Google Shape;823;g3937d203302_0_669"/>
          <p:cNvSpPr txBox="1"/>
          <p:nvPr>
            <p:ph idx="1" type="body"/>
          </p:nvPr>
        </p:nvSpPr>
        <p:spPr>
          <a:xfrm>
            <a:off x="636750" y="1758350"/>
            <a:ext cx="4780800" cy="2591400"/>
          </a:xfrm>
          <a:prstGeom prst="rect">
            <a:avLst/>
          </a:prstGeom>
          <a:noFill/>
          <a:ln>
            <a:noFill/>
          </a:ln>
        </p:spPr>
        <p:txBody>
          <a:bodyPr anchorCtr="0" anchor="t" bIns="91425" lIns="91425" spcFirstLastPara="1" rIns="91425" wrap="square" tIns="91425">
            <a:normAutofit/>
          </a:bodyPr>
          <a:lstStyle/>
          <a:p>
            <a:pPr indent="0" lvl="0" marL="0" rtl="0" algn="just">
              <a:lnSpc>
                <a:spcPct val="200000"/>
              </a:lnSpc>
              <a:spcBef>
                <a:spcPts val="0"/>
              </a:spcBef>
              <a:spcAft>
                <a:spcPts val="0"/>
              </a:spcAft>
              <a:buSzPts val="1300"/>
              <a:buNone/>
            </a:pPr>
            <a:r>
              <a:rPr b="1" lang="pt-BR" sz="1400">
                <a:solidFill>
                  <a:srgbClr val="FF0000"/>
                </a:solidFill>
                <a:highlight>
                  <a:schemeClr val="lt1"/>
                </a:highlight>
                <a:latin typeface="Arial"/>
                <a:ea typeface="Arial"/>
                <a:cs typeface="Arial"/>
                <a:sym typeface="Arial"/>
              </a:rPr>
              <a:t>Cronograma</a:t>
            </a:r>
            <a:endParaRPr b="1" sz="1400">
              <a:solidFill>
                <a:srgbClr val="FF0000"/>
              </a:solidFill>
              <a:highlight>
                <a:schemeClr val="lt1"/>
              </a:highlight>
              <a:latin typeface="Arial"/>
              <a:ea typeface="Arial"/>
              <a:cs typeface="Arial"/>
              <a:sym typeface="Arial"/>
            </a:endParaRPr>
          </a:p>
          <a:p>
            <a:pPr indent="-342900" lvl="0" marL="495300" rtl="0" algn="just">
              <a:lnSpc>
                <a:spcPct val="200000"/>
              </a:lnSpc>
              <a:spcBef>
                <a:spcPts val="0"/>
              </a:spcBef>
              <a:spcAft>
                <a:spcPts val="0"/>
              </a:spcAft>
              <a:buClr>
                <a:srgbClr val="374151"/>
              </a:buClr>
              <a:buSzPts val="1600"/>
              <a:buFont typeface="Arial"/>
              <a:buAutoNum type="arabicPeriod"/>
            </a:pPr>
            <a:r>
              <a:rPr b="1" lang="pt-BR" sz="1600">
                <a:solidFill>
                  <a:schemeClr val="dk2"/>
                </a:solidFill>
                <a:highlight>
                  <a:schemeClr val="lt1"/>
                </a:highlight>
                <a:latin typeface="Calibri"/>
                <a:ea typeface="Calibri"/>
                <a:cs typeface="Calibri"/>
                <a:sym typeface="Calibri"/>
              </a:rPr>
              <a:t>O que são funções DAX</a:t>
            </a:r>
            <a:endParaRPr b="1" sz="1600">
              <a:solidFill>
                <a:schemeClr val="dk2"/>
              </a:solidFill>
              <a:highlight>
                <a:schemeClr val="lt1"/>
              </a:highlight>
              <a:latin typeface="Calibri"/>
              <a:ea typeface="Calibri"/>
              <a:cs typeface="Calibri"/>
              <a:sym typeface="Calibri"/>
            </a:endParaRPr>
          </a:p>
          <a:p>
            <a:pPr indent="-342900" lvl="0" marL="495300" rtl="0" algn="just">
              <a:lnSpc>
                <a:spcPct val="200000"/>
              </a:lnSpc>
              <a:spcBef>
                <a:spcPts val="0"/>
              </a:spcBef>
              <a:spcAft>
                <a:spcPts val="0"/>
              </a:spcAft>
              <a:buClr>
                <a:srgbClr val="374151"/>
              </a:buClr>
              <a:buSzPts val="1600"/>
              <a:buFont typeface="Arial"/>
              <a:buAutoNum type="arabicPeriod"/>
            </a:pPr>
            <a:r>
              <a:rPr b="1" lang="pt-BR" sz="1600">
                <a:solidFill>
                  <a:schemeClr val="dk2"/>
                </a:solidFill>
                <a:highlight>
                  <a:schemeClr val="lt1"/>
                </a:highlight>
                <a:latin typeface="Calibri"/>
                <a:ea typeface="Calibri"/>
                <a:cs typeface="Calibri"/>
                <a:sym typeface="Calibri"/>
              </a:rPr>
              <a:t>Exemplos de funções DAX</a:t>
            </a:r>
            <a:endParaRPr/>
          </a:p>
          <a:p>
            <a:pPr indent="-342900" lvl="0" marL="495300" rtl="0" algn="l">
              <a:lnSpc>
                <a:spcPct val="200000"/>
              </a:lnSpc>
              <a:spcBef>
                <a:spcPts val="0"/>
              </a:spcBef>
              <a:spcAft>
                <a:spcPts val="0"/>
              </a:spcAft>
              <a:buClr>
                <a:srgbClr val="374151"/>
              </a:buClr>
              <a:buSzPts val="1600"/>
              <a:buFont typeface="Arial"/>
              <a:buAutoNum type="arabicPeriod"/>
            </a:pPr>
            <a:r>
              <a:rPr b="1" lang="pt-BR" sz="1600">
                <a:solidFill>
                  <a:schemeClr val="dk2"/>
                </a:solidFill>
                <a:highlight>
                  <a:schemeClr val="lt1"/>
                </a:highlight>
                <a:latin typeface="Calibri"/>
                <a:ea typeface="Calibri"/>
                <a:cs typeface="Calibri"/>
                <a:sym typeface="Calibri"/>
              </a:rPr>
              <a:t>O que são KPI’s (key performance indicators)</a:t>
            </a:r>
            <a:endParaRPr b="1" sz="1600">
              <a:solidFill>
                <a:schemeClr val="dk2"/>
              </a:solidFill>
              <a:highlight>
                <a:schemeClr val="lt1"/>
              </a:highlight>
              <a:latin typeface="Calibri"/>
              <a:ea typeface="Calibri"/>
              <a:cs typeface="Calibri"/>
              <a:sym typeface="Calibri"/>
            </a:endParaRPr>
          </a:p>
        </p:txBody>
      </p:sp>
      <p:pic>
        <p:nvPicPr>
          <p:cNvPr descr="Interface gráfica do usuário, Aplicativo&#10;&#10;Descrição gerada automaticamente" id="824" name="Google Shape;824;g3937d203302_0_669"/>
          <p:cNvPicPr preferRelativeResize="0"/>
          <p:nvPr/>
        </p:nvPicPr>
        <p:blipFill rotWithShape="1">
          <a:blip r:embed="rId3">
            <a:alphaModFix/>
          </a:blip>
          <a:srcRect b="0" l="0" r="0" t="0"/>
          <a:stretch/>
        </p:blipFill>
        <p:spPr>
          <a:xfrm>
            <a:off x="5328368" y="2174154"/>
            <a:ext cx="2989537" cy="1759635"/>
          </a:xfrm>
          <a:prstGeom prst="rect">
            <a:avLst/>
          </a:prstGeom>
          <a:noFill/>
          <a:ln>
            <a:noFill/>
          </a:ln>
        </p:spPr>
      </p:pic>
      <p:pic>
        <p:nvPicPr>
          <p:cNvPr id="825" name="Google Shape;825;g3937d203302_0_669"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g3937d203302_0_676"/>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Conceitos básicos</a:t>
            </a:r>
            <a:endParaRPr b="0">
              <a:latin typeface="Impact"/>
              <a:ea typeface="Impact"/>
              <a:cs typeface="Impact"/>
              <a:sym typeface="Impact"/>
            </a:endParaRPr>
          </a:p>
        </p:txBody>
      </p:sp>
      <p:sp>
        <p:nvSpPr>
          <p:cNvPr id="831" name="Google Shape;831;g3937d203302_0_676"/>
          <p:cNvSpPr txBox="1"/>
          <p:nvPr>
            <p:ph idx="1" type="body"/>
          </p:nvPr>
        </p:nvSpPr>
        <p:spPr>
          <a:xfrm>
            <a:off x="729450" y="1318400"/>
            <a:ext cx="5597100" cy="35475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just">
              <a:lnSpc>
                <a:spcPct val="200000"/>
              </a:lnSpc>
              <a:spcBef>
                <a:spcPts val="0"/>
              </a:spcBef>
              <a:spcAft>
                <a:spcPts val="0"/>
              </a:spcAft>
              <a:buSzPct val="100352"/>
              <a:buNone/>
            </a:pPr>
            <a:r>
              <a:rPr b="1" lang="pt-BR" sz="1400">
                <a:solidFill>
                  <a:srgbClr val="374151"/>
                </a:solidFill>
                <a:highlight>
                  <a:schemeClr val="lt1"/>
                </a:highlight>
                <a:latin typeface="Calibri"/>
                <a:ea typeface="Calibri"/>
                <a:cs typeface="Calibri"/>
                <a:sym typeface="Calibri"/>
              </a:rPr>
              <a:t>O que significa?</a:t>
            </a:r>
            <a:endParaRPr sz="1400">
              <a:solidFill>
                <a:srgbClr val="374151"/>
              </a:solidFill>
              <a:highlight>
                <a:schemeClr val="lt1"/>
              </a:highlight>
              <a:latin typeface="Calibri"/>
              <a:ea typeface="Calibri"/>
              <a:cs typeface="Calibri"/>
              <a:sym typeface="Calibri"/>
            </a:endParaRPr>
          </a:p>
          <a:p>
            <a:pPr indent="0" lvl="0" marL="0" rtl="0" algn="just">
              <a:lnSpc>
                <a:spcPct val="200000"/>
              </a:lnSpc>
              <a:spcBef>
                <a:spcPts val="0"/>
              </a:spcBef>
              <a:spcAft>
                <a:spcPts val="0"/>
              </a:spcAft>
              <a:buSzPct val="100352"/>
              <a:buNone/>
            </a:pPr>
            <a:r>
              <a:rPr lang="pt-BR" sz="1400">
                <a:solidFill>
                  <a:srgbClr val="374151"/>
                </a:solidFill>
                <a:highlight>
                  <a:schemeClr val="lt1"/>
                </a:highlight>
                <a:latin typeface="Calibri"/>
                <a:ea typeface="Calibri"/>
                <a:cs typeface="Calibri"/>
                <a:sym typeface="Calibri"/>
              </a:rPr>
              <a:t>Data Analysis Expressions (Expressões de análise de dados) </a:t>
            </a:r>
            <a:endParaRPr sz="1400">
              <a:solidFill>
                <a:srgbClr val="374151"/>
              </a:solidFill>
              <a:highlight>
                <a:schemeClr val="lt1"/>
              </a:highlight>
              <a:latin typeface="Calibri"/>
              <a:ea typeface="Calibri"/>
              <a:cs typeface="Calibri"/>
              <a:sym typeface="Calibri"/>
            </a:endParaRPr>
          </a:p>
          <a:p>
            <a:pPr indent="457200" lvl="0" marL="0" rtl="0" algn="just">
              <a:lnSpc>
                <a:spcPct val="200000"/>
              </a:lnSpc>
              <a:spcBef>
                <a:spcPts val="0"/>
              </a:spcBef>
              <a:spcAft>
                <a:spcPts val="0"/>
              </a:spcAft>
              <a:buSzPct val="100352"/>
              <a:buNone/>
            </a:pPr>
            <a:r>
              <a:rPr lang="pt-BR" sz="1400">
                <a:solidFill>
                  <a:srgbClr val="374151"/>
                </a:solidFill>
                <a:highlight>
                  <a:schemeClr val="lt1"/>
                </a:highlight>
                <a:latin typeface="Calibri"/>
                <a:ea typeface="Calibri"/>
                <a:cs typeface="Calibri"/>
                <a:sym typeface="Calibri"/>
              </a:rPr>
              <a:t>Traduzindo → auxilia a realizar cálculos personalizados nos dados. </a:t>
            </a:r>
            <a:endParaRPr sz="1400">
              <a:solidFill>
                <a:srgbClr val="374151"/>
              </a:solidFill>
              <a:highlight>
                <a:schemeClr val="lt1"/>
              </a:highlight>
              <a:latin typeface="Calibri"/>
              <a:ea typeface="Calibri"/>
              <a:cs typeface="Calibri"/>
              <a:sym typeface="Calibri"/>
            </a:endParaRPr>
          </a:p>
          <a:p>
            <a:pPr indent="0" lvl="0" marL="0" rtl="0" algn="just">
              <a:lnSpc>
                <a:spcPct val="200000"/>
              </a:lnSpc>
              <a:spcBef>
                <a:spcPts val="0"/>
              </a:spcBef>
              <a:spcAft>
                <a:spcPts val="0"/>
              </a:spcAft>
              <a:buSzPct val="100352"/>
              <a:buNone/>
            </a:pPr>
            <a:r>
              <a:rPr b="1" lang="pt-BR" sz="1400">
                <a:solidFill>
                  <a:srgbClr val="374151"/>
                </a:solidFill>
                <a:highlight>
                  <a:schemeClr val="lt1"/>
                </a:highlight>
                <a:latin typeface="Calibri"/>
                <a:ea typeface="Calibri"/>
                <a:cs typeface="Calibri"/>
                <a:sym typeface="Calibri"/>
              </a:rPr>
              <a:t>O que podemos fazer com essas funções?</a:t>
            </a:r>
            <a:endParaRPr b="1" sz="1400">
              <a:solidFill>
                <a:srgbClr val="374151"/>
              </a:solidFill>
              <a:highlight>
                <a:schemeClr val="lt1"/>
              </a:highlight>
              <a:latin typeface="Calibri"/>
              <a:ea typeface="Calibri"/>
              <a:cs typeface="Calibri"/>
              <a:sym typeface="Calibri"/>
            </a:endParaRPr>
          </a:p>
          <a:p>
            <a:pPr indent="-298624" lvl="0" marL="457200" rtl="0" algn="just">
              <a:lnSpc>
                <a:spcPct val="200000"/>
              </a:lnSpc>
              <a:spcBef>
                <a:spcPts val="0"/>
              </a:spcBef>
              <a:spcAft>
                <a:spcPts val="0"/>
              </a:spcAft>
              <a:buClr>
                <a:srgbClr val="374151"/>
              </a:buClr>
              <a:buSzPct val="92642"/>
              <a:buFont typeface="Arial"/>
              <a:buChar char="●"/>
            </a:pPr>
            <a:r>
              <a:rPr lang="pt-BR" sz="1400">
                <a:solidFill>
                  <a:srgbClr val="374151"/>
                </a:solidFill>
                <a:highlight>
                  <a:schemeClr val="lt1"/>
                </a:highlight>
                <a:latin typeface="Calibri"/>
                <a:ea typeface="Calibri"/>
                <a:cs typeface="Calibri"/>
                <a:sym typeface="Calibri"/>
              </a:rPr>
              <a:t>Operações matemáticas;</a:t>
            </a:r>
            <a:endParaRPr sz="1400">
              <a:solidFill>
                <a:srgbClr val="374151"/>
              </a:solidFill>
              <a:highlight>
                <a:schemeClr val="lt1"/>
              </a:highlight>
              <a:latin typeface="Calibri"/>
              <a:ea typeface="Calibri"/>
              <a:cs typeface="Calibri"/>
              <a:sym typeface="Calibri"/>
            </a:endParaRPr>
          </a:p>
          <a:p>
            <a:pPr indent="-298624" lvl="0" marL="457200" rtl="0" algn="just">
              <a:lnSpc>
                <a:spcPct val="200000"/>
              </a:lnSpc>
              <a:spcBef>
                <a:spcPts val="0"/>
              </a:spcBef>
              <a:spcAft>
                <a:spcPts val="0"/>
              </a:spcAft>
              <a:buClr>
                <a:srgbClr val="374151"/>
              </a:buClr>
              <a:buSzPct val="92642"/>
              <a:buFont typeface="Arial"/>
              <a:buChar char="●"/>
            </a:pPr>
            <a:r>
              <a:rPr lang="pt-BR" sz="1400">
                <a:solidFill>
                  <a:srgbClr val="374151"/>
                </a:solidFill>
                <a:highlight>
                  <a:schemeClr val="lt1"/>
                </a:highlight>
                <a:latin typeface="Calibri"/>
                <a:ea typeface="Calibri"/>
                <a:cs typeface="Calibri"/>
                <a:sym typeface="Calibri"/>
              </a:rPr>
              <a:t>Usar lógica condicional; </a:t>
            </a:r>
            <a:endParaRPr sz="1400">
              <a:solidFill>
                <a:srgbClr val="374151"/>
              </a:solidFill>
              <a:highlight>
                <a:schemeClr val="lt1"/>
              </a:highlight>
              <a:latin typeface="Calibri"/>
              <a:ea typeface="Calibri"/>
              <a:cs typeface="Calibri"/>
              <a:sym typeface="Calibri"/>
            </a:endParaRPr>
          </a:p>
          <a:p>
            <a:pPr indent="-298624" lvl="0" marL="457200" rtl="0" algn="just">
              <a:lnSpc>
                <a:spcPct val="200000"/>
              </a:lnSpc>
              <a:spcBef>
                <a:spcPts val="0"/>
              </a:spcBef>
              <a:spcAft>
                <a:spcPts val="0"/>
              </a:spcAft>
              <a:buClr>
                <a:srgbClr val="374151"/>
              </a:buClr>
              <a:buSzPct val="92642"/>
              <a:buFont typeface="Arial"/>
              <a:buChar char="●"/>
            </a:pPr>
            <a:r>
              <a:rPr lang="pt-BR" sz="1400">
                <a:solidFill>
                  <a:srgbClr val="374151"/>
                </a:solidFill>
                <a:highlight>
                  <a:schemeClr val="lt1"/>
                </a:highlight>
                <a:latin typeface="Calibri"/>
                <a:ea typeface="Calibri"/>
                <a:cs typeface="Calibri"/>
                <a:sym typeface="Calibri"/>
              </a:rPr>
              <a:t>Criar medidas;</a:t>
            </a:r>
            <a:endParaRPr sz="1400">
              <a:solidFill>
                <a:srgbClr val="374151"/>
              </a:solidFill>
              <a:highlight>
                <a:schemeClr val="lt1"/>
              </a:highlight>
              <a:latin typeface="Calibri"/>
              <a:ea typeface="Calibri"/>
              <a:cs typeface="Calibri"/>
              <a:sym typeface="Calibri"/>
            </a:endParaRPr>
          </a:p>
          <a:p>
            <a:pPr indent="-298624" lvl="0" marL="457200" rtl="0" algn="just">
              <a:lnSpc>
                <a:spcPct val="200000"/>
              </a:lnSpc>
              <a:spcBef>
                <a:spcPts val="0"/>
              </a:spcBef>
              <a:spcAft>
                <a:spcPts val="0"/>
              </a:spcAft>
              <a:buClr>
                <a:srgbClr val="374151"/>
              </a:buClr>
              <a:buSzPct val="92642"/>
              <a:buFont typeface="Arial"/>
              <a:buChar char="●"/>
            </a:pPr>
            <a:r>
              <a:rPr lang="pt-BR" sz="1400">
                <a:solidFill>
                  <a:srgbClr val="374151"/>
                </a:solidFill>
                <a:highlight>
                  <a:schemeClr val="lt1"/>
                </a:highlight>
                <a:latin typeface="Calibri"/>
                <a:ea typeface="Calibri"/>
                <a:cs typeface="Calibri"/>
                <a:sym typeface="Calibri"/>
              </a:rPr>
              <a:t>Colunas calculadas; </a:t>
            </a:r>
            <a:endParaRPr sz="1400">
              <a:solidFill>
                <a:srgbClr val="374151"/>
              </a:solidFill>
              <a:highlight>
                <a:schemeClr val="lt1"/>
              </a:highlight>
              <a:latin typeface="Calibri"/>
              <a:ea typeface="Calibri"/>
              <a:cs typeface="Calibri"/>
              <a:sym typeface="Calibri"/>
            </a:endParaRPr>
          </a:p>
          <a:p>
            <a:pPr indent="-304181" lvl="0" marL="457200" rtl="0" algn="just">
              <a:lnSpc>
                <a:spcPct val="200000"/>
              </a:lnSpc>
              <a:spcBef>
                <a:spcPts val="0"/>
              </a:spcBef>
              <a:spcAft>
                <a:spcPts val="0"/>
              </a:spcAft>
              <a:buClr>
                <a:srgbClr val="374151"/>
              </a:buClr>
              <a:buSzPct val="100000"/>
              <a:buFont typeface="Calibri"/>
              <a:buChar char="●"/>
            </a:pPr>
            <a:r>
              <a:rPr lang="pt-BR" sz="1400">
                <a:solidFill>
                  <a:srgbClr val="374151"/>
                </a:solidFill>
                <a:highlight>
                  <a:schemeClr val="lt1"/>
                </a:highlight>
                <a:latin typeface="Calibri"/>
                <a:ea typeface="Calibri"/>
                <a:cs typeface="Calibri"/>
                <a:sym typeface="Calibri"/>
              </a:rPr>
              <a:t>Tabelas calculadas;</a:t>
            </a:r>
            <a:endParaRPr sz="1400">
              <a:solidFill>
                <a:srgbClr val="374151"/>
              </a:solidFill>
              <a:highlight>
                <a:schemeClr val="lt1"/>
              </a:highlight>
              <a:latin typeface="Calibri"/>
              <a:ea typeface="Calibri"/>
              <a:cs typeface="Calibri"/>
              <a:sym typeface="Calibri"/>
            </a:endParaRPr>
          </a:p>
          <a:p>
            <a:pPr indent="0" lvl="0" marL="457200" rtl="0" algn="l">
              <a:lnSpc>
                <a:spcPct val="200000"/>
              </a:lnSpc>
              <a:spcBef>
                <a:spcPts val="0"/>
              </a:spcBef>
              <a:spcAft>
                <a:spcPts val="0"/>
              </a:spcAft>
              <a:buSzPct val="100352"/>
              <a:buNone/>
            </a:pPr>
            <a:r>
              <a:t/>
            </a:r>
            <a:endParaRPr sz="1400">
              <a:solidFill>
                <a:srgbClr val="374151"/>
              </a:solidFill>
              <a:latin typeface="Calibri"/>
              <a:ea typeface="Calibri"/>
              <a:cs typeface="Calibri"/>
              <a:sym typeface="Calibri"/>
            </a:endParaRPr>
          </a:p>
        </p:txBody>
      </p:sp>
      <p:pic>
        <p:nvPicPr>
          <p:cNvPr descr="Uma imagem contendo no interior, mesa, diferente, de madeira&#10;&#10;Descrição gerada automaticamente" id="832" name="Google Shape;832;g3937d203302_0_676"/>
          <p:cNvPicPr preferRelativeResize="0"/>
          <p:nvPr/>
        </p:nvPicPr>
        <p:blipFill rotWithShape="1">
          <a:blip r:embed="rId3">
            <a:alphaModFix/>
          </a:blip>
          <a:srcRect b="0" l="0" r="0" t="0"/>
          <a:stretch/>
        </p:blipFill>
        <p:spPr>
          <a:xfrm>
            <a:off x="6086645" y="2485879"/>
            <a:ext cx="2735905" cy="2571751"/>
          </a:xfrm>
          <a:prstGeom prst="rect">
            <a:avLst/>
          </a:prstGeom>
          <a:noFill/>
          <a:ln>
            <a:noFill/>
          </a:ln>
        </p:spPr>
      </p:pic>
      <p:sp>
        <p:nvSpPr>
          <p:cNvPr id="833" name="Google Shape;833;g3937d203302_0_676"/>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4 - Funções DAX</a:t>
            </a:r>
            <a:endParaRPr b="0" sz="2400">
              <a:latin typeface="Impact"/>
              <a:ea typeface="Impact"/>
              <a:cs typeface="Impact"/>
              <a:sym typeface="Impact"/>
            </a:endParaRPr>
          </a:p>
        </p:txBody>
      </p:sp>
      <p:pic>
        <p:nvPicPr>
          <p:cNvPr id="834" name="Google Shape;834;g3937d203302_0_676"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g3937d203302_0_684"/>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Qual a utilidade das funções DAX</a:t>
            </a:r>
            <a:endParaRPr b="0">
              <a:latin typeface="Impact"/>
              <a:ea typeface="Impact"/>
              <a:cs typeface="Impact"/>
              <a:sym typeface="Impact"/>
            </a:endParaRPr>
          </a:p>
        </p:txBody>
      </p:sp>
      <p:sp>
        <p:nvSpPr>
          <p:cNvPr id="840" name="Google Shape;840;g3937d203302_0_684"/>
          <p:cNvSpPr txBox="1"/>
          <p:nvPr>
            <p:ph idx="1" type="body"/>
          </p:nvPr>
        </p:nvSpPr>
        <p:spPr>
          <a:xfrm>
            <a:off x="729450" y="1318400"/>
            <a:ext cx="8051100" cy="3547500"/>
          </a:xfrm>
          <a:prstGeom prst="rect">
            <a:avLst/>
          </a:prstGeom>
          <a:noFill/>
          <a:ln>
            <a:noFill/>
          </a:ln>
        </p:spPr>
        <p:txBody>
          <a:bodyPr anchorCtr="0" anchor="t" bIns="91425" lIns="91425" spcFirstLastPara="1" rIns="91425" wrap="square" tIns="91425">
            <a:normAutofit/>
          </a:bodyPr>
          <a:lstStyle/>
          <a:p>
            <a:pPr indent="0" lvl="0" marL="0" rtl="0" algn="just">
              <a:lnSpc>
                <a:spcPct val="100000"/>
              </a:lnSpc>
              <a:spcBef>
                <a:spcPts val="0"/>
              </a:spcBef>
              <a:spcAft>
                <a:spcPts val="0"/>
              </a:spcAft>
              <a:buSzPts val="1300"/>
              <a:buNone/>
            </a:pPr>
            <a:r>
              <a:rPr lang="pt-BR" sz="1600">
                <a:solidFill>
                  <a:srgbClr val="374151"/>
                </a:solidFill>
                <a:highlight>
                  <a:schemeClr val="lt1"/>
                </a:highlight>
                <a:latin typeface="Calibri"/>
                <a:ea typeface="Calibri"/>
                <a:cs typeface="Calibri"/>
                <a:sym typeface="Calibri"/>
              </a:rPr>
              <a:t>Você pode criar fórmulas que agregam, filtram e calculam valores com base nos dados disponíveis em seu conjunto de dados. Elas são usadas principalmente para criar medidas, que são cálculos agregados que fornecem informações resumidas sobre os dados, como somas, médias, contagens e percentuais.</a:t>
            </a:r>
            <a:endParaRPr/>
          </a:p>
          <a:p>
            <a:pPr indent="0" lvl="0" marL="0" rtl="0" algn="just">
              <a:lnSpc>
                <a:spcPct val="100000"/>
              </a:lnSpc>
              <a:spcBef>
                <a:spcPts val="0"/>
              </a:spcBef>
              <a:spcAft>
                <a:spcPts val="0"/>
              </a:spcAft>
              <a:buSzPts val="1300"/>
              <a:buNone/>
            </a:pPr>
            <a:r>
              <a:t/>
            </a:r>
            <a:endParaRPr sz="1600">
              <a:solidFill>
                <a:srgbClr val="374151"/>
              </a:solidFill>
              <a:highlight>
                <a:schemeClr val="lt1"/>
              </a:highlight>
              <a:latin typeface="Calibri"/>
              <a:ea typeface="Calibri"/>
              <a:cs typeface="Calibri"/>
              <a:sym typeface="Calibri"/>
            </a:endParaRPr>
          </a:p>
          <a:p>
            <a:pPr indent="0" lvl="0" marL="457200" rtl="0" algn="l">
              <a:lnSpc>
                <a:spcPct val="200000"/>
              </a:lnSpc>
              <a:spcBef>
                <a:spcPts val="0"/>
              </a:spcBef>
              <a:spcAft>
                <a:spcPts val="0"/>
              </a:spcAft>
              <a:buSzPts val="1300"/>
              <a:buNone/>
            </a:pPr>
            <a:r>
              <a:rPr lang="pt-BR">
                <a:solidFill>
                  <a:srgbClr val="374151"/>
                </a:solidFill>
                <a:latin typeface="Calibri"/>
                <a:ea typeface="Calibri"/>
                <a:cs typeface="Calibri"/>
                <a:sym typeface="Calibri"/>
              </a:rPr>
              <a:t>		Exemplo de função do Excel:</a:t>
            </a:r>
            <a:endParaRPr>
              <a:solidFill>
                <a:srgbClr val="374151"/>
              </a:solidFill>
              <a:latin typeface="Calibri"/>
              <a:ea typeface="Calibri"/>
              <a:cs typeface="Calibri"/>
              <a:sym typeface="Calibri"/>
            </a:endParaRPr>
          </a:p>
          <a:p>
            <a:pPr indent="0" lvl="0" marL="457200" rtl="0" algn="l">
              <a:lnSpc>
                <a:spcPct val="200000"/>
              </a:lnSpc>
              <a:spcBef>
                <a:spcPts val="0"/>
              </a:spcBef>
              <a:spcAft>
                <a:spcPts val="0"/>
              </a:spcAft>
              <a:buSzPts val="1300"/>
              <a:buNone/>
            </a:pPr>
            <a:r>
              <a:rPr b="1" lang="pt-BR">
                <a:solidFill>
                  <a:srgbClr val="374151"/>
                </a:solidFill>
                <a:latin typeface="Calibri"/>
                <a:ea typeface="Calibri"/>
                <a:cs typeface="Calibri"/>
                <a:sym typeface="Calibri"/>
              </a:rPr>
              <a:t>		=SOMA(A1:A10)</a:t>
            </a:r>
            <a:endParaRPr b="1">
              <a:solidFill>
                <a:srgbClr val="374151"/>
              </a:solidFill>
              <a:latin typeface="Calibri"/>
              <a:ea typeface="Calibri"/>
              <a:cs typeface="Calibri"/>
              <a:sym typeface="Calibri"/>
            </a:endParaRPr>
          </a:p>
          <a:p>
            <a:pPr indent="0" lvl="0" marL="457200" rtl="0" algn="l">
              <a:lnSpc>
                <a:spcPct val="200000"/>
              </a:lnSpc>
              <a:spcBef>
                <a:spcPts val="0"/>
              </a:spcBef>
              <a:spcAft>
                <a:spcPts val="0"/>
              </a:spcAft>
              <a:buSzPts val="1300"/>
              <a:buNone/>
            </a:pPr>
            <a:r>
              <a:t/>
            </a:r>
            <a:endParaRPr>
              <a:solidFill>
                <a:srgbClr val="374151"/>
              </a:solidFill>
              <a:latin typeface="Calibri"/>
              <a:ea typeface="Calibri"/>
              <a:cs typeface="Calibri"/>
              <a:sym typeface="Calibri"/>
            </a:endParaRPr>
          </a:p>
          <a:p>
            <a:pPr indent="0" lvl="0" marL="457200" rtl="0" algn="l">
              <a:lnSpc>
                <a:spcPct val="200000"/>
              </a:lnSpc>
              <a:spcBef>
                <a:spcPts val="0"/>
              </a:spcBef>
              <a:spcAft>
                <a:spcPts val="0"/>
              </a:spcAft>
              <a:buSzPts val="1300"/>
              <a:buNone/>
            </a:pPr>
            <a:r>
              <a:rPr lang="pt-BR">
                <a:solidFill>
                  <a:srgbClr val="374151"/>
                </a:solidFill>
                <a:latin typeface="Calibri"/>
                <a:ea typeface="Calibri"/>
                <a:cs typeface="Calibri"/>
                <a:sym typeface="Calibri"/>
              </a:rPr>
              <a:t>		Exemplo de função DAX:</a:t>
            </a:r>
            <a:endParaRPr>
              <a:solidFill>
                <a:srgbClr val="374151"/>
              </a:solidFill>
              <a:latin typeface="Calibri"/>
              <a:ea typeface="Calibri"/>
              <a:cs typeface="Calibri"/>
              <a:sym typeface="Calibri"/>
            </a:endParaRPr>
          </a:p>
          <a:p>
            <a:pPr indent="0" lvl="0" marL="457200" rtl="0" algn="l">
              <a:lnSpc>
                <a:spcPct val="200000"/>
              </a:lnSpc>
              <a:spcBef>
                <a:spcPts val="0"/>
              </a:spcBef>
              <a:spcAft>
                <a:spcPts val="0"/>
              </a:spcAft>
              <a:buSzPts val="1300"/>
              <a:buNone/>
            </a:pPr>
            <a:r>
              <a:rPr b="1" lang="pt-BR">
                <a:solidFill>
                  <a:srgbClr val="374151"/>
                </a:solidFill>
                <a:latin typeface="Calibri"/>
                <a:ea typeface="Calibri"/>
                <a:cs typeface="Calibri"/>
                <a:sym typeface="Calibri"/>
              </a:rPr>
              <a:t>		=SUM(NomeTabela[NomeColuna])</a:t>
            </a:r>
            <a:endParaRPr b="1">
              <a:solidFill>
                <a:srgbClr val="374151"/>
              </a:solidFill>
              <a:latin typeface="Calibri"/>
              <a:ea typeface="Calibri"/>
              <a:cs typeface="Calibri"/>
              <a:sym typeface="Calibri"/>
            </a:endParaRPr>
          </a:p>
        </p:txBody>
      </p:sp>
      <p:pic>
        <p:nvPicPr>
          <p:cNvPr descr="Ícone&#10;&#10;Descrição gerada automaticamente" id="841" name="Google Shape;841;g3937d203302_0_684"/>
          <p:cNvPicPr preferRelativeResize="0"/>
          <p:nvPr/>
        </p:nvPicPr>
        <p:blipFill rotWithShape="1">
          <a:blip r:embed="rId3">
            <a:alphaModFix/>
          </a:blip>
          <a:srcRect b="0" l="0" r="0" t="0"/>
          <a:stretch/>
        </p:blipFill>
        <p:spPr>
          <a:xfrm>
            <a:off x="1462902" y="2812181"/>
            <a:ext cx="559938" cy="559938"/>
          </a:xfrm>
          <a:prstGeom prst="rect">
            <a:avLst/>
          </a:prstGeom>
          <a:noFill/>
          <a:ln>
            <a:noFill/>
          </a:ln>
        </p:spPr>
      </p:pic>
      <p:pic>
        <p:nvPicPr>
          <p:cNvPr descr="Ícone&#10;&#10;Descrição gerada automaticamente" id="842" name="Google Shape;842;g3937d203302_0_684"/>
          <p:cNvPicPr preferRelativeResize="0"/>
          <p:nvPr/>
        </p:nvPicPr>
        <p:blipFill rotWithShape="1">
          <a:blip r:embed="rId4">
            <a:alphaModFix/>
          </a:blip>
          <a:srcRect b="0" l="0" r="0" t="0"/>
          <a:stretch/>
        </p:blipFill>
        <p:spPr>
          <a:xfrm>
            <a:off x="1312424" y="4011264"/>
            <a:ext cx="860892" cy="573561"/>
          </a:xfrm>
          <a:prstGeom prst="rect">
            <a:avLst/>
          </a:prstGeom>
          <a:noFill/>
          <a:ln>
            <a:noFill/>
          </a:ln>
        </p:spPr>
      </p:pic>
      <p:sp>
        <p:nvSpPr>
          <p:cNvPr id="843" name="Google Shape;843;g3937d203302_0_684"/>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4 - Funções DAX</a:t>
            </a:r>
            <a:endParaRPr b="0" sz="2400">
              <a:latin typeface="Impact"/>
              <a:ea typeface="Impact"/>
              <a:cs typeface="Impact"/>
              <a:sym typeface="Impact"/>
            </a:endParaRPr>
          </a:p>
        </p:txBody>
      </p:sp>
      <p:pic>
        <p:nvPicPr>
          <p:cNvPr id="844" name="Google Shape;844;g3937d203302_0_684" title="SENAI_São_Paulo_logo.png"/>
          <p:cNvPicPr preferRelativeResize="0"/>
          <p:nvPr/>
        </p:nvPicPr>
        <p:blipFill rotWithShape="1">
          <a:blip r:embed="rId5">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g3937d203302_0_693"/>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Exemplos de algumas funções DAX</a:t>
            </a:r>
            <a:endParaRPr b="0">
              <a:latin typeface="Impact"/>
              <a:ea typeface="Impact"/>
              <a:cs typeface="Impact"/>
              <a:sym typeface="Impact"/>
            </a:endParaRPr>
          </a:p>
        </p:txBody>
      </p:sp>
      <p:sp>
        <p:nvSpPr>
          <p:cNvPr id="850" name="Google Shape;850;g3937d203302_0_693"/>
          <p:cNvSpPr txBox="1"/>
          <p:nvPr>
            <p:ph idx="1" type="body"/>
          </p:nvPr>
        </p:nvSpPr>
        <p:spPr>
          <a:xfrm>
            <a:off x="729450" y="1583473"/>
            <a:ext cx="8051100" cy="3282300"/>
          </a:xfrm>
          <a:prstGeom prst="rect">
            <a:avLst/>
          </a:prstGeom>
          <a:noFill/>
          <a:ln>
            <a:noFill/>
          </a:ln>
        </p:spPr>
        <p:txBody>
          <a:bodyPr anchorCtr="0" anchor="t" bIns="91425" lIns="91425" spcFirstLastPara="1" rIns="91425" wrap="square" tIns="91425">
            <a:normAutofit lnSpcReduction="20000"/>
          </a:bodyPr>
          <a:lstStyle/>
          <a:p>
            <a:pPr indent="-342900" lvl="0" marL="457200" rtl="0" algn="just">
              <a:lnSpc>
                <a:spcPct val="115000"/>
              </a:lnSpc>
              <a:spcBef>
                <a:spcPts val="0"/>
              </a:spcBef>
              <a:spcAft>
                <a:spcPts val="0"/>
              </a:spcAft>
              <a:buClr>
                <a:srgbClr val="374151"/>
              </a:buClr>
              <a:buSzPts val="1800"/>
              <a:buFont typeface="Calibri"/>
              <a:buChar char="●"/>
            </a:pPr>
            <a:r>
              <a:rPr lang="pt-BR" sz="1800">
                <a:solidFill>
                  <a:srgbClr val="374151"/>
                </a:solidFill>
                <a:highlight>
                  <a:schemeClr val="lt1"/>
                </a:highlight>
                <a:latin typeface="Calibri"/>
                <a:ea typeface="Calibri"/>
                <a:cs typeface="Calibri"/>
                <a:sym typeface="Calibri"/>
              </a:rPr>
              <a:t>Funções matemáticas: </a:t>
            </a:r>
            <a:r>
              <a:rPr b="1" lang="pt-BR" sz="1800">
                <a:solidFill>
                  <a:srgbClr val="374151"/>
                </a:solidFill>
                <a:highlight>
                  <a:schemeClr val="lt1"/>
                </a:highlight>
                <a:latin typeface="Calibri"/>
                <a:ea typeface="Calibri"/>
                <a:cs typeface="Calibri"/>
                <a:sym typeface="Calibri"/>
              </a:rPr>
              <a:t>SUM, AVERAGE, MIN, MAX</a:t>
            </a:r>
            <a:r>
              <a:rPr lang="pt-BR" sz="1800">
                <a:solidFill>
                  <a:srgbClr val="374151"/>
                </a:solidFill>
                <a:highlight>
                  <a:schemeClr val="lt1"/>
                </a:highlight>
                <a:latin typeface="Calibri"/>
                <a:ea typeface="Calibri"/>
                <a:cs typeface="Calibri"/>
                <a:sym typeface="Calibri"/>
              </a:rPr>
              <a:t>, ROUND, ABS, EXP, LOG, SQRT</a:t>
            </a:r>
            <a:endParaRPr sz="1800">
              <a:solidFill>
                <a:srgbClr val="374151"/>
              </a:solidFill>
              <a:highlight>
                <a:schemeClr val="lt1"/>
              </a:highlight>
              <a:latin typeface="Calibri"/>
              <a:ea typeface="Calibri"/>
              <a:cs typeface="Calibri"/>
              <a:sym typeface="Calibri"/>
            </a:endParaRPr>
          </a:p>
          <a:p>
            <a:pPr indent="-342900" lvl="0" marL="457200" rtl="0" algn="just">
              <a:lnSpc>
                <a:spcPct val="115000"/>
              </a:lnSpc>
              <a:spcBef>
                <a:spcPts val="0"/>
              </a:spcBef>
              <a:spcAft>
                <a:spcPts val="0"/>
              </a:spcAft>
              <a:buClr>
                <a:srgbClr val="374151"/>
              </a:buClr>
              <a:buSzPts val="1800"/>
              <a:buFont typeface="Calibri"/>
              <a:buChar char="●"/>
            </a:pPr>
            <a:r>
              <a:rPr lang="pt-BR" sz="1800">
                <a:solidFill>
                  <a:srgbClr val="374151"/>
                </a:solidFill>
                <a:highlight>
                  <a:schemeClr val="lt1"/>
                </a:highlight>
                <a:latin typeface="Calibri"/>
                <a:ea typeface="Calibri"/>
                <a:cs typeface="Calibri"/>
                <a:sym typeface="Calibri"/>
              </a:rPr>
              <a:t>Funções estatísticas: STDEV, VAR, MEDIAN, </a:t>
            </a:r>
            <a:r>
              <a:rPr b="1" lang="pt-BR" sz="1800">
                <a:solidFill>
                  <a:srgbClr val="374151"/>
                </a:solidFill>
                <a:highlight>
                  <a:schemeClr val="lt1"/>
                </a:highlight>
                <a:latin typeface="Calibri"/>
                <a:ea typeface="Calibri"/>
                <a:cs typeface="Calibri"/>
                <a:sym typeface="Calibri"/>
              </a:rPr>
              <a:t>COUNT</a:t>
            </a:r>
            <a:r>
              <a:rPr lang="pt-BR" sz="1800">
                <a:solidFill>
                  <a:srgbClr val="374151"/>
                </a:solidFill>
                <a:highlight>
                  <a:schemeClr val="lt1"/>
                </a:highlight>
                <a:latin typeface="Calibri"/>
                <a:ea typeface="Calibri"/>
                <a:cs typeface="Calibri"/>
                <a:sym typeface="Calibri"/>
              </a:rPr>
              <a:t>, COUNTA, COUNTBLANK, CORREL, COVAR</a:t>
            </a:r>
            <a:endParaRPr sz="1800">
              <a:solidFill>
                <a:srgbClr val="374151"/>
              </a:solidFill>
              <a:highlight>
                <a:schemeClr val="lt1"/>
              </a:highlight>
              <a:latin typeface="Calibri"/>
              <a:ea typeface="Calibri"/>
              <a:cs typeface="Calibri"/>
              <a:sym typeface="Calibri"/>
            </a:endParaRPr>
          </a:p>
          <a:p>
            <a:pPr indent="-342900" lvl="0" marL="457200" rtl="0" algn="just">
              <a:lnSpc>
                <a:spcPct val="115000"/>
              </a:lnSpc>
              <a:spcBef>
                <a:spcPts val="0"/>
              </a:spcBef>
              <a:spcAft>
                <a:spcPts val="0"/>
              </a:spcAft>
              <a:buClr>
                <a:srgbClr val="374151"/>
              </a:buClr>
              <a:buSzPts val="1800"/>
              <a:buFont typeface="Calibri"/>
              <a:buChar char="●"/>
            </a:pPr>
            <a:r>
              <a:rPr lang="pt-BR" sz="1800">
                <a:solidFill>
                  <a:srgbClr val="374151"/>
                </a:solidFill>
                <a:highlight>
                  <a:schemeClr val="lt1"/>
                </a:highlight>
                <a:latin typeface="Calibri"/>
                <a:ea typeface="Calibri"/>
                <a:cs typeface="Calibri"/>
                <a:sym typeface="Calibri"/>
              </a:rPr>
              <a:t>Funções de texto: </a:t>
            </a:r>
            <a:r>
              <a:rPr b="1" lang="pt-BR" sz="1800">
                <a:solidFill>
                  <a:srgbClr val="374151"/>
                </a:solidFill>
                <a:highlight>
                  <a:schemeClr val="lt1"/>
                </a:highlight>
                <a:latin typeface="Calibri"/>
                <a:ea typeface="Calibri"/>
                <a:cs typeface="Calibri"/>
                <a:sym typeface="Calibri"/>
              </a:rPr>
              <a:t>CONCATENATE</a:t>
            </a:r>
            <a:r>
              <a:rPr lang="pt-BR" sz="1800">
                <a:solidFill>
                  <a:srgbClr val="374151"/>
                </a:solidFill>
                <a:highlight>
                  <a:schemeClr val="lt1"/>
                </a:highlight>
                <a:latin typeface="Calibri"/>
                <a:ea typeface="Calibri"/>
                <a:cs typeface="Calibri"/>
                <a:sym typeface="Calibri"/>
              </a:rPr>
              <a:t>, LEFT, RIGHT, MID, UPPER, LOWER, SUBSTITUTE, REPLACE</a:t>
            </a:r>
            <a:endParaRPr sz="1800">
              <a:solidFill>
                <a:srgbClr val="374151"/>
              </a:solidFill>
              <a:highlight>
                <a:schemeClr val="lt1"/>
              </a:highlight>
              <a:latin typeface="Calibri"/>
              <a:ea typeface="Calibri"/>
              <a:cs typeface="Calibri"/>
              <a:sym typeface="Calibri"/>
            </a:endParaRPr>
          </a:p>
          <a:p>
            <a:pPr indent="-342900" lvl="0" marL="457200" rtl="0" algn="just">
              <a:lnSpc>
                <a:spcPct val="115000"/>
              </a:lnSpc>
              <a:spcBef>
                <a:spcPts val="0"/>
              </a:spcBef>
              <a:spcAft>
                <a:spcPts val="0"/>
              </a:spcAft>
              <a:buClr>
                <a:srgbClr val="374151"/>
              </a:buClr>
              <a:buSzPts val="1800"/>
              <a:buFont typeface="Calibri"/>
              <a:buChar char="●"/>
            </a:pPr>
            <a:r>
              <a:rPr lang="pt-BR" sz="1800">
                <a:solidFill>
                  <a:srgbClr val="374151"/>
                </a:solidFill>
                <a:highlight>
                  <a:schemeClr val="lt1"/>
                </a:highlight>
                <a:latin typeface="Calibri"/>
                <a:ea typeface="Calibri"/>
                <a:cs typeface="Calibri"/>
                <a:sym typeface="Calibri"/>
              </a:rPr>
              <a:t>Funções de data e hora: </a:t>
            </a:r>
            <a:r>
              <a:rPr b="1" lang="pt-BR" sz="1800">
                <a:solidFill>
                  <a:srgbClr val="374151"/>
                </a:solidFill>
                <a:highlight>
                  <a:schemeClr val="lt1"/>
                </a:highlight>
                <a:latin typeface="Calibri"/>
                <a:ea typeface="Calibri"/>
                <a:cs typeface="Calibri"/>
                <a:sym typeface="Calibri"/>
              </a:rPr>
              <a:t>TODAY</a:t>
            </a:r>
            <a:r>
              <a:rPr lang="pt-BR" sz="1800">
                <a:solidFill>
                  <a:srgbClr val="374151"/>
                </a:solidFill>
                <a:highlight>
                  <a:schemeClr val="lt1"/>
                </a:highlight>
                <a:latin typeface="Calibri"/>
                <a:ea typeface="Calibri"/>
                <a:cs typeface="Calibri"/>
                <a:sym typeface="Calibri"/>
              </a:rPr>
              <a:t>, NOW, YEAR, MONTH, DAY, HOUR, MINUTE, SECOND, DATE, TIME</a:t>
            </a:r>
            <a:endParaRPr sz="1800">
              <a:solidFill>
                <a:srgbClr val="374151"/>
              </a:solidFill>
              <a:highlight>
                <a:schemeClr val="lt1"/>
              </a:highlight>
              <a:latin typeface="Calibri"/>
              <a:ea typeface="Calibri"/>
              <a:cs typeface="Calibri"/>
              <a:sym typeface="Calibri"/>
            </a:endParaRPr>
          </a:p>
          <a:p>
            <a:pPr indent="-342900" lvl="0" marL="457200" rtl="0" algn="just">
              <a:lnSpc>
                <a:spcPct val="115000"/>
              </a:lnSpc>
              <a:spcBef>
                <a:spcPts val="0"/>
              </a:spcBef>
              <a:spcAft>
                <a:spcPts val="0"/>
              </a:spcAft>
              <a:buClr>
                <a:srgbClr val="374151"/>
              </a:buClr>
              <a:buSzPts val="1800"/>
              <a:buFont typeface="Calibri"/>
              <a:buChar char="●"/>
            </a:pPr>
            <a:r>
              <a:rPr lang="pt-BR" sz="1800">
                <a:solidFill>
                  <a:srgbClr val="374151"/>
                </a:solidFill>
                <a:highlight>
                  <a:schemeClr val="lt1"/>
                </a:highlight>
                <a:latin typeface="Calibri"/>
                <a:ea typeface="Calibri"/>
                <a:cs typeface="Calibri"/>
                <a:sym typeface="Calibri"/>
              </a:rPr>
              <a:t>Funções de lógica condicional: </a:t>
            </a:r>
            <a:r>
              <a:rPr b="1" lang="pt-BR" sz="1800">
                <a:solidFill>
                  <a:srgbClr val="374151"/>
                </a:solidFill>
                <a:highlight>
                  <a:schemeClr val="lt1"/>
                </a:highlight>
                <a:latin typeface="Calibri"/>
                <a:ea typeface="Calibri"/>
                <a:cs typeface="Calibri"/>
                <a:sym typeface="Calibri"/>
              </a:rPr>
              <a:t>IF</a:t>
            </a:r>
            <a:r>
              <a:rPr lang="pt-BR" sz="1800">
                <a:solidFill>
                  <a:srgbClr val="374151"/>
                </a:solidFill>
                <a:highlight>
                  <a:schemeClr val="lt1"/>
                </a:highlight>
                <a:latin typeface="Calibri"/>
                <a:ea typeface="Calibri"/>
                <a:cs typeface="Calibri"/>
                <a:sym typeface="Calibri"/>
              </a:rPr>
              <a:t>, SWITCH, AND, OR, NOT, TRUE, FALSE</a:t>
            </a:r>
            <a:endParaRPr sz="1800">
              <a:solidFill>
                <a:srgbClr val="374151"/>
              </a:solidFill>
              <a:highlight>
                <a:schemeClr val="lt1"/>
              </a:highlight>
              <a:latin typeface="Calibri"/>
              <a:ea typeface="Calibri"/>
              <a:cs typeface="Calibri"/>
              <a:sym typeface="Calibri"/>
            </a:endParaRPr>
          </a:p>
          <a:p>
            <a:pPr indent="-342900" lvl="0" marL="457200" rtl="0" algn="just">
              <a:lnSpc>
                <a:spcPct val="115000"/>
              </a:lnSpc>
              <a:spcBef>
                <a:spcPts val="0"/>
              </a:spcBef>
              <a:spcAft>
                <a:spcPts val="0"/>
              </a:spcAft>
              <a:buClr>
                <a:srgbClr val="374151"/>
              </a:buClr>
              <a:buSzPts val="1800"/>
              <a:buFont typeface="Calibri"/>
              <a:buChar char="●"/>
            </a:pPr>
            <a:r>
              <a:rPr lang="pt-BR" sz="1800">
                <a:solidFill>
                  <a:srgbClr val="374151"/>
                </a:solidFill>
                <a:highlight>
                  <a:schemeClr val="lt1"/>
                </a:highlight>
                <a:latin typeface="Calibri"/>
                <a:ea typeface="Calibri"/>
                <a:cs typeface="Calibri"/>
                <a:sym typeface="Calibri"/>
              </a:rPr>
              <a:t>Funções de análise de tabela: </a:t>
            </a:r>
            <a:r>
              <a:rPr b="1" lang="pt-BR" sz="1800">
                <a:solidFill>
                  <a:srgbClr val="374151"/>
                </a:solidFill>
                <a:highlight>
                  <a:schemeClr val="lt1"/>
                </a:highlight>
                <a:latin typeface="Calibri"/>
                <a:ea typeface="Calibri"/>
                <a:cs typeface="Calibri"/>
                <a:sym typeface="Calibri"/>
              </a:rPr>
              <a:t>FILTER</a:t>
            </a:r>
            <a:r>
              <a:rPr lang="pt-BR" sz="1800">
                <a:solidFill>
                  <a:srgbClr val="374151"/>
                </a:solidFill>
                <a:highlight>
                  <a:schemeClr val="lt1"/>
                </a:highlight>
                <a:latin typeface="Calibri"/>
                <a:ea typeface="Calibri"/>
                <a:cs typeface="Calibri"/>
                <a:sym typeface="Calibri"/>
              </a:rPr>
              <a:t>, SUMX, </a:t>
            </a:r>
            <a:r>
              <a:rPr b="1" lang="pt-BR" sz="1800">
                <a:solidFill>
                  <a:srgbClr val="374151"/>
                </a:solidFill>
                <a:highlight>
                  <a:schemeClr val="lt1"/>
                </a:highlight>
                <a:latin typeface="Calibri"/>
                <a:ea typeface="Calibri"/>
                <a:cs typeface="Calibri"/>
                <a:sym typeface="Calibri"/>
              </a:rPr>
              <a:t>CALCULATE</a:t>
            </a:r>
            <a:r>
              <a:rPr lang="pt-BR" sz="1800">
                <a:solidFill>
                  <a:srgbClr val="374151"/>
                </a:solidFill>
                <a:highlight>
                  <a:schemeClr val="lt1"/>
                </a:highlight>
                <a:latin typeface="Calibri"/>
                <a:ea typeface="Calibri"/>
                <a:cs typeface="Calibri"/>
                <a:sym typeface="Calibri"/>
              </a:rPr>
              <a:t>, COUNTROWS, </a:t>
            </a:r>
            <a:r>
              <a:rPr b="1" lang="pt-BR" sz="1800">
                <a:solidFill>
                  <a:srgbClr val="374151"/>
                </a:solidFill>
                <a:highlight>
                  <a:schemeClr val="lt1"/>
                </a:highlight>
                <a:latin typeface="Calibri"/>
                <a:ea typeface="Calibri"/>
                <a:cs typeface="Calibri"/>
                <a:sym typeface="Calibri"/>
              </a:rPr>
              <a:t>DISTINCTCOUNT</a:t>
            </a:r>
            <a:r>
              <a:rPr lang="pt-BR" sz="1800">
                <a:solidFill>
                  <a:srgbClr val="374151"/>
                </a:solidFill>
                <a:highlight>
                  <a:schemeClr val="lt1"/>
                </a:highlight>
                <a:latin typeface="Calibri"/>
                <a:ea typeface="Calibri"/>
                <a:cs typeface="Calibri"/>
                <a:sym typeface="Calibri"/>
              </a:rPr>
              <a:t>, RANKX, TOPN</a:t>
            </a:r>
            <a:endParaRPr sz="1800">
              <a:solidFill>
                <a:srgbClr val="374151"/>
              </a:solidFill>
              <a:latin typeface="Calibri"/>
              <a:ea typeface="Calibri"/>
              <a:cs typeface="Calibri"/>
              <a:sym typeface="Calibri"/>
            </a:endParaRPr>
          </a:p>
        </p:txBody>
      </p:sp>
      <p:sp>
        <p:nvSpPr>
          <p:cNvPr id="851" name="Google Shape;851;g3937d203302_0_693"/>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4 - Funções DAX</a:t>
            </a:r>
            <a:endParaRPr b="0" sz="2400">
              <a:latin typeface="Impact"/>
              <a:ea typeface="Impact"/>
              <a:cs typeface="Impact"/>
              <a:sym typeface="Impact"/>
            </a:endParaRPr>
          </a:p>
        </p:txBody>
      </p:sp>
      <p:pic>
        <p:nvPicPr>
          <p:cNvPr id="852" name="Google Shape;852;g3937d203302_0_693"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g3937d203302_0_700"/>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0" lang="pt-BR">
                <a:latin typeface="Impact"/>
                <a:ea typeface="Impact"/>
                <a:cs typeface="Impact"/>
                <a:sym typeface="Impact"/>
              </a:rPr>
              <a:t>Como usar as funções DAX</a:t>
            </a:r>
            <a:endParaRPr b="0">
              <a:latin typeface="Impact"/>
              <a:ea typeface="Impact"/>
              <a:cs typeface="Impact"/>
              <a:sym typeface="Impact"/>
            </a:endParaRPr>
          </a:p>
        </p:txBody>
      </p:sp>
      <p:sp>
        <p:nvSpPr>
          <p:cNvPr id="858" name="Google Shape;858;g3937d203302_0_700"/>
          <p:cNvSpPr txBox="1"/>
          <p:nvPr>
            <p:ph idx="1" type="body"/>
          </p:nvPr>
        </p:nvSpPr>
        <p:spPr>
          <a:xfrm>
            <a:off x="729450" y="1532901"/>
            <a:ext cx="8051100" cy="3519300"/>
          </a:xfrm>
          <a:prstGeom prst="rect">
            <a:avLst/>
          </a:prstGeom>
          <a:noFill/>
          <a:ln>
            <a:noFill/>
          </a:ln>
        </p:spPr>
        <p:txBody>
          <a:bodyPr anchorCtr="0" anchor="t" bIns="91425" lIns="91425" spcFirstLastPara="1" rIns="91425" wrap="square" tIns="91425">
            <a:normAutofit/>
          </a:bodyPr>
          <a:lstStyle/>
          <a:p>
            <a:pPr indent="0" lvl="0" marL="0" rtl="0" algn="just">
              <a:lnSpc>
                <a:spcPct val="200000"/>
              </a:lnSpc>
              <a:spcBef>
                <a:spcPts val="0"/>
              </a:spcBef>
              <a:spcAft>
                <a:spcPts val="0"/>
              </a:spcAft>
              <a:buSzPts val="1300"/>
              <a:buNone/>
            </a:pPr>
            <a:r>
              <a:rPr lang="pt-BR" sz="1200">
                <a:highlight>
                  <a:schemeClr val="lt1"/>
                </a:highlight>
                <a:latin typeface="Arial"/>
                <a:ea typeface="Arial"/>
                <a:cs typeface="Arial"/>
                <a:sym typeface="Arial"/>
              </a:rPr>
              <a:t>SUM: 			SUM(Tarefas[Horas])</a:t>
            </a:r>
            <a:endParaRPr sz="1200">
              <a:highlight>
                <a:schemeClr val="lt1"/>
              </a:highlight>
              <a:latin typeface="Arial"/>
              <a:ea typeface="Arial"/>
              <a:cs typeface="Arial"/>
              <a:sym typeface="Arial"/>
            </a:endParaRPr>
          </a:p>
          <a:p>
            <a:pPr indent="0" lvl="0" marL="0" rtl="0" algn="just">
              <a:lnSpc>
                <a:spcPct val="200000"/>
              </a:lnSpc>
              <a:spcBef>
                <a:spcPts val="0"/>
              </a:spcBef>
              <a:spcAft>
                <a:spcPts val="0"/>
              </a:spcAft>
              <a:buSzPts val="1300"/>
              <a:buNone/>
            </a:pPr>
            <a:r>
              <a:rPr lang="pt-BR" sz="1200">
                <a:highlight>
                  <a:schemeClr val="lt1"/>
                </a:highlight>
                <a:latin typeface="Arial"/>
                <a:ea typeface="Arial"/>
                <a:cs typeface="Arial"/>
                <a:sym typeface="Arial"/>
              </a:rPr>
              <a:t>AVERAGE:		</a:t>
            </a:r>
            <a:r>
              <a:rPr lang="pt-BR" sz="1200">
                <a:latin typeface="Arial"/>
                <a:ea typeface="Arial"/>
                <a:cs typeface="Arial"/>
                <a:sym typeface="Arial"/>
              </a:rPr>
              <a:t>AVERAGE(Tarefas[Horas])</a:t>
            </a:r>
            <a:endParaRPr sz="1200">
              <a:highlight>
                <a:schemeClr val="lt1"/>
              </a:highlight>
              <a:latin typeface="Arial"/>
              <a:ea typeface="Arial"/>
              <a:cs typeface="Arial"/>
              <a:sym typeface="Arial"/>
            </a:endParaRPr>
          </a:p>
          <a:p>
            <a:pPr indent="0" lvl="0" marL="0" rtl="0" algn="just">
              <a:lnSpc>
                <a:spcPct val="200000"/>
              </a:lnSpc>
              <a:spcBef>
                <a:spcPts val="0"/>
              </a:spcBef>
              <a:spcAft>
                <a:spcPts val="0"/>
              </a:spcAft>
              <a:buSzPts val="1300"/>
              <a:buNone/>
            </a:pPr>
            <a:r>
              <a:rPr lang="pt-BR" sz="1200">
                <a:highlight>
                  <a:schemeClr val="lt1"/>
                </a:highlight>
                <a:latin typeface="Arial"/>
                <a:ea typeface="Arial"/>
                <a:cs typeface="Arial"/>
                <a:sym typeface="Arial"/>
              </a:rPr>
              <a:t>MIN:		</a:t>
            </a:r>
            <a:r>
              <a:rPr lang="pt-BR" sz="1200">
                <a:latin typeface="Arial"/>
                <a:ea typeface="Arial"/>
                <a:cs typeface="Arial"/>
                <a:sym typeface="Arial"/>
              </a:rPr>
              <a:t>	MIN(Tarefas[Horas])</a:t>
            </a:r>
            <a:endParaRPr sz="1200">
              <a:highlight>
                <a:schemeClr val="lt1"/>
              </a:highlight>
              <a:latin typeface="Arial"/>
              <a:ea typeface="Arial"/>
              <a:cs typeface="Arial"/>
              <a:sym typeface="Arial"/>
            </a:endParaRPr>
          </a:p>
          <a:p>
            <a:pPr indent="0" lvl="0" marL="0" rtl="0" algn="just">
              <a:lnSpc>
                <a:spcPct val="200000"/>
              </a:lnSpc>
              <a:spcBef>
                <a:spcPts val="0"/>
              </a:spcBef>
              <a:spcAft>
                <a:spcPts val="0"/>
              </a:spcAft>
              <a:buSzPts val="1300"/>
              <a:buNone/>
            </a:pPr>
            <a:r>
              <a:rPr lang="pt-BR" sz="1200">
                <a:highlight>
                  <a:schemeClr val="lt1"/>
                </a:highlight>
                <a:latin typeface="Arial"/>
                <a:ea typeface="Arial"/>
                <a:cs typeface="Arial"/>
                <a:sym typeface="Arial"/>
              </a:rPr>
              <a:t>MAX:		</a:t>
            </a:r>
            <a:r>
              <a:rPr lang="pt-BR" sz="1200">
                <a:latin typeface="Arial"/>
                <a:ea typeface="Arial"/>
                <a:cs typeface="Arial"/>
                <a:sym typeface="Arial"/>
              </a:rPr>
              <a:t>	MAX(Tarefas[Horas])</a:t>
            </a:r>
            <a:endParaRPr sz="1200">
              <a:highlight>
                <a:schemeClr val="lt1"/>
              </a:highlight>
              <a:latin typeface="Arial"/>
              <a:ea typeface="Arial"/>
              <a:cs typeface="Arial"/>
              <a:sym typeface="Arial"/>
            </a:endParaRPr>
          </a:p>
          <a:p>
            <a:pPr indent="0" lvl="0" marL="0" rtl="0" algn="just">
              <a:lnSpc>
                <a:spcPct val="200000"/>
              </a:lnSpc>
              <a:spcBef>
                <a:spcPts val="0"/>
              </a:spcBef>
              <a:spcAft>
                <a:spcPts val="0"/>
              </a:spcAft>
              <a:buSzPts val="1300"/>
              <a:buNone/>
            </a:pPr>
            <a:r>
              <a:rPr lang="pt-BR" sz="1200">
                <a:highlight>
                  <a:schemeClr val="lt1"/>
                </a:highlight>
                <a:latin typeface="Arial"/>
                <a:ea typeface="Arial"/>
                <a:cs typeface="Arial"/>
                <a:sym typeface="Arial"/>
              </a:rPr>
              <a:t>COUNT:		</a:t>
            </a:r>
            <a:r>
              <a:rPr lang="pt-BR" sz="1200">
                <a:latin typeface="Arial"/>
                <a:ea typeface="Arial"/>
                <a:cs typeface="Arial"/>
                <a:sym typeface="Arial"/>
              </a:rPr>
              <a:t>COUNT(Tarefas[nomeTarefa)</a:t>
            </a:r>
            <a:endParaRPr sz="1200">
              <a:highlight>
                <a:schemeClr val="lt1"/>
              </a:highlight>
              <a:latin typeface="Arial"/>
              <a:ea typeface="Arial"/>
              <a:cs typeface="Arial"/>
              <a:sym typeface="Arial"/>
            </a:endParaRPr>
          </a:p>
          <a:p>
            <a:pPr indent="0" lvl="0" marL="0" rtl="0" algn="just">
              <a:lnSpc>
                <a:spcPct val="200000"/>
              </a:lnSpc>
              <a:spcBef>
                <a:spcPts val="0"/>
              </a:spcBef>
              <a:spcAft>
                <a:spcPts val="0"/>
              </a:spcAft>
              <a:buSzPts val="1300"/>
              <a:buNone/>
            </a:pPr>
            <a:r>
              <a:rPr lang="pt-BR" sz="1200">
                <a:highlight>
                  <a:schemeClr val="lt1"/>
                </a:highlight>
                <a:latin typeface="Arial"/>
                <a:ea typeface="Arial"/>
                <a:cs typeface="Arial"/>
                <a:sym typeface="Arial"/>
              </a:rPr>
              <a:t>CONCATENATE:	</a:t>
            </a:r>
            <a:r>
              <a:rPr lang="pt-BR" sz="1200">
                <a:latin typeface="Arial"/>
                <a:ea typeface="Arial"/>
                <a:cs typeface="Arial"/>
                <a:sym typeface="Arial"/>
              </a:rPr>
              <a:t>CONCATENATE(Funcionário [Nome], Projeto [Título])</a:t>
            </a:r>
            <a:endParaRPr sz="1200">
              <a:highlight>
                <a:schemeClr val="lt1"/>
              </a:highlight>
              <a:latin typeface="Arial"/>
              <a:ea typeface="Arial"/>
              <a:cs typeface="Arial"/>
              <a:sym typeface="Arial"/>
            </a:endParaRPr>
          </a:p>
          <a:p>
            <a:pPr indent="0" lvl="0" marL="0" rtl="0" algn="just">
              <a:lnSpc>
                <a:spcPct val="200000"/>
              </a:lnSpc>
              <a:spcBef>
                <a:spcPts val="0"/>
              </a:spcBef>
              <a:spcAft>
                <a:spcPts val="0"/>
              </a:spcAft>
              <a:buSzPts val="1300"/>
              <a:buNone/>
            </a:pPr>
            <a:r>
              <a:rPr lang="pt-BR" sz="1200">
                <a:highlight>
                  <a:schemeClr val="lt1"/>
                </a:highlight>
                <a:latin typeface="Arial"/>
                <a:ea typeface="Arial"/>
                <a:cs typeface="Arial"/>
                <a:sym typeface="Arial"/>
              </a:rPr>
              <a:t>IF:		</a:t>
            </a:r>
            <a:r>
              <a:rPr lang="pt-BR" sz="1200">
                <a:latin typeface="Arial"/>
                <a:ea typeface="Arial"/>
                <a:cs typeface="Arial"/>
                <a:sym typeface="Arial"/>
              </a:rPr>
              <a:t>	IF(Tarefas [Status] = “S”, “Sim”, “Não”)</a:t>
            </a:r>
            <a:endParaRPr sz="1200">
              <a:highlight>
                <a:schemeClr val="lt1"/>
              </a:highlight>
              <a:latin typeface="Arial"/>
              <a:ea typeface="Arial"/>
              <a:cs typeface="Arial"/>
              <a:sym typeface="Arial"/>
            </a:endParaRPr>
          </a:p>
          <a:p>
            <a:pPr indent="0" lvl="0" marL="0" rtl="0" algn="just">
              <a:lnSpc>
                <a:spcPct val="200000"/>
              </a:lnSpc>
              <a:spcBef>
                <a:spcPts val="0"/>
              </a:spcBef>
              <a:spcAft>
                <a:spcPts val="0"/>
              </a:spcAft>
              <a:buSzPts val="1300"/>
              <a:buNone/>
            </a:pPr>
            <a:r>
              <a:rPr lang="pt-BR" sz="1200">
                <a:highlight>
                  <a:schemeClr val="lt1"/>
                </a:highlight>
                <a:latin typeface="Arial"/>
                <a:ea typeface="Arial"/>
                <a:cs typeface="Arial"/>
                <a:sym typeface="Arial"/>
              </a:rPr>
              <a:t>CALCULATE:	</a:t>
            </a:r>
            <a:r>
              <a:rPr lang="pt-BR" sz="1200">
                <a:latin typeface="Arial"/>
                <a:ea typeface="Arial"/>
                <a:cs typeface="Arial"/>
                <a:sym typeface="Arial"/>
              </a:rPr>
              <a:t>CALCULATE</a:t>
            </a:r>
            <a:r>
              <a:rPr lang="pt-BR" sz="1200">
                <a:solidFill>
                  <a:srgbClr val="FF0000"/>
                </a:solidFill>
                <a:latin typeface="Arial"/>
                <a:ea typeface="Arial"/>
                <a:cs typeface="Arial"/>
                <a:sym typeface="Arial"/>
              </a:rPr>
              <a:t>(</a:t>
            </a:r>
            <a:r>
              <a:rPr lang="pt-BR" sz="1200">
                <a:latin typeface="Arial"/>
                <a:ea typeface="Arial"/>
                <a:cs typeface="Arial"/>
                <a:sym typeface="Arial"/>
              </a:rPr>
              <a:t>SUM</a:t>
            </a:r>
            <a:r>
              <a:rPr lang="pt-BR" sz="1200">
                <a:solidFill>
                  <a:srgbClr val="9900FF"/>
                </a:solidFill>
                <a:latin typeface="Arial"/>
                <a:ea typeface="Arial"/>
                <a:cs typeface="Arial"/>
                <a:sym typeface="Arial"/>
              </a:rPr>
              <a:t>(</a:t>
            </a:r>
            <a:r>
              <a:rPr lang="pt-BR" sz="1200">
                <a:latin typeface="Arial"/>
                <a:ea typeface="Arial"/>
                <a:cs typeface="Arial"/>
                <a:sym typeface="Arial"/>
              </a:rPr>
              <a:t>Tarefas [Horas]</a:t>
            </a:r>
            <a:r>
              <a:rPr lang="pt-BR" sz="1200">
                <a:solidFill>
                  <a:srgbClr val="9900FF"/>
                </a:solidFill>
                <a:latin typeface="Arial"/>
                <a:ea typeface="Arial"/>
                <a:cs typeface="Arial"/>
                <a:sym typeface="Arial"/>
              </a:rPr>
              <a:t>)</a:t>
            </a:r>
            <a:r>
              <a:rPr lang="pt-BR" sz="1200">
                <a:latin typeface="Arial"/>
                <a:ea typeface="Arial"/>
                <a:cs typeface="Arial"/>
                <a:sym typeface="Arial"/>
              </a:rPr>
              <a:t>, Projeto[Título] = “IA”</a:t>
            </a:r>
            <a:r>
              <a:rPr lang="pt-BR" sz="1200">
                <a:solidFill>
                  <a:srgbClr val="FF0000"/>
                </a:solidFill>
                <a:latin typeface="Arial"/>
                <a:ea typeface="Arial"/>
                <a:cs typeface="Arial"/>
                <a:sym typeface="Arial"/>
              </a:rPr>
              <a:t>)</a:t>
            </a:r>
            <a:endParaRPr sz="1200">
              <a:solidFill>
                <a:srgbClr val="FF0000"/>
              </a:solidFill>
              <a:latin typeface="Arial"/>
              <a:ea typeface="Arial"/>
              <a:cs typeface="Arial"/>
              <a:sym typeface="Arial"/>
            </a:endParaRPr>
          </a:p>
          <a:p>
            <a:pPr indent="0" lvl="0" marL="0" rtl="0" algn="just">
              <a:lnSpc>
                <a:spcPct val="200000"/>
              </a:lnSpc>
              <a:spcBef>
                <a:spcPts val="0"/>
              </a:spcBef>
              <a:spcAft>
                <a:spcPts val="0"/>
              </a:spcAft>
              <a:buSzPts val="1300"/>
              <a:buNone/>
            </a:pPr>
            <a:r>
              <a:rPr b="1" lang="pt-BR" sz="1600">
                <a:solidFill>
                  <a:srgbClr val="FF0000"/>
                </a:solidFill>
                <a:latin typeface="Arial"/>
                <a:ea typeface="Arial"/>
                <a:cs typeface="Arial"/>
                <a:sym typeface="Arial"/>
              </a:rPr>
              <a:t>Ao utilizar uma função DAX, sempre usamos o nome da tabela + nome da coluna</a:t>
            </a:r>
            <a:endParaRPr b="1" sz="1600">
              <a:solidFill>
                <a:srgbClr val="FF0000"/>
              </a:solidFill>
              <a:latin typeface="Arial"/>
              <a:ea typeface="Arial"/>
              <a:cs typeface="Arial"/>
              <a:sym typeface="Arial"/>
            </a:endParaRPr>
          </a:p>
        </p:txBody>
      </p:sp>
      <p:sp>
        <p:nvSpPr>
          <p:cNvPr id="859" name="Google Shape;859;g3937d203302_0_700"/>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4 - Funções DAX</a:t>
            </a:r>
            <a:endParaRPr b="0" sz="2400">
              <a:latin typeface="Impact"/>
              <a:ea typeface="Impact"/>
              <a:cs typeface="Impact"/>
              <a:sym typeface="Impact"/>
            </a:endParaRPr>
          </a:p>
        </p:txBody>
      </p:sp>
      <p:pic>
        <p:nvPicPr>
          <p:cNvPr id="860" name="Google Shape;860;g3937d203302_0_700"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g3937d203302_0_707"/>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51586"/>
              <a:buNone/>
            </a:pPr>
            <a:r>
              <a:rPr lang="pt-BR">
                <a:latin typeface="Impact"/>
                <a:ea typeface="Impact"/>
                <a:cs typeface="Impact"/>
                <a:sym typeface="Impact"/>
              </a:rPr>
              <a:t>KPI -</a:t>
            </a:r>
            <a:r>
              <a:rPr lang="pt-BR" sz="2550">
                <a:highlight>
                  <a:schemeClr val="lt1"/>
                </a:highlight>
                <a:latin typeface="Impact"/>
                <a:ea typeface="Impact"/>
                <a:cs typeface="Impact"/>
                <a:sym typeface="Impact"/>
              </a:rPr>
              <a:t> </a:t>
            </a:r>
            <a:r>
              <a:rPr b="0" lang="pt-BR" sz="2550">
                <a:solidFill>
                  <a:srgbClr val="374151"/>
                </a:solidFill>
                <a:highlight>
                  <a:schemeClr val="lt1"/>
                </a:highlight>
                <a:latin typeface="Impact"/>
                <a:ea typeface="Impact"/>
                <a:cs typeface="Impact"/>
                <a:sym typeface="Impact"/>
              </a:rPr>
              <a:t>Key Performance Indicators</a:t>
            </a:r>
            <a:endParaRPr sz="2550">
              <a:highlight>
                <a:schemeClr val="lt1"/>
              </a:highlight>
              <a:latin typeface="Impact"/>
              <a:ea typeface="Impact"/>
              <a:cs typeface="Impact"/>
              <a:sym typeface="Impact"/>
            </a:endParaRPr>
          </a:p>
        </p:txBody>
      </p:sp>
      <p:sp>
        <p:nvSpPr>
          <p:cNvPr id="866" name="Google Shape;866;g3937d203302_0_707"/>
          <p:cNvSpPr txBox="1"/>
          <p:nvPr>
            <p:ph idx="1" type="body"/>
          </p:nvPr>
        </p:nvSpPr>
        <p:spPr>
          <a:xfrm>
            <a:off x="729450" y="1318400"/>
            <a:ext cx="8051100" cy="3547500"/>
          </a:xfrm>
          <a:prstGeom prst="rect">
            <a:avLst/>
          </a:prstGeom>
          <a:noFill/>
          <a:ln>
            <a:noFill/>
          </a:ln>
        </p:spPr>
        <p:txBody>
          <a:bodyPr anchorCtr="0" anchor="t" bIns="91425" lIns="91425" spcFirstLastPara="1" rIns="91425" wrap="square" tIns="91425">
            <a:normAutofit lnSpcReduction="10000"/>
          </a:bodyPr>
          <a:lstStyle/>
          <a:p>
            <a:pPr indent="0" lvl="0" marL="0" rtl="0" algn="just">
              <a:lnSpc>
                <a:spcPct val="200000"/>
              </a:lnSpc>
              <a:spcBef>
                <a:spcPts val="0"/>
              </a:spcBef>
              <a:spcAft>
                <a:spcPts val="0"/>
              </a:spcAft>
              <a:buSzPts val="1300"/>
              <a:buNone/>
            </a:pPr>
            <a:r>
              <a:rPr b="1" lang="pt-BR" sz="1600">
                <a:solidFill>
                  <a:srgbClr val="374151"/>
                </a:solidFill>
                <a:highlight>
                  <a:schemeClr val="lt1"/>
                </a:highlight>
                <a:latin typeface="Calibri"/>
                <a:ea typeface="Calibri"/>
                <a:cs typeface="Calibri"/>
                <a:sym typeface="Calibri"/>
              </a:rPr>
              <a:t>O que são KPIs?</a:t>
            </a:r>
            <a:endParaRPr b="1" sz="1600">
              <a:solidFill>
                <a:srgbClr val="374151"/>
              </a:solidFill>
              <a:highlight>
                <a:schemeClr val="lt1"/>
              </a:highlight>
              <a:latin typeface="Calibri"/>
              <a:ea typeface="Calibri"/>
              <a:cs typeface="Calibri"/>
              <a:sym typeface="Calibri"/>
            </a:endParaRPr>
          </a:p>
          <a:p>
            <a:pPr indent="0" lvl="0" marL="0" rtl="0" algn="just">
              <a:lnSpc>
                <a:spcPct val="110000"/>
              </a:lnSpc>
              <a:spcBef>
                <a:spcPts val="0"/>
              </a:spcBef>
              <a:spcAft>
                <a:spcPts val="0"/>
              </a:spcAft>
              <a:buSzPts val="1300"/>
              <a:buNone/>
            </a:pPr>
            <a:r>
              <a:rPr lang="pt-BR" sz="1600">
                <a:solidFill>
                  <a:srgbClr val="374151"/>
                </a:solidFill>
                <a:highlight>
                  <a:schemeClr val="lt1"/>
                </a:highlight>
                <a:latin typeface="Calibri"/>
                <a:ea typeface="Calibri"/>
                <a:cs typeface="Calibri"/>
                <a:sym typeface="Calibri"/>
              </a:rPr>
              <a:t>Indicadores Chave de Performance são usados para medir e monitorar o desempenho de métricas-chave em relação a metas ou valores de referência estabelecidos, são elementos visuais que fornecem uma representação resumida de uma métrica. </a:t>
            </a:r>
            <a:endParaRPr sz="1600">
              <a:solidFill>
                <a:srgbClr val="374151"/>
              </a:solidFill>
              <a:highlight>
                <a:schemeClr val="lt1"/>
              </a:highlight>
              <a:latin typeface="Calibri"/>
              <a:ea typeface="Calibri"/>
              <a:cs typeface="Calibri"/>
              <a:sym typeface="Calibri"/>
            </a:endParaRPr>
          </a:p>
          <a:p>
            <a:pPr indent="0" lvl="0" marL="0" rtl="0" algn="just">
              <a:lnSpc>
                <a:spcPct val="110000"/>
              </a:lnSpc>
              <a:spcBef>
                <a:spcPts val="0"/>
              </a:spcBef>
              <a:spcAft>
                <a:spcPts val="0"/>
              </a:spcAft>
              <a:buSzPts val="1300"/>
              <a:buNone/>
            </a:pPr>
            <a:r>
              <a:t/>
            </a:r>
            <a:endParaRPr sz="1600">
              <a:solidFill>
                <a:srgbClr val="374151"/>
              </a:solidFill>
              <a:highlight>
                <a:schemeClr val="lt1"/>
              </a:highlight>
              <a:latin typeface="Calibri"/>
              <a:ea typeface="Calibri"/>
              <a:cs typeface="Calibri"/>
              <a:sym typeface="Calibri"/>
            </a:endParaRPr>
          </a:p>
          <a:p>
            <a:pPr indent="0" lvl="0" marL="0" rtl="0" algn="just">
              <a:lnSpc>
                <a:spcPct val="200000"/>
              </a:lnSpc>
              <a:spcBef>
                <a:spcPts val="0"/>
              </a:spcBef>
              <a:spcAft>
                <a:spcPts val="0"/>
              </a:spcAft>
              <a:buSzPts val="1300"/>
              <a:buNone/>
            </a:pPr>
            <a:r>
              <a:rPr b="1" lang="pt-BR" sz="1600">
                <a:solidFill>
                  <a:srgbClr val="374151"/>
                </a:solidFill>
                <a:highlight>
                  <a:schemeClr val="lt1"/>
                </a:highlight>
                <a:latin typeface="Calibri"/>
                <a:ea typeface="Calibri"/>
                <a:cs typeface="Calibri"/>
                <a:sym typeface="Calibri"/>
              </a:rPr>
              <a:t>Quais são os principais parâmetros para definir um KPI?</a:t>
            </a:r>
            <a:endParaRPr b="1" sz="1600">
              <a:solidFill>
                <a:srgbClr val="374151"/>
              </a:solidFill>
              <a:highlight>
                <a:schemeClr val="lt1"/>
              </a:highlight>
              <a:latin typeface="Calibri"/>
              <a:ea typeface="Calibri"/>
              <a:cs typeface="Calibri"/>
              <a:sym typeface="Calibri"/>
            </a:endParaRPr>
          </a:p>
          <a:p>
            <a:pPr indent="-304800" lvl="0" marL="457200" rtl="0" algn="just">
              <a:lnSpc>
                <a:spcPct val="110000"/>
              </a:lnSpc>
              <a:spcBef>
                <a:spcPts val="0"/>
              </a:spcBef>
              <a:spcAft>
                <a:spcPts val="0"/>
              </a:spcAft>
              <a:buClr>
                <a:srgbClr val="374151"/>
              </a:buClr>
              <a:buSzPts val="1200"/>
              <a:buFont typeface="Arial"/>
              <a:buChar char="●"/>
            </a:pPr>
            <a:r>
              <a:rPr lang="pt-BR" sz="1600">
                <a:solidFill>
                  <a:srgbClr val="374151"/>
                </a:solidFill>
                <a:highlight>
                  <a:schemeClr val="lt1"/>
                </a:highlight>
                <a:latin typeface="Calibri"/>
                <a:ea typeface="Calibri"/>
                <a:cs typeface="Calibri"/>
                <a:sym typeface="Calibri"/>
              </a:rPr>
              <a:t>Valor atual da medida</a:t>
            </a:r>
            <a:endParaRPr sz="1600">
              <a:solidFill>
                <a:srgbClr val="374151"/>
              </a:solidFill>
              <a:highlight>
                <a:schemeClr val="lt1"/>
              </a:highlight>
              <a:latin typeface="Calibri"/>
              <a:ea typeface="Calibri"/>
              <a:cs typeface="Calibri"/>
              <a:sym typeface="Calibri"/>
            </a:endParaRPr>
          </a:p>
          <a:p>
            <a:pPr indent="-304800" lvl="0" marL="457200" rtl="0" algn="just">
              <a:lnSpc>
                <a:spcPct val="110000"/>
              </a:lnSpc>
              <a:spcBef>
                <a:spcPts val="0"/>
              </a:spcBef>
              <a:spcAft>
                <a:spcPts val="0"/>
              </a:spcAft>
              <a:buClr>
                <a:srgbClr val="374151"/>
              </a:buClr>
              <a:buSzPts val="1200"/>
              <a:buFont typeface="Arial"/>
              <a:buChar char="●"/>
            </a:pPr>
            <a:r>
              <a:rPr lang="pt-BR" sz="1600">
                <a:solidFill>
                  <a:srgbClr val="374151"/>
                </a:solidFill>
                <a:highlight>
                  <a:schemeClr val="lt1"/>
                </a:highlight>
                <a:latin typeface="Calibri"/>
                <a:ea typeface="Calibri"/>
                <a:cs typeface="Calibri"/>
                <a:sym typeface="Calibri"/>
              </a:rPr>
              <a:t>Meta ou valor de referência </a:t>
            </a:r>
            <a:endParaRPr sz="1600">
              <a:solidFill>
                <a:srgbClr val="374151"/>
              </a:solidFill>
              <a:highlight>
                <a:schemeClr val="lt1"/>
              </a:highlight>
              <a:latin typeface="Calibri"/>
              <a:ea typeface="Calibri"/>
              <a:cs typeface="Calibri"/>
              <a:sym typeface="Calibri"/>
            </a:endParaRPr>
          </a:p>
          <a:p>
            <a:pPr indent="-304800" lvl="0" marL="457200" rtl="0" algn="just">
              <a:lnSpc>
                <a:spcPct val="110000"/>
              </a:lnSpc>
              <a:spcBef>
                <a:spcPts val="0"/>
              </a:spcBef>
              <a:spcAft>
                <a:spcPts val="0"/>
              </a:spcAft>
              <a:buClr>
                <a:srgbClr val="374151"/>
              </a:buClr>
              <a:buSzPts val="1200"/>
              <a:buFont typeface="Arial"/>
              <a:buChar char="●"/>
            </a:pPr>
            <a:r>
              <a:rPr lang="pt-BR" sz="1600">
                <a:solidFill>
                  <a:srgbClr val="374151"/>
                </a:solidFill>
                <a:highlight>
                  <a:schemeClr val="lt1"/>
                </a:highlight>
                <a:latin typeface="Calibri"/>
                <a:ea typeface="Calibri"/>
                <a:cs typeface="Calibri"/>
                <a:sym typeface="Calibri"/>
              </a:rPr>
              <a:t>uma representação visual que indica o estado do desempenho em relação à meta (por exemplo, com cores ou símbolos).</a:t>
            </a:r>
            <a:endParaRPr sz="1600">
              <a:solidFill>
                <a:srgbClr val="374151"/>
              </a:solidFill>
              <a:highlight>
                <a:schemeClr val="lt1"/>
              </a:highlight>
              <a:latin typeface="Calibri"/>
              <a:ea typeface="Calibri"/>
              <a:cs typeface="Calibri"/>
              <a:sym typeface="Calibri"/>
            </a:endParaRPr>
          </a:p>
          <a:p>
            <a:pPr indent="-330200" lvl="0" marL="457200" rtl="0" algn="just">
              <a:lnSpc>
                <a:spcPct val="110000"/>
              </a:lnSpc>
              <a:spcBef>
                <a:spcPts val="0"/>
              </a:spcBef>
              <a:spcAft>
                <a:spcPts val="0"/>
              </a:spcAft>
              <a:buClr>
                <a:srgbClr val="374151"/>
              </a:buClr>
              <a:buSzPts val="1600"/>
              <a:buFont typeface="Calibri"/>
              <a:buChar char="●"/>
            </a:pPr>
            <a:r>
              <a:rPr lang="pt-BR" sz="1600">
                <a:solidFill>
                  <a:srgbClr val="374151"/>
                </a:solidFill>
                <a:highlight>
                  <a:schemeClr val="lt1"/>
                </a:highlight>
                <a:latin typeface="Calibri"/>
                <a:ea typeface="Calibri"/>
                <a:cs typeface="Calibri"/>
                <a:sym typeface="Calibri"/>
              </a:rPr>
              <a:t>Data ou período da análise </a:t>
            </a:r>
            <a:endParaRPr sz="1600">
              <a:solidFill>
                <a:srgbClr val="374151"/>
              </a:solidFill>
              <a:highlight>
                <a:schemeClr val="lt1"/>
              </a:highlight>
              <a:latin typeface="Calibri"/>
              <a:ea typeface="Calibri"/>
              <a:cs typeface="Calibri"/>
              <a:sym typeface="Calibri"/>
            </a:endParaRPr>
          </a:p>
        </p:txBody>
      </p:sp>
      <p:sp>
        <p:nvSpPr>
          <p:cNvPr id="867" name="Google Shape;867;g3937d203302_0_707"/>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4 - Funções DAX</a:t>
            </a:r>
            <a:endParaRPr b="0" sz="2400">
              <a:latin typeface="Impact"/>
              <a:ea typeface="Impact"/>
              <a:cs typeface="Impact"/>
              <a:sym typeface="Impact"/>
            </a:endParaRPr>
          </a:p>
        </p:txBody>
      </p:sp>
      <p:pic>
        <p:nvPicPr>
          <p:cNvPr id="868" name="Google Shape;868;g3937d203302_0_707" title="SENAI_São_Paulo_logo.png"/>
          <p:cNvPicPr preferRelativeResize="0"/>
          <p:nvPr/>
        </p:nvPicPr>
        <p:blipFill rotWithShape="1">
          <a:blip r:embed="rId3">
            <a:alphaModFix/>
          </a:blip>
          <a:srcRect b="0" l="0" r="0" t="0"/>
          <a:stretch/>
        </p:blipFill>
        <p:spPr>
          <a:xfrm>
            <a:off x="7629275" y="63340"/>
            <a:ext cx="1439427" cy="36899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937d203302_0_714"/>
          <p:cNvSpPr txBox="1"/>
          <p:nvPr>
            <p:ph type="title"/>
          </p:nvPr>
        </p:nvSpPr>
        <p:spPr>
          <a:xfrm>
            <a:off x="729450" y="571725"/>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51586"/>
              <a:buNone/>
            </a:pPr>
            <a:r>
              <a:rPr b="0" lang="pt-BR">
                <a:latin typeface="Impact"/>
                <a:ea typeface="Impact"/>
                <a:cs typeface="Impact"/>
                <a:sym typeface="Impact"/>
              </a:rPr>
              <a:t>Exemplo simples de KPI</a:t>
            </a:r>
            <a:endParaRPr b="0" sz="2550">
              <a:highlight>
                <a:schemeClr val="lt1"/>
              </a:highlight>
              <a:latin typeface="Impact"/>
              <a:ea typeface="Impact"/>
              <a:cs typeface="Impact"/>
              <a:sym typeface="Impact"/>
            </a:endParaRPr>
          </a:p>
        </p:txBody>
      </p:sp>
      <p:sp>
        <p:nvSpPr>
          <p:cNvPr id="874" name="Google Shape;874;g3937d203302_0_714"/>
          <p:cNvSpPr txBox="1"/>
          <p:nvPr/>
        </p:nvSpPr>
        <p:spPr>
          <a:xfrm>
            <a:off x="729450" y="4202475"/>
            <a:ext cx="75981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pt-BR" sz="1600" u="none" cap="none" strike="noStrike">
                <a:solidFill>
                  <a:srgbClr val="FF0000"/>
                </a:solidFill>
                <a:latin typeface="Calibri"/>
                <a:ea typeface="Calibri"/>
                <a:cs typeface="Calibri"/>
                <a:sym typeface="Calibri"/>
              </a:rPr>
              <a:t>* </a:t>
            </a:r>
            <a:r>
              <a:rPr b="1" i="0" lang="pt-BR" sz="1600" u="none" cap="none" strike="noStrike">
                <a:solidFill>
                  <a:srgbClr val="FF0000"/>
                </a:solidFill>
                <a:latin typeface="Calibri"/>
                <a:ea typeface="Calibri"/>
                <a:cs typeface="Calibri"/>
                <a:sym typeface="Calibri"/>
              </a:rPr>
              <a:t>Conforme a base de dados vai sendo atualizada, os indicadores também são atualizados.</a:t>
            </a:r>
            <a:endParaRPr b="1" i="0" sz="1600" u="none" cap="none" strike="noStrike">
              <a:solidFill>
                <a:srgbClr val="FF0000"/>
              </a:solidFill>
              <a:latin typeface="Calibri"/>
              <a:ea typeface="Calibri"/>
              <a:cs typeface="Calibri"/>
              <a:sym typeface="Calibri"/>
            </a:endParaRPr>
          </a:p>
        </p:txBody>
      </p:sp>
      <p:pic>
        <p:nvPicPr>
          <p:cNvPr id="875" name="Google Shape;875;g3937d203302_0_714"/>
          <p:cNvPicPr preferRelativeResize="0"/>
          <p:nvPr/>
        </p:nvPicPr>
        <p:blipFill rotWithShape="1">
          <a:blip r:embed="rId3">
            <a:alphaModFix/>
          </a:blip>
          <a:srcRect b="0" l="0" r="0" t="0"/>
          <a:stretch/>
        </p:blipFill>
        <p:spPr>
          <a:xfrm>
            <a:off x="816957" y="1411725"/>
            <a:ext cx="4067981" cy="2790750"/>
          </a:xfrm>
          <a:prstGeom prst="rect">
            <a:avLst/>
          </a:prstGeom>
          <a:noFill/>
          <a:ln>
            <a:noFill/>
          </a:ln>
        </p:spPr>
      </p:pic>
      <p:sp>
        <p:nvSpPr>
          <p:cNvPr id="876" name="Google Shape;876;g3937d203302_0_714"/>
          <p:cNvSpPr txBox="1"/>
          <p:nvPr/>
        </p:nvSpPr>
        <p:spPr>
          <a:xfrm>
            <a:off x="5509825" y="2269950"/>
            <a:ext cx="29904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0" i="0" lang="pt-BR" sz="1900" u="none" cap="none" strike="noStrike">
                <a:solidFill>
                  <a:schemeClr val="accent1"/>
                </a:solidFill>
                <a:latin typeface="Lato"/>
                <a:ea typeface="Lato"/>
                <a:cs typeface="Lato"/>
                <a:sym typeface="Lato"/>
              </a:rPr>
              <a:t>Meta: R$8.000,00</a:t>
            </a:r>
            <a:endParaRPr b="0" i="0" sz="1900" u="none" cap="none" strike="noStrike">
              <a:solidFill>
                <a:schemeClr val="accent1"/>
              </a:solidFill>
              <a:latin typeface="Lato"/>
              <a:ea typeface="Lato"/>
              <a:cs typeface="Lato"/>
              <a:sym typeface="Lato"/>
            </a:endParaRPr>
          </a:p>
          <a:p>
            <a:pPr indent="0" lvl="0" marL="0" marR="0" rtl="0" algn="l">
              <a:lnSpc>
                <a:spcPct val="100000"/>
              </a:lnSpc>
              <a:spcBef>
                <a:spcPts val="0"/>
              </a:spcBef>
              <a:spcAft>
                <a:spcPts val="0"/>
              </a:spcAft>
              <a:buClr>
                <a:srgbClr val="000000"/>
              </a:buClr>
              <a:buSzPts val="1900"/>
              <a:buFont typeface="Arial"/>
              <a:buNone/>
            </a:pPr>
            <a:r>
              <a:rPr b="0" i="0" lang="pt-BR" sz="1900" u="none" cap="none" strike="noStrike">
                <a:solidFill>
                  <a:schemeClr val="accent1"/>
                </a:solidFill>
                <a:latin typeface="Lato"/>
                <a:ea typeface="Lato"/>
                <a:cs typeface="Lato"/>
                <a:sym typeface="Lato"/>
              </a:rPr>
              <a:t>Período: Trimestral</a:t>
            </a:r>
            <a:endParaRPr b="0" i="0" sz="1900" u="none" cap="none" strike="noStrike">
              <a:solidFill>
                <a:schemeClr val="accent1"/>
              </a:solidFill>
              <a:latin typeface="Lato"/>
              <a:ea typeface="Lato"/>
              <a:cs typeface="Lato"/>
              <a:sym typeface="Lato"/>
            </a:endParaRPr>
          </a:p>
        </p:txBody>
      </p:sp>
      <p:sp>
        <p:nvSpPr>
          <p:cNvPr id="877" name="Google Shape;877;g3937d203302_0_714"/>
          <p:cNvSpPr txBox="1"/>
          <p:nvPr>
            <p:ph type="title"/>
          </p:nvPr>
        </p:nvSpPr>
        <p:spPr>
          <a:xfrm>
            <a:off x="0" y="0"/>
            <a:ext cx="38424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0"/>
              <a:buNone/>
            </a:pPr>
            <a:r>
              <a:rPr b="0" lang="pt-BR" sz="2400">
                <a:latin typeface="Impact"/>
                <a:ea typeface="Impact"/>
                <a:cs typeface="Impact"/>
                <a:sym typeface="Impact"/>
              </a:rPr>
              <a:t>Módulo 4 - Funções DAX</a:t>
            </a:r>
            <a:endParaRPr b="0" sz="2400">
              <a:latin typeface="Impact"/>
              <a:ea typeface="Impact"/>
              <a:cs typeface="Impact"/>
              <a:sym typeface="Impact"/>
            </a:endParaRPr>
          </a:p>
        </p:txBody>
      </p:sp>
      <p:pic>
        <p:nvPicPr>
          <p:cNvPr id="878" name="Google Shape;878;g3937d203302_0_714" title="SENAI_São_Paulo_logo.png"/>
          <p:cNvPicPr preferRelativeResize="0"/>
          <p:nvPr/>
        </p:nvPicPr>
        <p:blipFill rotWithShape="1">
          <a:blip r:embed="rId4">
            <a:alphaModFix/>
          </a:blip>
          <a:srcRect b="0" l="0" r="0" t="0"/>
          <a:stretch/>
        </p:blipFill>
        <p:spPr>
          <a:xfrm>
            <a:off x="7629275" y="63340"/>
            <a:ext cx="1439427" cy="36899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