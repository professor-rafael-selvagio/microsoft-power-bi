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318" r:id="rId3"/>
    <p:sldId id="316" r:id="rId4"/>
    <p:sldId id="257" r:id="rId5"/>
    <p:sldId id="258" r:id="rId6"/>
    <p:sldId id="31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82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630626419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630626419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630626419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630626419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f630626419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f630626419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630626419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f630626419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630626419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f630626419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630626419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630626419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6473a5e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6473a5e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f63062641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f63062641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f630626419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f630626419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63062641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f63062641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6306264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f6306264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63062641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f63062641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63062641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63062641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63062641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63062641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6306264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63062641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63062641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f63062641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63062641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f63062641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630626419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f630626419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63062641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63062641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630626419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630626419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6306264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f630626419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f63062641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f63062641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630626419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f630626419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pt-br/dax/dax-overview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owerbi.microsoft.com/en-us/blog/power-bi-august-2024-feature-summary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ETL process DataChannel">
            <a:extLst>
              <a:ext uri="{FF2B5EF4-FFF2-40B4-BE49-F238E27FC236}">
                <a16:creationId xmlns:a16="http://schemas.microsoft.com/office/drawing/2014/main" id="{08EA0676-649D-4B8B-B8AF-9D793C91B2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ETL process DataChannel">
            <a:extLst>
              <a:ext uri="{FF2B5EF4-FFF2-40B4-BE49-F238E27FC236}">
                <a16:creationId xmlns:a16="http://schemas.microsoft.com/office/drawing/2014/main" id="{8357D39E-5734-4B52-9854-E1195628FD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72356" y="-227894"/>
            <a:ext cx="5463822" cy="5463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9B91995-A01E-419E-970D-F1C30EA40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7" y="961441"/>
            <a:ext cx="8764223" cy="418205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5F879D8-340F-483A-BF16-E91A41F26AB5}"/>
              </a:ext>
            </a:extLst>
          </p:cNvPr>
          <p:cNvSpPr txBox="1"/>
          <p:nvPr/>
        </p:nvSpPr>
        <p:spPr>
          <a:xfrm>
            <a:off x="270932" y="470791"/>
            <a:ext cx="9072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EXTRAÇÃO, TRANSFORMAÇÃO DE DADOS</a:t>
            </a:r>
          </a:p>
        </p:txBody>
      </p:sp>
    </p:spTree>
    <p:extLst>
      <p:ext uri="{BB962C8B-B14F-4D97-AF65-F5344CB8AC3E}">
        <p14:creationId xmlns:p14="http://schemas.microsoft.com/office/powerpoint/2010/main" val="119139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C51F2-9E2A-E7E9-42EA-D9207EE5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sz="4000" dirty="0">
                <a:solidFill>
                  <a:srgbClr val="000000"/>
                </a:solidFill>
                <a:latin typeface="Segoe UI Semibold"/>
                <a:ea typeface="Segoe UI Semibold"/>
                <a:cs typeface="Segoe UI Semibold"/>
              </a:rPr>
              <a:t>Tarefas de um Analista de Dados</a:t>
            </a:r>
            <a:endParaRPr lang="pt-BR" sz="4000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63BDC9A-4871-E528-5540-A4C20F98935E}"/>
              </a:ext>
            </a:extLst>
          </p:cNvPr>
          <p:cNvGrpSpPr/>
          <p:nvPr/>
        </p:nvGrpSpPr>
        <p:grpSpPr>
          <a:xfrm>
            <a:off x="516911" y="2317824"/>
            <a:ext cx="2141586" cy="1943653"/>
            <a:chOff x="996" y="478593"/>
            <a:chExt cx="1943653" cy="1943653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31CF81D-A808-65C7-7648-0B94BD636030}"/>
                </a:ext>
              </a:extLst>
            </p:cNvPr>
            <p:cNvSpPr/>
            <p:nvPr/>
          </p:nvSpPr>
          <p:spPr>
            <a:xfrm>
              <a:off x="996" y="478593"/>
              <a:ext cx="1943653" cy="1943653"/>
            </a:xfrm>
            <a:prstGeom prst="ellipse">
              <a:avLst/>
            </a:prstGeom>
            <a:solidFill>
              <a:srgbClr val="7FADF3">
                <a:alpha val="50000"/>
              </a:srgbClr>
            </a:solidFill>
            <a:ln w="10795" cap="flat" cmpd="sng" algn="ctr"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prstDash val="solid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shade val="80000"/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Elipse 4">
              <a:extLst>
                <a:ext uri="{FF2B5EF4-FFF2-40B4-BE49-F238E27FC236}">
                  <a16:creationId xmlns:a16="http://schemas.microsoft.com/office/drawing/2014/main" id="{C5055D89-61B6-D6F0-173B-AEA12B22EB45}"/>
                </a:ext>
              </a:extLst>
            </p:cNvPr>
            <p:cNvSpPr txBox="1"/>
            <p:nvPr/>
          </p:nvSpPr>
          <p:spPr>
            <a:xfrm>
              <a:off x="285637" y="763234"/>
              <a:ext cx="1374371" cy="13743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600" b="0" i="0" strike="noStrike" kern="1200" cap="none" spc="0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Preparar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E7159C3-BA36-8243-7BF5-CBE1E783B77E}"/>
              </a:ext>
            </a:extLst>
          </p:cNvPr>
          <p:cNvGrpSpPr/>
          <p:nvPr/>
        </p:nvGrpSpPr>
        <p:grpSpPr>
          <a:xfrm>
            <a:off x="2039935" y="2317824"/>
            <a:ext cx="2141586" cy="1943653"/>
            <a:chOff x="1524020" y="478593"/>
            <a:chExt cx="1943653" cy="1943653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73965A97-2DAB-16CE-BD49-59AF47E61513}"/>
                </a:ext>
              </a:extLst>
            </p:cNvPr>
            <p:cNvSpPr/>
            <p:nvPr/>
          </p:nvSpPr>
          <p:spPr>
            <a:xfrm>
              <a:off x="1524020" y="478593"/>
              <a:ext cx="1943653" cy="1943653"/>
            </a:xfrm>
            <a:prstGeom prst="ellipse">
              <a:avLst/>
            </a:prstGeom>
            <a:solidFill>
              <a:srgbClr val="9FBCFF">
                <a:alpha val="50000"/>
              </a:srgbClr>
            </a:solidFill>
            <a:ln w="10795" cap="flat" cmpd="sng" algn="ctr"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prstDash val="solid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shade val="80000"/>
                <a:alpha val="50000"/>
                <a:hueOff val="105326"/>
                <a:satOff val="189"/>
                <a:lumOff val="12682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Elipse 6">
              <a:extLst>
                <a:ext uri="{FF2B5EF4-FFF2-40B4-BE49-F238E27FC236}">
                  <a16:creationId xmlns:a16="http://schemas.microsoft.com/office/drawing/2014/main" id="{0968DAA3-2AD0-89F3-78AA-39CD5A42EAB7}"/>
                </a:ext>
              </a:extLst>
            </p:cNvPr>
            <p:cNvSpPr txBox="1"/>
            <p:nvPr/>
          </p:nvSpPr>
          <p:spPr>
            <a:xfrm>
              <a:off x="1808661" y="763234"/>
              <a:ext cx="1374371" cy="13743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600" b="0" i="0" strike="noStrike" kern="1200" cap="none" spc="0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Modelar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7427151F-4C06-0B6B-393A-E1EFA8C148DE}"/>
              </a:ext>
            </a:extLst>
          </p:cNvPr>
          <p:cNvGrpSpPr/>
          <p:nvPr/>
        </p:nvGrpSpPr>
        <p:grpSpPr>
          <a:xfrm>
            <a:off x="3594857" y="2317824"/>
            <a:ext cx="2141586" cy="1943653"/>
            <a:chOff x="3078942" y="478593"/>
            <a:chExt cx="1943653" cy="1943653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8A8E13F0-E4FF-1983-F1D5-303133C95329}"/>
                </a:ext>
              </a:extLst>
            </p:cNvPr>
            <p:cNvSpPr/>
            <p:nvPr/>
          </p:nvSpPr>
          <p:spPr>
            <a:xfrm>
              <a:off x="3078942" y="478593"/>
              <a:ext cx="1943653" cy="1943653"/>
            </a:xfrm>
            <a:prstGeom prst="ellipse">
              <a:avLst/>
            </a:prstGeom>
            <a:solidFill>
              <a:srgbClr val="CBD6FF">
                <a:alpha val="50000"/>
              </a:srgbClr>
            </a:solidFill>
            <a:ln w="10795" cap="flat" cmpd="sng" algn="ctr"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prstDash val="solid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shade val="80000"/>
                <a:alpha val="50000"/>
                <a:hueOff val="210653"/>
                <a:satOff val="378"/>
                <a:lumOff val="25363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Elipse 8">
              <a:extLst>
                <a:ext uri="{FF2B5EF4-FFF2-40B4-BE49-F238E27FC236}">
                  <a16:creationId xmlns:a16="http://schemas.microsoft.com/office/drawing/2014/main" id="{C07AE058-7D3E-FC89-2760-E4C4FC9EF458}"/>
                </a:ext>
              </a:extLst>
            </p:cNvPr>
            <p:cNvSpPr txBox="1"/>
            <p:nvPr/>
          </p:nvSpPr>
          <p:spPr>
            <a:xfrm>
              <a:off x="3363583" y="763234"/>
              <a:ext cx="1374371" cy="13743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600" b="0" i="0" strike="noStrike" kern="1200" cap="none" spc="0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Visualizar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29F166C-E234-22F6-7DE6-E33ABC51F8E8}"/>
              </a:ext>
            </a:extLst>
          </p:cNvPr>
          <p:cNvGrpSpPr/>
          <p:nvPr/>
        </p:nvGrpSpPr>
        <p:grpSpPr>
          <a:xfrm>
            <a:off x="5149780" y="2317824"/>
            <a:ext cx="2141586" cy="1943653"/>
            <a:chOff x="4633865" y="478593"/>
            <a:chExt cx="1943653" cy="1943653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6D357452-9DF2-1759-ACF6-1B9DBFE877F8}"/>
                </a:ext>
              </a:extLst>
            </p:cNvPr>
            <p:cNvSpPr/>
            <p:nvPr/>
          </p:nvSpPr>
          <p:spPr>
            <a:xfrm>
              <a:off x="4633865" y="478593"/>
              <a:ext cx="1943653" cy="1943653"/>
            </a:xfrm>
            <a:prstGeom prst="ellipse">
              <a:avLst/>
            </a:prstGeom>
            <a:solidFill>
              <a:srgbClr val="CBD6FF">
                <a:alpha val="50000"/>
              </a:srgbClr>
            </a:solidFill>
            <a:ln w="10795" cap="flat" cmpd="sng" algn="ctr"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prstDash val="solid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shade val="80000"/>
                <a:alpha val="50000"/>
                <a:hueOff val="210653"/>
                <a:satOff val="378"/>
                <a:lumOff val="25363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Elipse 10">
              <a:extLst>
                <a:ext uri="{FF2B5EF4-FFF2-40B4-BE49-F238E27FC236}">
                  <a16:creationId xmlns:a16="http://schemas.microsoft.com/office/drawing/2014/main" id="{D37A1C03-AD1F-3713-B42E-88C38688F226}"/>
                </a:ext>
              </a:extLst>
            </p:cNvPr>
            <p:cNvSpPr txBox="1"/>
            <p:nvPr/>
          </p:nvSpPr>
          <p:spPr>
            <a:xfrm>
              <a:off x="4918506" y="763234"/>
              <a:ext cx="1374371" cy="13743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600" b="0" i="0" strike="noStrike" kern="1200" cap="none" spc="0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Analisar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EBD8D3EF-7EA4-825B-9887-40F3FBABE275}"/>
              </a:ext>
            </a:extLst>
          </p:cNvPr>
          <p:cNvGrpSpPr/>
          <p:nvPr/>
        </p:nvGrpSpPr>
        <p:grpSpPr>
          <a:xfrm>
            <a:off x="6704702" y="2317824"/>
            <a:ext cx="2141586" cy="1943653"/>
            <a:chOff x="6188787" y="478593"/>
            <a:chExt cx="1943653" cy="1943653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80260C2-53A0-18DA-9902-93A30BF6D252}"/>
                </a:ext>
              </a:extLst>
            </p:cNvPr>
            <p:cNvSpPr/>
            <p:nvPr/>
          </p:nvSpPr>
          <p:spPr>
            <a:xfrm>
              <a:off x="6188787" y="478593"/>
              <a:ext cx="1943653" cy="1943653"/>
            </a:xfrm>
            <a:prstGeom prst="ellipse">
              <a:avLst/>
            </a:prstGeom>
            <a:solidFill>
              <a:srgbClr val="9FBCFF">
                <a:alpha val="50000"/>
              </a:srgbClr>
            </a:solidFill>
            <a:ln w="10795" cap="flat" cmpd="sng" algn="ctr"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prstDash val="solid"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shade val="80000"/>
                <a:alpha val="50000"/>
                <a:hueOff val="105326"/>
                <a:satOff val="189"/>
                <a:lumOff val="12682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0" name="Elipse 12">
              <a:extLst>
                <a:ext uri="{FF2B5EF4-FFF2-40B4-BE49-F238E27FC236}">
                  <a16:creationId xmlns:a16="http://schemas.microsoft.com/office/drawing/2014/main" id="{6F3C425D-4C54-4C15-0024-0256158D9AB8}"/>
                </a:ext>
              </a:extLst>
            </p:cNvPr>
            <p:cNvSpPr txBox="1"/>
            <p:nvPr/>
          </p:nvSpPr>
          <p:spPr>
            <a:xfrm>
              <a:off x="6473428" y="763234"/>
              <a:ext cx="1374371" cy="13743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2600" b="0" i="0" strike="noStrike" kern="1200" cap="none" spc="0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Gerenciar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872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311700" y="1301827"/>
            <a:ext cx="8520600" cy="33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pt-BR" sz="6600" b="1" spc="-15" dirty="0">
                <a:solidFill>
                  <a:srgbClr val="5B0F00"/>
                </a:solidFill>
                <a:latin typeface="Calibri"/>
                <a:cs typeface="Calibri"/>
              </a:rPr>
              <a:t>D</a:t>
            </a:r>
            <a:r>
              <a:rPr lang="pt-BR" sz="6600" spc="-15" dirty="0">
                <a:solidFill>
                  <a:srgbClr val="5B0F00"/>
                </a:solidFill>
                <a:latin typeface="Calibri"/>
                <a:cs typeface="Calibri"/>
              </a:rPr>
              <a:t>ata</a:t>
            </a:r>
            <a:r>
              <a:rPr lang="pt-BR" sz="6600" spc="-10" dirty="0">
                <a:solidFill>
                  <a:srgbClr val="5B0F00"/>
                </a:solidFill>
                <a:latin typeface="Calibri"/>
                <a:cs typeface="Calibri"/>
              </a:rPr>
              <a:t> </a:t>
            </a:r>
            <a:r>
              <a:rPr lang="pt-BR" sz="6600" b="1" spc="-10" dirty="0" err="1">
                <a:solidFill>
                  <a:srgbClr val="5B0F00"/>
                </a:solidFill>
                <a:latin typeface="Calibri"/>
                <a:cs typeface="Calibri"/>
              </a:rPr>
              <a:t>A</a:t>
            </a:r>
            <a:r>
              <a:rPr lang="pt-BR" sz="6600" spc="-10" dirty="0" err="1">
                <a:solidFill>
                  <a:srgbClr val="5B0F00"/>
                </a:solidFill>
                <a:latin typeface="Calibri"/>
                <a:cs typeface="Calibri"/>
              </a:rPr>
              <a:t>nalysis</a:t>
            </a:r>
            <a:r>
              <a:rPr lang="pt-BR" sz="6600" spc="-5" dirty="0">
                <a:solidFill>
                  <a:srgbClr val="5B0F00"/>
                </a:solidFill>
                <a:latin typeface="Calibri"/>
                <a:cs typeface="Calibri"/>
              </a:rPr>
              <a:t> </a:t>
            </a:r>
            <a:r>
              <a:rPr lang="pt-BR" sz="6600" spc="-10" dirty="0" err="1">
                <a:solidFill>
                  <a:srgbClr val="5B0F00"/>
                </a:solidFill>
                <a:latin typeface="Calibri"/>
                <a:cs typeface="Calibri"/>
              </a:rPr>
              <a:t>e</a:t>
            </a:r>
            <a:r>
              <a:rPr lang="pt-BR" sz="6600" b="1" spc="-10" dirty="0" err="1">
                <a:solidFill>
                  <a:srgbClr val="5B0F00"/>
                </a:solidFill>
                <a:latin typeface="Calibri"/>
                <a:cs typeface="Calibri"/>
              </a:rPr>
              <a:t>X</a:t>
            </a:r>
            <a:r>
              <a:rPr lang="pt-BR" sz="6600" spc="-10" dirty="0" err="1">
                <a:solidFill>
                  <a:srgbClr val="5B0F00"/>
                </a:solidFill>
                <a:latin typeface="Calibri"/>
                <a:cs typeface="Calibri"/>
              </a:rPr>
              <a:t>pressions</a:t>
            </a:r>
            <a:r>
              <a:rPr lang="pt-BR" dirty="0"/>
              <a:t>(DAX)</a:t>
            </a:r>
            <a:br>
              <a:rPr lang="pt-BR" dirty="0"/>
            </a:b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Expressões de Análise de Dados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88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311700" y="1140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730"/>
              <a:t>É a linguagem de fórmulas do Power BI</a:t>
            </a:r>
            <a:endParaRPr sz="673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04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04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04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047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55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pt-BR" sz="7038"/>
              <a:t>Permite criar medidas, colunas calculadas e tabelas</a:t>
            </a:r>
            <a:endParaRPr sz="7038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1125" y="1717163"/>
            <a:ext cx="243840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A9688F84-19D5-4101-9852-A00590B99FC3}"/>
              </a:ext>
            </a:extLst>
          </p:cNvPr>
          <p:cNvSpPr txBox="1"/>
          <p:nvPr/>
        </p:nvSpPr>
        <p:spPr>
          <a:xfrm>
            <a:off x="1968863" y="415859"/>
            <a:ext cx="5206273" cy="18312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274E13"/>
                </a:solidFill>
                <a:latin typeface="Calibri"/>
                <a:cs typeface="Calibri"/>
              </a:rPr>
              <a:t>Exemplo </a:t>
            </a:r>
            <a:r>
              <a:rPr sz="3600" spc="-5" dirty="0">
                <a:solidFill>
                  <a:srgbClr val="274E13"/>
                </a:solidFill>
                <a:latin typeface="Calibri"/>
                <a:cs typeface="Calibri"/>
              </a:rPr>
              <a:t>de</a:t>
            </a:r>
            <a:r>
              <a:rPr sz="3600" spc="-10" dirty="0">
                <a:solidFill>
                  <a:srgbClr val="274E13"/>
                </a:solidFill>
                <a:latin typeface="Calibri"/>
                <a:cs typeface="Calibri"/>
              </a:rPr>
              <a:t> função</a:t>
            </a:r>
            <a:r>
              <a:rPr sz="3600" spc="-15" dirty="0">
                <a:solidFill>
                  <a:srgbClr val="274E13"/>
                </a:solidFill>
                <a:latin typeface="Calibri"/>
                <a:cs typeface="Calibri"/>
              </a:rPr>
              <a:t> </a:t>
            </a:r>
            <a:r>
              <a:rPr sz="3600" spc="-5" dirty="0">
                <a:solidFill>
                  <a:srgbClr val="274E13"/>
                </a:solidFill>
                <a:latin typeface="Calibri"/>
                <a:cs typeface="Calibri"/>
              </a:rPr>
              <a:t>do</a:t>
            </a:r>
            <a:r>
              <a:rPr sz="3600" spc="-10" dirty="0">
                <a:solidFill>
                  <a:srgbClr val="274E13"/>
                </a:solidFill>
                <a:latin typeface="Calibri"/>
                <a:cs typeface="Calibri"/>
              </a:rPr>
              <a:t> </a:t>
            </a:r>
            <a:r>
              <a:rPr sz="3600" spc="-15" dirty="0">
                <a:solidFill>
                  <a:srgbClr val="274E13"/>
                </a:solidFill>
                <a:latin typeface="Calibri"/>
                <a:cs typeface="Calibri"/>
              </a:rPr>
              <a:t>Excel:</a:t>
            </a:r>
            <a:endParaRPr sz="3600" dirty="0">
              <a:latin typeface="Calibri"/>
              <a:cs typeface="Calibri"/>
            </a:endParaRPr>
          </a:p>
          <a:p>
            <a:pPr marL="1790064">
              <a:lnSpc>
                <a:spcPct val="100000"/>
              </a:lnSpc>
              <a:spcBef>
                <a:spcPts val="1680"/>
              </a:spcBef>
            </a:pPr>
            <a:r>
              <a:rPr sz="3200" b="1" dirty="0">
                <a:latin typeface="Calibri"/>
                <a:cs typeface="Calibri"/>
              </a:rPr>
              <a:t>=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SOMA(A1:</a:t>
            </a:r>
            <a:r>
              <a:rPr lang="pt-BR" sz="3200" b="1" spc="-5" dirty="0">
                <a:latin typeface="Calibri"/>
                <a:cs typeface="Calibri"/>
              </a:rPr>
              <a:t>A</a:t>
            </a:r>
            <a:r>
              <a:rPr sz="3200" b="1" spc="-5" dirty="0">
                <a:latin typeface="Calibri"/>
                <a:cs typeface="Calibri"/>
              </a:rPr>
              <a:t>1</a:t>
            </a:r>
            <a:r>
              <a:rPr lang="pt-BR" sz="3200" b="1" spc="-5" dirty="0">
                <a:latin typeface="Calibri"/>
                <a:cs typeface="Calibri"/>
              </a:rPr>
              <a:t>0</a:t>
            </a:r>
            <a:r>
              <a:rPr sz="3200" b="1" spc="-5" dirty="0">
                <a:latin typeface="Calibri"/>
                <a:cs typeface="Calibri"/>
              </a:rPr>
              <a:t>)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786B81C2-A5AB-4A7C-B1C4-5E49C66C158A}"/>
              </a:ext>
            </a:extLst>
          </p:cNvPr>
          <p:cNvSpPr txBox="1"/>
          <p:nvPr/>
        </p:nvSpPr>
        <p:spPr>
          <a:xfrm>
            <a:off x="1974435" y="2744754"/>
            <a:ext cx="4732139" cy="14055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660000"/>
                </a:solidFill>
                <a:latin typeface="Calibri"/>
                <a:cs typeface="Calibri"/>
              </a:rPr>
              <a:t>Exemplo </a:t>
            </a:r>
            <a:r>
              <a:rPr sz="3600" spc="-5" dirty="0">
                <a:solidFill>
                  <a:srgbClr val="660000"/>
                </a:solidFill>
                <a:latin typeface="Calibri"/>
                <a:cs typeface="Calibri"/>
              </a:rPr>
              <a:t>de</a:t>
            </a:r>
            <a:r>
              <a:rPr sz="3600" spc="-20" dirty="0">
                <a:solidFill>
                  <a:srgbClr val="66000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660000"/>
                </a:solidFill>
                <a:latin typeface="Calibri"/>
                <a:cs typeface="Calibri"/>
              </a:rPr>
              <a:t>função</a:t>
            </a:r>
            <a:r>
              <a:rPr sz="3600" spc="-15" dirty="0">
                <a:solidFill>
                  <a:srgbClr val="660000"/>
                </a:solidFill>
                <a:latin typeface="Calibri"/>
                <a:cs typeface="Calibri"/>
              </a:rPr>
              <a:t> DAX:</a:t>
            </a:r>
            <a:endParaRPr sz="3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50" dirty="0">
              <a:latin typeface="Calibri"/>
              <a:cs typeface="Calibri"/>
            </a:endParaRPr>
          </a:p>
          <a:p>
            <a:pPr marL="1779905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=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SUM(coluna)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2BE7311E-CCDB-4BCA-AA14-E667E2F02D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4509" y="1689227"/>
            <a:ext cx="559937" cy="559937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C65E769F-DE24-47D6-ACF9-922EC4D10A7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4033" y="3580776"/>
            <a:ext cx="860891" cy="57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83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462525" y="1716850"/>
            <a:ext cx="8055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Quantidade Vendida = </a:t>
            </a:r>
            <a:r>
              <a:rPr lang="pt-BR" sz="2500">
                <a:solidFill>
                  <a:srgbClr val="FF9900"/>
                </a:solidFill>
              </a:rPr>
              <a:t>SUM</a:t>
            </a:r>
            <a:r>
              <a:rPr lang="pt-BR" sz="2500"/>
              <a:t>(</a:t>
            </a:r>
            <a:r>
              <a:rPr lang="pt-BR" sz="2500">
                <a:solidFill>
                  <a:srgbClr val="00FF00"/>
                </a:solidFill>
              </a:rPr>
              <a:t>Vendas</a:t>
            </a:r>
            <a:r>
              <a:rPr lang="pt-BR" sz="2500"/>
              <a:t>[PrecoVenda])</a:t>
            </a:r>
            <a:endParaRPr sz="2500"/>
          </a:p>
        </p:txBody>
      </p:sp>
      <p:cxnSp>
        <p:nvCxnSpPr>
          <p:cNvPr id="71" name="Google Shape;71;p16"/>
          <p:cNvCxnSpPr/>
          <p:nvPr/>
        </p:nvCxnSpPr>
        <p:spPr>
          <a:xfrm>
            <a:off x="4421475" y="1311150"/>
            <a:ext cx="615900" cy="57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" name="Google Shape;72;p16"/>
          <p:cNvSpPr txBox="1"/>
          <p:nvPr/>
        </p:nvSpPr>
        <p:spPr>
          <a:xfrm>
            <a:off x="3495450" y="914300"/>
            <a:ext cx="203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</a:rPr>
              <a:t>Nome da Tabela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3" name="Google Shape;73;p16"/>
          <p:cNvCxnSpPr/>
          <p:nvPr/>
        </p:nvCxnSpPr>
        <p:spPr>
          <a:xfrm>
            <a:off x="6203000" y="2237200"/>
            <a:ext cx="17700" cy="56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" name="Google Shape;74;p16"/>
          <p:cNvSpPr txBox="1"/>
          <p:nvPr/>
        </p:nvSpPr>
        <p:spPr>
          <a:xfrm>
            <a:off x="2307375" y="2872300"/>
            <a:ext cx="211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</a:rPr>
              <a:t>Fórmula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5" name="Google Shape;75;p16"/>
          <p:cNvCxnSpPr/>
          <p:nvPr/>
        </p:nvCxnSpPr>
        <p:spPr>
          <a:xfrm flipH="1">
            <a:off x="3213225" y="2237200"/>
            <a:ext cx="679200" cy="63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" name="Google Shape;76;p16"/>
          <p:cNvSpPr txBox="1"/>
          <p:nvPr/>
        </p:nvSpPr>
        <p:spPr>
          <a:xfrm>
            <a:off x="5273150" y="2801800"/>
            <a:ext cx="241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</a:rPr>
              <a:t>Nome da Coluna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51925" y="669100"/>
            <a:ext cx="249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</a:rPr>
              <a:t>Nome da Medida ou da Coluna Calculada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8" name="Google Shape;78;p16"/>
          <p:cNvCxnSpPr/>
          <p:nvPr/>
        </p:nvCxnSpPr>
        <p:spPr>
          <a:xfrm rot="10800000">
            <a:off x="1240075" y="1331400"/>
            <a:ext cx="817800" cy="54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Operadores Matemáticos</a:t>
            </a:r>
            <a:endParaRPr dirty="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600" y="1462750"/>
            <a:ext cx="6908799" cy="368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223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Exemplos: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141975" y="909475"/>
            <a:ext cx="7329600" cy="36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pt-BR" sz="6000"/>
              <a:t>Preço x </a:t>
            </a:r>
            <a:r>
              <a:rPr lang="pt-BR" sz="6000" b="1">
                <a:solidFill>
                  <a:srgbClr val="FF9900"/>
                </a:solidFill>
              </a:rPr>
              <a:t>Quantidade</a:t>
            </a:r>
            <a:r>
              <a:rPr lang="pt-BR" sz="6000"/>
              <a:t> =</a:t>
            </a:r>
            <a:endParaRPr sz="6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6000" b="1">
                <a:solidFill>
                  <a:srgbClr val="FF9900"/>
                </a:solidFill>
              </a:rPr>
              <a:t>SUM</a:t>
            </a:r>
            <a:r>
              <a:rPr lang="pt-BR" sz="6000"/>
              <a:t>(</a:t>
            </a:r>
            <a:r>
              <a:rPr lang="pt-BR" sz="6000" b="1">
                <a:solidFill>
                  <a:srgbClr val="38761D"/>
                </a:solidFill>
              </a:rPr>
              <a:t>ItensNotas</a:t>
            </a:r>
            <a:r>
              <a:rPr lang="pt-BR" sz="6000"/>
              <a:t>*[</a:t>
            </a:r>
            <a:r>
              <a:rPr lang="pt-BR" sz="6000" b="1"/>
              <a:t>Preco</a:t>
            </a:r>
            <a:r>
              <a:rPr lang="pt-BR" sz="6000"/>
              <a:t>]) * </a:t>
            </a:r>
            <a:r>
              <a:rPr lang="pt-BR" sz="6000" b="1">
                <a:solidFill>
                  <a:srgbClr val="FF9900"/>
                </a:solidFill>
              </a:rPr>
              <a:t>SUM</a:t>
            </a:r>
            <a:r>
              <a:rPr lang="pt-BR" sz="6000"/>
              <a:t>(</a:t>
            </a:r>
            <a:r>
              <a:rPr lang="pt-BR" sz="6000" b="1">
                <a:solidFill>
                  <a:srgbClr val="38761D"/>
                </a:solidFill>
              </a:rPr>
              <a:t>ItensNotas</a:t>
            </a:r>
            <a:r>
              <a:rPr lang="pt-BR" sz="6000"/>
              <a:t>[</a:t>
            </a:r>
            <a:r>
              <a:rPr lang="pt-BR" sz="6000" b="1"/>
              <a:t>Quantidade</a:t>
            </a:r>
            <a:r>
              <a:rPr lang="pt-BR" sz="6000"/>
              <a:t>])</a:t>
            </a:r>
            <a:endParaRPr sz="6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6372"/>
              <a:buFont typeface="Arial"/>
              <a:buNone/>
            </a:pPr>
            <a:endParaRPr sz="417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pt-BR" sz="6000"/>
              <a:t>Salário médio =</a:t>
            </a:r>
            <a:endParaRPr sz="6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pt-BR" sz="6000" b="1">
                <a:solidFill>
                  <a:srgbClr val="FF9900"/>
                </a:solidFill>
              </a:rPr>
              <a:t>SUM</a:t>
            </a:r>
            <a:r>
              <a:rPr lang="pt-BR" sz="6000" b="1"/>
              <a:t>(Salarios[Quantidade funcionários]) *</a:t>
            </a:r>
            <a:endParaRPr sz="6000" b="1"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6000" b="1">
                <a:solidFill>
                  <a:srgbClr val="FF9900"/>
                </a:solidFill>
              </a:rPr>
              <a:t>SUM</a:t>
            </a:r>
            <a:r>
              <a:rPr lang="pt-BR" sz="6000" b="1"/>
              <a:t>(Salarios[Salário]) /</a:t>
            </a:r>
            <a:endParaRPr sz="60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pt-BR" sz="6000" b="1">
                <a:solidFill>
                  <a:srgbClr val="FF9900"/>
                </a:solidFill>
              </a:rPr>
              <a:t>SUM</a:t>
            </a:r>
            <a:r>
              <a:rPr lang="pt-BR" sz="6000" b="1"/>
              <a:t>(Salarios[Quantidade funcionários])</a:t>
            </a:r>
            <a:endParaRPr sz="6000" b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Operadores de Comparação</a:t>
            </a:r>
            <a:endParaRPr dirty="0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66" y="1266653"/>
            <a:ext cx="8161867" cy="3431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Exemplo: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914"/>
              <a:buFont typeface="Arial"/>
              <a:buNone/>
            </a:pPr>
            <a:endParaRPr sz="3341"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Conceito = </a:t>
            </a:r>
            <a:r>
              <a:rPr lang="pt-BR" sz="2800" b="1">
                <a:solidFill>
                  <a:srgbClr val="3165B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pt-BR" sz="2800" b="1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pt-BR" sz="2800" b="1">
                <a:solidFill>
                  <a:srgbClr val="38761D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Fechamento</a:t>
            </a:r>
            <a:r>
              <a:rPr lang="pt-BR" sz="2800" b="1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[NotaFinal] &gt;= </a:t>
            </a:r>
            <a:r>
              <a:rPr lang="pt-BR" sz="2800" b="1">
                <a:solidFill>
                  <a:srgbClr val="09865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5.35</a:t>
            </a:r>
            <a:r>
              <a:rPr lang="pt-BR" sz="2800" b="1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2800" b="1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"Nota Baixa"</a:t>
            </a:r>
            <a:r>
              <a:rPr lang="pt-BR" sz="2800" b="1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2800" b="1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"Nota Alta"</a:t>
            </a:r>
            <a:r>
              <a:rPr lang="pt-BR" sz="2800" b="1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800" b="1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8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108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11647"/>
            <a:ext cx="9143999" cy="4207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ctrTitle"/>
          </p:nvPr>
        </p:nvSpPr>
        <p:spPr>
          <a:xfrm>
            <a:off x="442275" y="1535550"/>
            <a:ext cx="8520600" cy="207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88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88" dirty="0"/>
              <a:t>Documentação</a:t>
            </a:r>
            <a:endParaRPr sz="3088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88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https://learn.microsoft.com/pt-br/dax/dax-overview</a:t>
            </a:r>
            <a:endParaRPr sz="3088"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88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88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88" dirty="0">
                <a:solidFill>
                  <a:srgbClr val="000000"/>
                </a:solidFill>
              </a:rPr>
              <a:t>Blog - Atualizações Agosto 2024</a:t>
            </a:r>
            <a:br>
              <a:rPr lang="pt-BR" sz="3088" dirty="0">
                <a:solidFill>
                  <a:srgbClr val="0000FF"/>
                </a:solidFill>
              </a:rPr>
            </a:br>
            <a:r>
              <a:rPr lang="pt-BR" sz="3088" u="sng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https://powerbi.microsoft.com/en-us/blog/power-bi-august-2024-feature-summary/</a:t>
            </a:r>
            <a:endParaRPr sz="3088"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88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"/>
            <a:ext cx="9144000" cy="1864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"/>
            <a:ext cx="9144000" cy="186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50" y="1557910"/>
            <a:ext cx="5330778" cy="2974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"/>
            <a:ext cx="9144000" cy="186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600" y="1463835"/>
            <a:ext cx="5208317" cy="2974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"/>
            <a:ext cx="9144000" cy="186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325" y="1440310"/>
            <a:ext cx="5164370" cy="2974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3005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5575"/>
            <a:ext cx="9144001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825" y="1029499"/>
            <a:ext cx="8247052" cy="3388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075" y="0"/>
            <a:ext cx="9049927" cy="98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5" y="0"/>
            <a:ext cx="9049927" cy="9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875" y="901550"/>
            <a:ext cx="8893125" cy="42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5" y="0"/>
            <a:ext cx="9049927" cy="9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025" y="872425"/>
            <a:ext cx="8998975" cy="41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5" y="0"/>
            <a:ext cx="9049927" cy="9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575" y="959175"/>
            <a:ext cx="8694476" cy="418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5" y="0"/>
            <a:ext cx="9049927" cy="9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950" y="880225"/>
            <a:ext cx="8510050" cy="4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5" y="0"/>
            <a:ext cx="9049927" cy="9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800" y="902025"/>
            <a:ext cx="8517199" cy="407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5" y="0"/>
            <a:ext cx="9049927" cy="9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946" y="984325"/>
            <a:ext cx="8402055" cy="40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5" y="0"/>
            <a:ext cx="9049927" cy="9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550" y="984325"/>
            <a:ext cx="8294600" cy="40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197</Words>
  <Application>Microsoft Office PowerPoint</Application>
  <PresentationFormat>Apresentação na tela (16:9)</PresentationFormat>
  <Paragraphs>50</Paragraphs>
  <Slides>27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Courier New</vt:lpstr>
      <vt:lpstr>Segoe UI</vt:lpstr>
      <vt:lpstr>Segoe UI Semibold</vt:lpstr>
      <vt:lpstr>Simple Light</vt:lpstr>
      <vt:lpstr>Apresentação do PowerPoint</vt:lpstr>
      <vt:lpstr>Apresentação do PowerPoint</vt:lpstr>
      <vt:lpstr>Tarefas de um Analista de Dados</vt:lpstr>
      <vt:lpstr>Data Analysis eXpressions(DAX)  Expressões de Análise de Dados </vt:lpstr>
      <vt:lpstr>Apresentação do PowerPoint</vt:lpstr>
      <vt:lpstr>Apresentação do PowerPoint</vt:lpstr>
      <vt:lpstr>Apresentação do PowerPoint</vt:lpstr>
      <vt:lpstr>Operadores Matemáticos</vt:lpstr>
      <vt:lpstr>Exemplos:</vt:lpstr>
      <vt:lpstr>Operadores de Comparação</vt:lpstr>
      <vt:lpstr>Exemplo:</vt:lpstr>
      <vt:lpstr>Apresentação do PowerPoint</vt:lpstr>
      <vt:lpstr> Documentação https://learn.microsoft.com/pt-br/dax/dax-overview   Blog - Atualizações Agosto 2024 https://powerbi.microsoft.com/en-us/blog/power-bi-august-2024-feature-summary/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Instrutor</cp:lastModifiedBy>
  <cp:revision>4</cp:revision>
  <dcterms:modified xsi:type="dcterms:W3CDTF">2024-09-24T02:58:20Z</dcterms:modified>
</cp:coreProperties>
</file>